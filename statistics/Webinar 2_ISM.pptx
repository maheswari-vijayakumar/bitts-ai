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3" r:id="rId4"/>
  </p:sldMasterIdLst>
  <p:notesMasterIdLst>
    <p:notesMasterId r:id="rId70"/>
  </p:notesMasterIdLst>
  <p:sldIdLst>
    <p:sldId id="256" r:id="rId5"/>
    <p:sldId id="257" r:id="rId6"/>
    <p:sldId id="359" r:id="rId7"/>
    <p:sldId id="2887" r:id="rId8"/>
    <p:sldId id="2888" r:id="rId9"/>
    <p:sldId id="2890" r:id="rId10"/>
    <p:sldId id="2891" r:id="rId11"/>
    <p:sldId id="2909" r:id="rId12"/>
    <p:sldId id="2893" r:id="rId13"/>
    <p:sldId id="2910" r:id="rId14"/>
    <p:sldId id="2950" r:id="rId15"/>
    <p:sldId id="2892" r:id="rId16"/>
    <p:sldId id="2912" r:id="rId17"/>
    <p:sldId id="2894" r:id="rId18"/>
    <p:sldId id="2951" r:id="rId19"/>
    <p:sldId id="2895" r:id="rId20"/>
    <p:sldId id="2914" r:id="rId21"/>
    <p:sldId id="2915" r:id="rId22"/>
    <p:sldId id="2896" r:id="rId23"/>
    <p:sldId id="2897" r:id="rId24"/>
    <p:sldId id="2898" r:id="rId25"/>
    <p:sldId id="2899" r:id="rId26"/>
    <p:sldId id="2900" r:id="rId27"/>
    <p:sldId id="2901" r:id="rId28"/>
    <p:sldId id="2906" r:id="rId29"/>
    <p:sldId id="2902" r:id="rId30"/>
    <p:sldId id="2952" r:id="rId31"/>
    <p:sldId id="2953" r:id="rId32"/>
    <p:sldId id="2907" r:id="rId33"/>
    <p:sldId id="2954" r:id="rId34"/>
    <p:sldId id="2917" r:id="rId35"/>
    <p:sldId id="459" r:id="rId36"/>
    <p:sldId id="408" r:id="rId37"/>
    <p:sldId id="456" r:id="rId38"/>
    <p:sldId id="457" r:id="rId39"/>
    <p:sldId id="2919" r:id="rId40"/>
    <p:sldId id="2908" r:id="rId41"/>
    <p:sldId id="2920" r:id="rId42"/>
    <p:sldId id="455" r:id="rId43"/>
    <p:sldId id="2921" r:id="rId44"/>
    <p:sldId id="2946" r:id="rId45"/>
    <p:sldId id="2947" r:id="rId46"/>
    <p:sldId id="2924" r:id="rId47"/>
    <p:sldId id="2948" r:id="rId48"/>
    <p:sldId id="2949" r:id="rId49"/>
    <p:sldId id="2927" r:id="rId50"/>
    <p:sldId id="2928" r:id="rId51"/>
    <p:sldId id="2929" r:id="rId52"/>
    <p:sldId id="2930" r:id="rId53"/>
    <p:sldId id="2931" r:id="rId54"/>
    <p:sldId id="2932" r:id="rId55"/>
    <p:sldId id="2933" r:id="rId56"/>
    <p:sldId id="2937" r:id="rId57"/>
    <p:sldId id="2938" r:id="rId58"/>
    <p:sldId id="2939" r:id="rId59"/>
    <p:sldId id="2940" r:id="rId60"/>
    <p:sldId id="2941" r:id="rId61"/>
    <p:sldId id="2934" r:id="rId62"/>
    <p:sldId id="2935" r:id="rId63"/>
    <p:sldId id="2945" r:id="rId64"/>
    <p:sldId id="2936" r:id="rId65"/>
    <p:sldId id="2942" r:id="rId66"/>
    <p:sldId id="2943" r:id="rId67"/>
    <p:sldId id="2944" r:id="rId68"/>
    <p:sldId id="2905"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08" autoAdjust="0"/>
    <p:restoredTop sz="67685" autoAdjust="0"/>
  </p:normalViewPr>
  <p:slideViewPr>
    <p:cSldViewPr snapToGrid="0">
      <p:cViewPr varScale="1">
        <p:scale>
          <a:sx n="74" d="100"/>
          <a:sy n="74" d="100"/>
        </p:scale>
        <p:origin x="68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0B1A30-FD32-4EE9-9F8F-598726006E1E}" type="datetimeFigureOut">
              <a:rPr lang="en-IN" smtClean="0"/>
              <a:t>27-09-2026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4FAB4D-AB64-457A-8F68-52C5FC50ABF0}" type="slidenum">
              <a:rPr lang="en-IN" smtClean="0"/>
              <a:t>‹#›</a:t>
            </a:fld>
            <a:endParaRPr lang="en-IN"/>
          </a:p>
        </p:txBody>
      </p:sp>
    </p:spTree>
    <p:extLst>
      <p:ext uri="{BB962C8B-B14F-4D97-AF65-F5344CB8AC3E}">
        <p14:creationId xmlns:p14="http://schemas.microsoft.com/office/powerpoint/2010/main" val="557706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24FAB4D-AB64-457A-8F68-52C5FC50ABF0}" type="slidenum">
              <a:rPr lang="en-IN" smtClean="0"/>
              <a:t>17</a:t>
            </a:fld>
            <a:endParaRPr lang="en-IN"/>
          </a:p>
        </p:txBody>
      </p:sp>
    </p:spTree>
    <p:extLst>
      <p:ext uri="{BB962C8B-B14F-4D97-AF65-F5344CB8AC3E}">
        <p14:creationId xmlns:p14="http://schemas.microsoft.com/office/powerpoint/2010/main" val="414178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72A71-9985-7B5F-19DE-03D6D934F9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7DD945-8CED-9CA2-AFD3-E3A483DFA8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496A99-6F5F-5BC2-F667-D95490D729BA}"/>
              </a:ext>
            </a:extLst>
          </p:cNvPr>
          <p:cNvSpPr>
            <a:spLocks noGrp="1"/>
          </p:cNvSpPr>
          <p:nvPr>
            <p:ph type="dt" sz="half" idx="10"/>
          </p:nvPr>
        </p:nvSpPr>
        <p:spPr>
          <a:xfrm>
            <a:off x="838200" y="6356350"/>
            <a:ext cx="2743200" cy="365125"/>
          </a:xfrm>
          <a:prstGeom prst="rect">
            <a:avLst/>
          </a:prstGeom>
        </p:spPr>
        <p:txBody>
          <a:bodyPr/>
          <a:lstStyle/>
          <a:p>
            <a:fld id="{5FB93FD2-3306-455E-BB5E-A60725C24196}" type="datetime1">
              <a:rPr lang="en-IN" smtClean="0"/>
              <a:t>27-09-2026</a:t>
            </a:fld>
            <a:endParaRPr lang="en-IN"/>
          </a:p>
        </p:txBody>
      </p:sp>
      <p:sp>
        <p:nvSpPr>
          <p:cNvPr id="5" name="Footer Placeholder 4">
            <a:extLst>
              <a:ext uri="{FF2B5EF4-FFF2-40B4-BE49-F238E27FC236}">
                <a16:creationId xmlns:a16="http://schemas.microsoft.com/office/drawing/2014/main" id="{4A10FCAB-72FC-2040-8131-BF6AC57F6BE8}"/>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A07DCE32-B34B-BC3E-B48D-B0CBF0E9E460}"/>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4257435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0B0E1-761B-66C8-6CE1-AAC4E1F707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04AA0A-F603-6CB5-6893-0C40716796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F5A12E-B219-28C5-A15E-9ED6550F91B7}"/>
              </a:ext>
            </a:extLst>
          </p:cNvPr>
          <p:cNvSpPr>
            <a:spLocks noGrp="1"/>
          </p:cNvSpPr>
          <p:nvPr>
            <p:ph type="dt" sz="half" idx="10"/>
          </p:nvPr>
        </p:nvSpPr>
        <p:spPr>
          <a:xfrm>
            <a:off x="838200" y="6356350"/>
            <a:ext cx="2743200" cy="365125"/>
          </a:xfrm>
          <a:prstGeom prst="rect">
            <a:avLst/>
          </a:prstGeom>
        </p:spPr>
        <p:txBody>
          <a:bodyPr/>
          <a:lstStyle/>
          <a:p>
            <a:fld id="{7F1BAC40-00E1-4A8E-858C-F67573AB1B76}" type="datetime1">
              <a:rPr lang="en-IN" smtClean="0"/>
              <a:t>27-09-2026</a:t>
            </a:fld>
            <a:endParaRPr lang="en-IN"/>
          </a:p>
        </p:txBody>
      </p:sp>
      <p:sp>
        <p:nvSpPr>
          <p:cNvPr id="5" name="Footer Placeholder 4">
            <a:extLst>
              <a:ext uri="{FF2B5EF4-FFF2-40B4-BE49-F238E27FC236}">
                <a16:creationId xmlns:a16="http://schemas.microsoft.com/office/drawing/2014/main" id="{279C351A-DEEF-2A05-C5D7-92BCA2688DB0}"/>
              </a:ext>
            </a:extLst>
          </p:cNvPr>
          <p:cNvSpPr>
            <a:spLocks noGrp="1"/>
          </p:cNvSpPr>
          <p:nvPr>
            <p:ph type="ftr" sz="quarter" idx="11"/>
          </p:nvPr>
        </p:nvSpPr>
        <p:spPr/>
        <p:txBody>
          <a:bodyPr/>
          <a:lstStyle/>
          <a:p>
            <a:pPr>
              <a:defRPr/>
            </a:pPr>
            <a:r>
              <a:rPr lang="en-US"/>
              <a:t>W-2</a:t>
            </a:r>
          </a:p>
        </p:txBody>
      </p:sp>
      <p:sp>
        <p:nvSpPr>
          <p:cNvPr id="6" name="Slide Number Placeholder 5">
            <a:extLst>
              <a:ext uri="{FF2B5EF4-FFF2-40B4-BE49-F238E27FC236}">
                <a16:creationId xmlns:a16="http://schemas.microsoft.com/office/drawing/2014/main" id="{F56012A7-7B4F-459D-3B9F-434C72C7EE21}"/>
              </a:ext>
            </a:extLst>
          </p:cNvPr>
          <p:cNvSpPr>
            <a:spLocks noGrp="1"/>
          </p:cNvSpPr>
          <p:nvPr>
            <p:ph type="sldNum" sz="quarter" idx="12"/>
          </p:nvPr>
        </p:nvSpPr>
        <p:spPr/>
        <p:txBody>
          <a:bodyPr/>
          <a:lstStyle/>
          <a:p>
            <a:pPr>
              <a:defRPr/>
            </a:pPr>
            <a:fld id="{A28B7109-14DE-4BEB-9D01-4D80D405A44E}" type="slidenum">
              <a:rPr lang="en-US" smtClean="0"/>
              <a:pPr>
                <a:defRPr/>
              </a:pPr>
              <a:t>‹#›</a:t>
            </a:fld>
            <a:endParaRPr lang="en-US"/>
          </a:p>
        </p:txBody>
      </p:sp>
    </p:spTree>
    <p:extLst>
      <p:ext uri="{BB962C8B-B14F-4D97-AF65-F5344CB8AC3E}">
        <p14:creationId xmlns:p14="http://schemas.microsoft.com/office/powerpoint/2010/main" val="1522301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DD2A-F954-50C8-B01C-FBBCE3175D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BCA199D4-EEA5-9717-57EE-388CDA69EC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AEFA33-3A22-C0EF-6D7A-9C0095DBE254}"/>
              </a:ext>
            </a:extLst>
          </p:cNvPr>
          <p:cNvSpPr>
            <a:spLocks noGrp="1"/>
          </p:cNvSpPr>
          <p:nvPr>
            <p:ph type="dt" sz="half" idx="10"/>
          </p:nvPr>
        </p:nvSpPr>
        <p:spPr>
          <a:xfrm>
            <a:off x="838200" y="6356350"/>
            <a:ext cx="2743200" cy="365125"/>
          </a:xfrm>
          <a:prstGeom prst="rect">
            <a:avLst/>
          </a:prstGeom>
        </p:spPr>
        <p:txBody>
          <a:bodyPr/>
          <a:lstStyle/>
          <a:p>
            <a:fld id="{1A0A73AC-02B6-43E4-A1AA-8DE6030FC1A2}" type="datetime1">
              <a:rPr lang="en-IN" smtClean="0"/>
              <a:t>27-09-2026</a:t>
            </a:fld>
            <a:endParaRPr lang="en-IN"/>
          </a:p>
        </p:txBody>
      </p:sp>
      <p:sp>
        <p:nvSpPr>
          <p:cNvPr id="5" name="Footer Placeholder 4">
            <a:extLst>
              <a:ext uri="{FF2B5EF4-FFF2-40B4-BE49-F238E27FC236}">
                <a16:creationId xmlns:a16="http://schemas.microsoft.com/office/drawing/2014/main" id="{F78CE05B-2D5F-B9BF-72D4-641383DC04A7}"/>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764F6C3A-A1BC-03DB-CDE4-5CDE1DFE4FF0}"/>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4281442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D439A-95EF-4D88-BC03-B11D8990A3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811B76E-8D5A-73DB-4F18-B45D0F31F3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328AACF-F4F9-5A33-F4BC-BE2E827CDB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49EF56-366F-1521-1102-01DF7DB7CC45}"/>
              </a:ext>
            </a:extLst>
          </p:cNvPr>
          <p:cNvSpPr>
            <a:spLocks noGrp="1"/>
          </p:cNvSpPr>
          <p:nvPr>
            <p:ph type="dt" sz="half" idx="10"/>
          </p:nvPr>
        </p:nvSpPr>
        <p:spPr>
          <a:xfrm>
            <a:off x="838200" y="6356350"/>
            <a:ext cx="2743200" cy="365125"/>
          </a:xfrm>
          <a:prstGeom prst="rect">
            <a:avLst/>
          </a:prstGeom>
        </p:spPr>
        <p:txBody>
          <a:bodyPr/>
          <a:lstStyle/>
          <a:p>
            <a:fld id="{6F946B7A-3C25-46CC-A1FC-27C2C01107F3}" type="datetime1">
              <a:rPr lang="en-IN" smtClean="0"/>
              <a:t>27-09-2026</a:t>
            </a:fld>
            <a:endParaRPr lang="en-IN"/>
          </a:p>
        </p:txBody>
      </p:sp>
      <p:sp>
        <p:nvSpPr>
          <p:cNvPr id="6" name="Footer Placeholder 5">
            <a:extLst>
              <a:ext uri="{FF2B5EF4-FFF2-40B4-BE49-F238E27FC236}">
                <a16:creationId xmlns:a16="http://schemas.microsoft.com/office/drawing/2014/main" id="{55F7A27E-C4C3-65D3-44DE-2286F59D4C73}"/>
              </a:ext>
            </a:extLst>
          </p:cNvPr>
          <p:cNvSpPr>
            <a:spLocks noGrp="1"/>
          </p:cNvSpPr>
          <p:nvPr>
            <p:ph type="ftr" sz="quarter" idx="11"/>
          </p:nvPr>
        </p:nvSpPr>
        <p:spPr/>
        <p:txBody>
          <a:bodyPr/>
          <a:lstStyle/>
          <a:p>
            <a:r>
              <a:rPr lang="en-IN"/>
              <a:t>W-2</a:t>
            </a:r>
          </a:p>
        </p:txBody>
      </p:sp>
      <p:sp>
        <p:nvSpPr>
          <p:cNvPr id="7" name="Slide Number Placeholder 6">
            <a:extLst>
              <a:ext uri="{FF2B5EF4-FFF2-40B4-BE49-F238E27FC236}">
                <a16:creationId xmlns:a16="http://schemas.microsoft.com/office/drawing/2014/main" id="{DD94B9FF-795F-1CD7-122D-40EB9BDB8158}"/>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3504724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01F8-4876-A6A5-E1F1-D1320853C6E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C9CF3C-40B4-275F-3E12-9D26803C0C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73738A-035D-6A12-6B0E-FE206103E9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5467EB0-3D34-CC14-AF64-6A2CA8A1E1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C0C53A-F654-D62D-1AC6-73307AACCB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8C9B80F-EBA4-5F20-6FE2-CCC2401204DF}"/>
              </a:ext>
            </a:extLst>
          </p:cNvPr>
          <p:cNvSpPr>
            <a:spLocks noGrp="1"/>
          </p:cNvSpPr>
          <p:nvPr>
            <p:ph type="dt" sz="half" idx="10"/>
          </p:nvPr>
        </p:nvSpPr>
        <p:spPr>
          <a:xfrm>
            <a:off x="838200" y="6356350"/>
            <a:ext cx="2743200" cy="365125"/>
          </a:xfrm>
          <a:prstGeom prst="rect">
            <a:avLst/>
          </a:prstGeom>
        </p:spPr>
        <p:txBody>
          <a:bodyPr/>
          <a:lstStyle/>
          <a:p>
            <a:fld id="{9E06942A-179D-4AC9-AEC9-7C8E603E54B7}" type="datetime1">
              <a:rPr lang="en-IN" smtClean="0"/>
              <a:t>27-09-2026</a:t>
            </a:fld>
            <a:endParaRPr lang="en-IN"/>
          </a:p>
        </p:txBody>
      </p:sp>
      <p:sp>
        <p:nvSpPr>
          <p:cNvPr id="8" name="Footer Placeholder 7">
            <a:extLst>
              <a:ext uri="{FF2B5EF4-FFF2-40B4-BE49-F238E27FC236}">
                <a16:creationId xmlns:a16="http://schemas.microsoft.com/office/drawing/2014/main" id="{5B799E8E-7889-00FF-E2AF-29C0D6AC6179}"/>
              </a:ext>
            </a:extLst>
          </p:cNvPr>
          <p:cNvSpPr>
            <a:spLocks noGrp="1"/>
          </p:cNvSpPr>
          <p:nvPr>
            <p:ph type="ftr" sz="quarter" idx="11"/>
          </p:nvPr>
        </p:nvSpPr>
        <p:spPr/>
        <p:txBody>
          <a:bodyPr/>
          <a:lstStyle/>
          <a:p>
            <a:r>
              <a:rPr lang="en-IN"/>
              <a:t>W-2</a:t>
            </a:r>
          </a:p>
        </p:txBody>
      </p:sp>
      <p:sp>
        <p:nvSpPr>
          <p:cNvPr id="9" name="Slide Number Placeholder 8">
            <a:extLst>
              <a:ext uri="{FF2B5EF4-FFF2-40B4-BE49-F238E27FC236}">
                <a16:creationId xmlns:a16="http://schemas.microsoft.com/office/drawing/2014/main" id="{CD265A40-FD97-57FC-E2BC-53AD6BDD0EC1}"/>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2879357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F2C96-8D06-CB9D-3692-FE907C7E54DF}"/>
              </a:ext>
            </a:extLst>
          </p:cNvPr>
          <p:cNvSpPr>
            <a:spLocks noGrp="1"/>
          </p:cNvSpPr>
          <p:nvPr>
            <p:ph type="title"/>
          </p:nvPr>
        </p:nvSpPr>
        <p:spPr/>
        <p:txBody>
          <a:bodyPr/>
          <a:lstStyle>
            <a:lvl1pPr>
              <a:defRPr b="1"/>
            </a:lvl1pPr>
          </a:lstStyle>
          <a:p>
            <a:r>
              <a:rPr lang="en-US"/>
              <a:t>Click to edit Master title style</a:t>
            </a:r>
            <a:endParaRPr lang="en-IN" dirty="0"/>
          </a:p>
        </p:txBody>
      </p:sp>
      <p:sp>
        <p:nvSpPr>
          <p:cNvPr id="3" name="Date Placeholder 2">
            <a:extLst>
              <a:ext uri="{FF2B5EF4-FFF2-40B4-BE49-F238E27FC236}">
                <a16:creationId xmlns:a16="http://schemas.microsoft.com/office/drawing/2014/main" id="{05B4E69D-24DB-2330-DB01-A0D996833B84}"/>
              </a:ext>
            </a:extLst>
          </p:cNvPr>
          <p:cNvSpPr>
            <a:spLocks noGrp="1"/>
          </p:cNvSpPr>
          <p:nvPr>
            <p:ph type="dt" sz="half" idx="10"/>
          </p:nvPr>
        </p:nvSpPr>
        <p:spPr>
          <a:xfrm>
            <a:off x="838200" y="6356350"/>
            <a:ext cx="2743200" cy="365125"/>
          </a:xfrm>
          <a:prstGeom prst="rect">
            <a:avLst/>
          </a:prstGeom>
        </p:spPr>
        <p:txBody>
          <a:bodyPr/>
          <a:lstStyle/>
          <a:p>
            <a:fld id="{B75207EA-3FA3-4A30-B5F8-0A5037181FDD}" type="datetime1">
              <a:rPr lang="en-IN" smtClean="0"/>
              <a:t>27-09-2026</a:t>
            </a:fld>
            <a:endParaRPr lang="en-IN"/>
          </a:p>
        </p:txBody>
      </p:sp>
      <p:sp>
        <p:nvSpPr>
          <p:cNvPr id="4" name="Footer Placeholder 3">
            <a:extLst>
              <a:ext uri="{FF2B5EF4-FFF2-40B4-BE49-F238E27FC236}">
                <a16:creationId xmlns:a16="http://schemas.microsoft.com/office/drawing/2014/main" id="{36A28152-1D92-FAD2-B1C2-9D81401A40A0}"/>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1F524038-37DD-EC0D-E050-18DC490FF37F}"/>
              </a:ext>
            </a:extLst>
          </p:cNvPr>
          <p:cNvSpPr>
            <a:spLocks noGrp="1"/>
          </p:cNvSpPr>
          <p:nvPr>
            <p:ph type="sldNum" sz="quarter" idx="12"/>
          </p:nvPr>
        </p:nvSpPr>
        <p:spPr/>
        <p:txBody>
          <a:bodyPr/>
          <a:lstStyle/>
          <a:p>
            <a:fld id="{D1619158-C21C-4CBE-9322-67A66D70896A}" type="slidenum">
              <a:rPr lang="en-IN" smtClean="0"/>
              <a:t>‹#›</a:t>
            </a:fld>
            <a:endParaRPr lang="en-IN"/>
          </a:p>
        </p:txBody>
      </p:sp>
    </p:spTree>
    <p:extLst>
      <p:ext uri="{BB962C8B-B14F-4D97-AF65-F5344CB8AC3E}">
        <p14:creationId xmlns:p14="http://schemas.microsoft.com/office/powerpoint/2010/main" val="995327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FA255-74B6-0B77-CFAC-C3A8321CB4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22F64B4-EC2E-523F-12ED-B90F976F19DE}"/>
              </a:ext>
            </a:extLst>
          </p:cNvPr>
          <p:cNvSpPr>
            <a:spLocks noGrp="1"/>
          </p:cNvSpPr>
          <p:nvPr>
            <p:ph type="dt" sz="half" idx="10"/>
          </p:nvPr>
        </p:nvSpPr>
        <p:spPr>
          <a:xfrm>
            <a:off x="838200" y="6356350"/>
            <a:ext cx="2743200" cy="365125"/>
          </a:xfrm>
          <a:prstGeom prst="rect">
            <a:avLst/>
          </a:prstGeom>
        </p:spPr>
        <p:txBody>
          <a:bodyPr/>
          <a:lstStyle/>
          <a:p>
            <a:fld id="{D91DEA0C-3623-4E3B-9FA8-F8F1D82DFB5C}" type="datetime1">
              <a:rPr lang="en-IN" smtClean="0"/>
              <a:t>27-09-2026</a:t>
            </a:fld>
            <a:endParaRPr lang="en-IN"/>
          </a:p>
        </p:txBody>
      </p:sp>
      <p:sp>
        <p:nvSpPr>
          <p:cNvPr id="4" name="Footer Placeholder 3">
            <a:extLst>
              <a:ext uri="{FF2B5EF4-FFF2-40B4-BE49-F238E27FC236}">
                <a16:creationId xmlns:a16="http://schemas.microsoft.com/office/drawing/2014/main" id="{9976777E-A358-289D-ECB9-229882639F3F}"/>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646FDF95-6499-4451-041E-0E278731AD3D}"/>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861729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2F23CE-D67A-45DF-FDBA-1123A6A08CE2}"/>
              </a:ext>
            </a:extLst>
          </p:cNvPr>
          <p:cNvSpPr>
            <a:spLocks noGrp="1"/>
          </p:cNvSpPr>
          <p:nvPr>
            <p:ph type="dt" sz="half" idx="10"/>
          </p:nvPr>
        </p:nvSpPr>
        <p:spPr>
          <a:xfrm>
            <a:off x="838200" y="6356350"/>
            <a:ext cx="2743200" cy="365125"/>
          </a:xfrm>
          <a:prstGeom prst="rect">
            <a:avLst/>
          </a:prstGeom>
        </p:spPr>
        <p:txBody>
          <a:bodyPr/>
          <a:lstStyle/>
          <a:p>
            <a:fld id="{70C3DFCE-B6AF-4E08-880D-6725CE6D9693}" type="datetime1">
              <a:rPr lang="en-IN" smtClean="0"/>
              <a:t>27-09-2026</a:t>
            </a:fld>
            <a:endParaRPr lang="en-IN"/>
          </a:p>
        </p:txBody>
      </p:sp>
      <p:sp>
        <p:nvSpPr>
          <p:cNvPr id="3" name="Footer Placeholder 2">
            <a:extLst>
              <a:ext uri="{FF2B5EF4-FFF2-40B4-BE49-F238E27FC236}">
                <a16:creationId xmlns:a16="http://schemas.microsoft.com/office/drawing/2014/main" id="{0C8FE0B3-F2F2-9B63-8AB9-0CF8462A7D86}"/>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E590D5F2-BAEB-1E3B-34F4-2EC96AF50931}"/>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1223572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52C04-5F97-5989-1C71-4657F81D0D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99758433-E66E-C880-5501-9A19284D97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FA992FE-CA18-E1DD-00AC-FCF051F4DE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CE1924-96FA-0DCE-83AC-B90E2FBCC57F}"/>
              </a:ext>
            </a:extLst>
          </p:cNvPr>
          <p:cNvSpPr>
            <a:spLocks noGrp="1"/>
          </p:cNvSpPr>
          <p:nvPr>
            <p:ph type="dt" sz="half" idx="10"/>
          </p:nvPr>
        </p:nvSpPr>
        <p:spPr>
          <a:xfrm>
            <a:off x="838200" y="6356350"/>
            <a:ext cx="2743200" cy="365125"/>
          </a:xfrm>
          <a:prstGeom prst="rect">
            <a:avLst/>
          </a:prstGeom>
        </p:spPr>
        <p:txBody>
          <a:bodyPr/>
          <a:lstStyle/>
          <a:p>
            <a:fld id="{65B64B4B-5790-4F8F-8C24-B9EA21DCEB87}" type="datetime1">
              <a:rPr lang="en-IN" smtClean="0"/>
              <a:t>27-09-2026</a:t>
            </a:fld>
            <a:endParaRPr lang="en-IN"/>
          </a:p>
        </p:txBody>
      </p:sp>
      <p:sp>
        <p:nvSpPr>
          <p:cNvPr id="6" name="Footer Placeholder 5">
            <a:extLst>
              <a:ext uri="{FF2B5EF4-FFF2-40B4-BE49-F238E27FC236}">
                <a16:creationId xmlns:a16="http://schemas.microsoft.com/office/drawing/2014/main" id="{5609F50C-4BB9-AB8C-E9BF-C476C816DAC4}"/>
              </a:ext>
            </a:extLst>
          </p:cNvPr>
          <p:cNvSpPr>
            <a:spLocks noGrp="1"/>
          </p:cNvSpPr>
          <p:nvPr>
            <p:ph type="ftr" sz="quarter" idx="11"/>
          </p:nvPr>
        </p:nvSpPr>
        <p:spPr/>
        <p:txBody>
          <a:bodyPr/>
          <a:lstStyle/>
          <a:p>
            <a:r>
              <a:rPr lang="en-IN"/>
              <a:t>W-2</a:t>
            </a:r>
          </a:p>
        </p:txBody>
      </p:sp>
      <p:sp>
        <p:nvSpPr>
          <p:cNvPr id="7" name="Slide Number Placeholder 6">
            <a:extLst>
              <a:ext uri="{FF2B5EF4-FFF2-40B4-BE49-F238E27FC236}">
                <a16:creationId xmlns:a16="http://schemas.microsoft.com/office/drawing/2014/main" id="{9346196F-BAB5-6A32-65F1-8EFDB5B781A5}"/>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487722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6C07C-CC04-A9AA-FAD5-3C3A2B3E9E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F0D648-5E62-70AA-2069-FA0B47E855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62854E56-C7A4-1F68-A92E-7E1BEF855B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7F626B-AC63-5159-405C-5366AA31F47A}"/>
              </a:ext>
            </a:extLst>
          </p:cNvPr>
          <p:cNvSpPr>
            <a:spLocks noGrp="1"/>
          </p:cNvSpPr>
          <p:nvPr>
            <p:ph type="dt" sz="half" idx="10"/>
          </p:nvPr>
        </p:nvSpPr>
        <p:spPr>
          <a:xfrm>
            <a:off x="838200" y="6356350"/>
            <a:ext cx="2743200" cy="365125"/>
          </a:xfrm>
          <a:prstGeom prst="rect">
            <a:avLst/>
          </a:prstGeom>
        </p:spPr>
        <p:txBody>
          <a:bodyPr/>
          <a:lstStyle/>
          <a:p>
            <a:fld id="{A2DC42EC-DF7F-4F24-9ABE-720E67309CB3}" type="datetime1">
              <a:rPr lang="en-IN" smtClean="0"/>
              <a:t>27-09-2026</a:t>
            </a:fld>
            <a:endParaRPr lang="en-IN"/>
          </a:p>
        </p:txBody>
      </p:sp>
      <p:sp>
        <p:nvSpPr>
          <p:cNvPr id="6" name="Footer Placeholder 5">
            <a:extLst>
              <a:ext uri="{FF2B5EF4-FFF2-40B4-BE49-F238E27FC236}">
                <a16:creationId xmlns:a16="http://schemas.microsoft.com/office/drawing/2014/main" id="{5549624B-55D8-626C-855C-5C365106132F}"/>
              </a:ext>
            </a:extLst>
          </p:cNvPr>
          <p:cNvSpPr>
            <a:spLocks noGrp="1"/>
          </p:cNvSpPr>
          <p:nvPr>
            <p:ph type="ftr" sz="quarter" idx="11"/>
          </p:nvPr>
        </p:nvSpPr>
        <p:spPr/>
        <p:txBody>
          <a:bodyPr/>
          <a:lstStyle/>
          <a:p>
            <a:r>
              <a:rPr lang="en-IN"/>
              <a:t>W-2</a:t>
            </a:r>
          </a:p>
        </p:txBody>
      </p:sp>
      <p:sp>
        <p:nvSpPr>
          <p:cNvPr id="7" name="Slide Number Placeholder 6">
            <a:extLst>
              <a:ext uri="{FF2B5EF4-FFF2-40B4-BE49-F238E27FC236}">
                <a16:creationId xmlns:a16="http://schemas.microsoft.com/office/drawing/2014/main" id="{E29CC149-EB0C-CAC2-78E2-928073AD0641}"/>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1317980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46646-02A4-3ABE-A818-47E8FF49E11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A6941C-D437-BB2E-0EBA-8FEA7E9AD4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97B12B-377D-8BF5-29F1-63BBBF3E1B8F}"/>
              </a:ext>
            </a:extLst>
          </p:cNvPr>
          <p:cNvSpPr>
            <a:spLocks noGrp="1"/>
          </p:cNvSpPr>
          <p:nvPr>
            <p:ph type="dt" sz="half" idx="10"/>
          </p:nvPr>
        </p:nvSpPr>
        <p:spPr>
          <a:xfrm>
            <a:off x="838200" y="6356350"/>
            <a:ext cx="2743200" cy="365125"/>
          </a:xfrm>
          <a:prstGeom prst="rect">
            <a:avLst/>
          </a:prstGeom>
        </p:spPr>
        <p:txBody>
          <a:bodyPr/>
          <a:lstStyle/>
          <a:p>
            <a:fld id="{0A6F8B45-60BD-4649-A61C-27B597367AF2}" type="datetime1">
              <a:rPr lang="en-IN" smtClean="0"/>
              <a:t>27-09-2026</a:t>
            </a:fld>
            <a:endParaRPr lang="en-IN"/>
          </a:p>
        </p:txBody>
      </p:sp>
      <p:sp>
        <p:nvSpPr>
          <p:cNvPr id="5" name="Footer Placeholder 4">
            <a:extLst>
              <a:ext uri="{FF2B5EF4-FFF2-40B4-BE49-F238E27FC236}">
                <a16:creationId xmlns:a16="http://schemas.microsoft.com/office/drawing/2014/main" id="{891F8F9E-485B-B9E2-99D9-325D7939399D}"/>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A65A2670-BFC2-3DFB-D9C5-88274D7254A0}"/>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2583239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9C66F6-3327-0CD9-40FB-B838201C5D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DC29BE-A1D4-1719-5E42-DC67EC0BC4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F0A025-8DE1-BF36-974C-8F5A4F414CFC}"/>
              </a:ext>
            </a:extLst>
          </p:cNvPr>
          <p:cNvSpPr>
            <a:spLocks noGrp="1"/>
          </p:cNvSpPr>
          <p:nvPr>
            <p:ph type="dt" sz="half" idx="10"/>
          </p:nvPr>
        </p:nvSpPr>
        <p:spPr>
          <a:xfrm>
            <a:off x="838200" y="6356350"/>
            <a:ext cx="2743200" cy="365125"/>
          </a:xfrm>
          <a:prstGeom prst="rect">
            <a:avLst/>
          </a:prstGeom>
        </p:spPr>
        <p:txBody>
          <a:bodyPr/>
          <a:lstStyle/>
          <a:p>
            <a:fld id="{F30BE6C5-A7FD-42F3-A821-C4A80D95EBAB}" type="datetime1">
              <a:rPr lang="en-IN" smtClean="0"/>
              <a:t>27-09-2026</a:t>
            </a:fld>
            <a:endParaRPr lang="en-IN"/>
          </a:p>
        </p:txBody>
      </p:sp>
      <p:sp>
        <p:nvSpPr>
          <p:cNvPr id="5" name="Footer Placeholder 4">
            <a:extLst>
              <a:ext uri="{FF2B5EF4-FFF2-40B4-BE49-F238E27FC236}">
                <a16:creationId xmlns:a16="http://schemas.microsoft.com/office/drawing/2014/main" id="{67D8E2EC-21D1-2694-8D2E-2F80AB0C9194}"/>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A110FF29-60E2-B65D-019C-82DD4041DC8A}"/>
              </a:ext>
            </a:extLst>
          </p:cNvPr>
          <p:cNvSpPr>
            <a:spLocks noGrp="1"/>
          </p:cNvSpPr>
          <p:nvPr>
            <p:ph type="sldNum" sz="quarter" idx="12"/>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2858117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E0452-0B05-C891-8306-D86F341B19D2}"/>
              </a:ext>
            </a:extLst>
          </p:cNvPr>
          <p:cNvSpPr>
            <a:spLocks noGrp="1"/>
          </p:cNvSpPr>
          <p:nvPr>
            <p:ph type="title"/>
          </p:nvPr>
        </p:nvSpPr>
        <p:spPr/>
        <p:txBody>
          <a:bodyPr/>
          <a:lstStyle/>
          <a:p>
            <a:r>
              <a:rPr lang="en-US"/>
              <a:t>Click to edit Master title style</a:t>
            </a:r>
            <a:endParaRPr lang="en-IN"/>
          </a:p>
        </p:txBody>
      </p:sp>
      <p:sp>
        <p:nvSpPr>
          <p:cNvPr id="3" name="Footer Placeholder 2">
            <a:extLst>
              <a:ext uri="{FF2B5EF4-FFF2-40B4-BE49-F238E27FC236}">
                <a16:creationId xmlns:a16="http://schemas.microsoft.com/office/drawing/2014/main" id="{9DCB4876-9240-82B8-3811-12A2CB974E3D}"/>
              </a:ext>
            </a:extLst>
          </p:cNvPr>
          <p:cNvSpPr>
            <a:spLocks noGrp="1"/>
          </p:cNvSpPr>
          <p:nvPr>
            <p:ph type="ftr" sz="quarter" idx="10"/>
          </p:nvPr>
        </p:nvSpPr>
        <p:spPr/>
        <p:txBody>
          <a:bodyPr/>
          <a:lstStyle/>
          <a:p>
            <a:r>
              <a:rPr lang="en-IN"/>
              <a:t>W-2</a:t>
            </a:r>
          </a:p>
        </p:txBody>
      </p:sp>
      <p:sp>
        <p:nvSpPr>
          <p:cNvPr id="4" name="Slide Number Placeholder 3">
            <a:extLst>
              <a:ext uri="{FF2B5EF4-FFF2-40B4-BE49-F238E27FC236}">
                <a16:creationId xmlns:a16="http://schemas.microsoft.com/office/drawing/2014/main" id="{46EB7925-4BDE-5B2D-FEF4-1AED2F977854}"/>
              </a:ext>
            </a:extLst>
          </p:cNvPr>
          <p:cNvSpPr>
            <a:spLocks noGrp="1"/>
          </p:cNvSpPr>
          <p:nvPr>
            <p:ph type="sldNum" sz="quarter" idx="11"/>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37252252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93164-F257-6313-BEC3-F69395FBF4CD}"/>
              </a:ext>
            </a:extLst>
          </p:cNvPr>
          <p:cNvSpPr>
            <a:spLocks noGrp="1"/>
          </p:cNvSpPr>
          <p:nvPr>
            <p:ph type="title"/>
          </p:nvPr>
        </p:nvSpPr>
        <p:spPr/>
        <p:txBody>
          <a:bodyPr/>
          <a:lstStyle/>
          <a:p>
            <a:r>
              <a:rPr lang="en-US"/>
              <a:t>Click to edit Master title style</a:t>
            </a:r>
            <a:endParaRPr lang="en-IN"/>
          </a:p>
        </p:txBody>
      </p:sp>
      <p:sp>
        <p:nvSpPr>
          <p:cNvPr id="3" name="Footer Placeholder 2">
            <a:extLst>
              <a:ext uri="{FF2B5EF4-FFF2-40B4-BE49-F238E27FC236}">
                <a16:creationId xmlns:a16="http://schemas.microsoft.com/office/drawing/2014/main" id="{2F4705AC-DC4A-1550-F20D-336D5FB8FC86}"/>
              </a:ext>
            </a:extLst>
          </p:cNvPr>
          <p:cNvSpPr>
            <a:spLocks noGrp="1"/>
          </p:cNvSpPr>
          <p:nvPr>
            <p:ph type="ftr" sz="quarter" idx="10"/>
          </p:nvPr>
        </p:nvSpPr>
        <p:spPr/>
        <p:txBody>
          <a:bodyPr/>
          <a:lstStyle/>
          <a:p>
            <a:r>
              <a:rPr lang="en-IN"/>
              <a:t>W-2</a:t>
            </a:r>
          </a:p>
        </p:txBody>
      </p:sp>
      <p:sp>
        <p:nvSpPr>
          <p:cNvPr id="4" name="Slide Number Placeholder 3">
            <a:extLst>
              <a:ext uri="{FF2B5EF4-FFF2-40B4-BE49-F238E27FC236}">
                <a16:creationId xmlns:a16="http://schemas.microsoft.com/office/drawing/2014/main" id="{D8501E94-040B-6702-F1C9-336FE90A6CD4}"/>
              </a:ext>
            </a:extLst>
          </p:cNvPr>
          <p:cNvSpPr>
            <a:spLocks noGrp="1"/>
          </p:cNvSpPr>
          <p:nvPr>
            <p:ph type="sldNum" sz="quarter" idx="11"/>
          </p:nvPr>
        </p:nvSpPr>
        <p:spPr/>
        <p:txBody>
          <a:bodyPr/>
          <a:lstStyle/>
          <a:p>
            <a:pPr>
              <a:defRPr/>
            </a:pPr>
            <a:fld id="{799C83C6-4F87-48B4-8CF0-6A2F9115491D}" type="slidenum">
              <a:rPr lang="en-IN" smtClean="0"/>
              <a:pPr>
                <a:defRPr/>
              </a:pPr>
              <a:t>‹#›</a:t>
            </a:fld>
            <a:endParaRPr lang="en-IN"/>
          </a:p>
        </p:txBody>
      </p:sp>
    </p:spTree>
    <p:extLst>
      <p:ext uri="{BB962C8B-B14F-4D97-AF65-F5344CB8AC3E}">
        <p14:creationId xmlns:p14="http://schemas.microsoft.com/office/powerpoint/2010/main" val="29679249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59" name="PlaceHolder 2"/>
          <p:cNvSpPr>
            <a:spLocks noGrp="1"/>
          </p:cNvSpPr>
          <p:nvPr>
            <p:ph type="subTitle"/>
          </p:nvPr>
        </p:nvSpPr>
        <p:spPr>
          <a:xfrm>
            <a:off x="609600" y="1600200"/>
            <a:ext cx="10972320" cy="4525920"/>
          </a:xfrm>
          <a:prstGeom prst="rect">
            <a:avLst/>
          </a:prstGeom>
        </p:spPr>
        <p:txBody>
          <a:bodyPr lIns="91440" tIns="91440" rIns="91440" bIns="91440" anchor="t" anchorCtr="0"/>
          <a:lstStyle/>
          <a:p>
            <a:r>
              <a:rPr lang="en-US"/>
              <a:t>Click to edit Master subtitle style</a:t>
            </a:r>
            <a:endParaRPr lang="en-IN" dirty="0"/>
          </a:p>
        </p:txBody>
      </p:sp>
    </p:spTree>
    <p:extLst>
      <p:ext uri="{BB962C8B-B14F-4D97-AF65-F5344CB8AC3E}">
        <p14:creationId xmlns:p14="http://schemas.microsoft.com/office/powerpoint/2010/main" val="12699864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527520" y="274680"/>
            <a:ext cx="8160480" cy="849960"/>
          </a:xfrm>
          <a:prstGeom prst="rect">
            <a:avLst/>
          </a:prstGeom>
        </p:spPr>
        <p:txBody>
          <a:bodyPr lIns="0" tIns="0" rIns="0" bIns="0"/>
          <a:lstStyle/>
          <a:p>
            <a:r>
              <a:rPr lang="en-US"/>
              <a:t>Click to edit Master title style</a:t>
            </a:r>
            <a:endParaRPr lang="en-IN"/>
          </a:p>
        </p:txBody>
      </p:sp>
      <p:sp>
        <p:nvSpPr>
          <p:cNvPr id="61" name="PlaceHolder 2"/>
          <p:cNvSpPr>
            <a:spLocks noGrp="1"/>
          </p:cNvSpPr>
          <p:nvPr>
            <p:ph type="body"/>
          </p:nvPr>
        </p:nvSpPr>
        <p:spPr>
          <a:xfrm>
            <a:off x="609600" y="1600200"/>
            <a:ext cx="10972320" cy="4525920"/>
          </a:xfrm>
          <a:prstGeom prst="rect">
            <a:avLst/>
          </a:prstGeom>
        </p:spPr>
        <p:txBody>
          <a:bodyPr lIns="0" tIns="0" rIns="0" bIns="0">
            <a:normAutofit/>
          </a:bodyPr>
          <a:lstStyle/>
          <a:p>
            <a:pPr lvl="0"/>
            <a:r>
              <a:rPr lang="en-US"/>
              <a:t>Click to edit Master text styles</a:t>
            </a:r>
          </a:p>
        </p:txBody>
      </p:sp>
    </p:spTree>
    <p:extLst>
      <p:ext uri="{BB962C8B-B14F-4D97-AF65-F5344CB8AC3E}">
        <p14:creationId xmlns:p14="http://schemas.microsoft.com/office/powerpoint/2010/main" val="10419262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EDA4D1-15A0-AA02-B38D-E0027EA1007E}"/>
              </a:ext>
            </a:extLst>
          </p:cNvPr>
          <p:cNvSpPr txBox="1">
            <a:spLocks noChangeArrowheads="1"/>
          </p:cNvSpPr>
          <p:nvPr userDrawn="1"/>
        </p:nvSpPr>
        <p:spPr bwMode="auto">
          <a:xfrm>
            <a:off x="4368800" y="6596063"/>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4" name="Group 11">
            <a:extLst>
              <a:ext uri="{FF2B5EF4-FFF2-40B4-BE49-F238E27FC236}">
                <a16:creationId xmlns:a16="http://schemas.microsoft.com/office/drawing/2014/main" id="{40B5817B-9405-B121-7BFB-07D75D3AB751}"/>
              </a:ext>
            </a:extLst>
          </p:cNvPr>
          <p:cNvGrpSpPr>
            <a:grpSpLocks/>
          </p:cNvGrpSpPr>
          <p:nvPr userDrawn="1"/>
        </p:nvGrpSpPr>
        <p:grpSpPr bwMode="auto">
          <a:xfrm>
            <a:off x="2779713" y="6550025"/>
            <a:ext cx="9412287" cy="49213"/>
            <a:chOff x="2083888" y="6550671"/>
            <a:chExt cx="7060112" cy="48665"/>
          </a:xfrm>
        </p:grpSpPr>
        <p:sp>
          <p:nvSpPr>
            <p:cNvPr id="5" name="Rectangle 4">
              <a:extLst>
                <a:ext uri="{FF2B5EF4-FFF2-40B4-BE49-F238E27FC236}">
                  <a16:creationId xmlns:a16="http://schemas.microsoft.com/office/drawing/2014/main" id="{D0727896-81A0-9C65-D775-CC966F7E1689}"/>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BCF925E1-637C-3AA4-63FB-5453FC1F6B50}"/>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25647103-9A7A-2BE1-250A-CEBB64060B82}"/>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6F22FA07-BE80-3FAE-91E7-25664CB1169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2910541F-0436-EF69-624E-72844AD163E5}"/>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93EF12E7-8024-4BEF-4FFA-B26DA7160C0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464C1171-01C3-AF0C-21C5-38760E31B72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01530850-EED9-B227-0675-863E30569B66}"/>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33B014DA-BEFB-5990-6638-8BC5FB2E2311}"/>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E2E0B999-8ED8-C107-B2F0-BE8FCB87268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0C48AD88-3E22-34E8-35CB-B650BD86F86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BBA51CA8-A145-E166-F78C-154586221BB1}"/>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55330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5DEFFF7B-6912-65F6-D008-7020076E878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D990550A-5DF4-ED6E-3E5A-4B7BF85E0D2D}"/>
              </a:ext>
            </a:extLst>
          </p:cNvPr>
          <p:cNvSpPr>
            <a:spLocks noChangeArrowheads="1"/>
          </p:cNvSpPr>
          <p:nvPr userDrawn="1"/>
        </p:nvSpPr>
        <p:spPr bwMode="auto">
          <a:xfrm>
            <a:off x="0" y="4281488"/>
            <a:ext cx="12192000" cy="2576512"/>
          </a:xfrm>
          <a:prstGeom prst="rect">
            <a:avLst/>
          </a:prstGeom>
          <a:solidFill>
            <a:schemeClr val="bg1"/>
          </a:solidFill>
          <a:ln w="9525">
            <a:solidFill>
              <a:srgbClr val="4A7EBB"/>
            </a:solidFill>
            <a:miter lim="800000"/>
            <a:headEnd/>
            <a:tailEnd/>
          </a:ln>
          <a:effectLst>
            <a:outerShdw blurRad="63500" dist="23000" dir="5400000" rotWithShape="0">
              <a:srgbClr val="000000">
                <a:alpha val="34998"/>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ndParaRPr>
          </a:p>
        </p:txBody>
      </p:sp>
      <p:pic>
        <p:nvPicPr>
          <p:cNvPr id="4" name="Picture 8" descr="Picture 7.png">
            <a:extLst>
              <a:ext uri="{FF2B5EF4-FFF2-40B4-BE49-F238E27FC236}">
                <a16:creationId xmlns:a16="http://schemas.microsoft.com/office/drawing/2014/main" id="{3720B165-C558-8F6F-6B72-12A8ADEF50E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A984B9EA-414A-7BA5-14D5-6E6BE05EBF7A}"/>
              </a:ext>
            </a:extLst>
          </p:cNvPr>
          <p:cNvSpPr/>
          <p:nvPr userDrawn="1"/>
        </p:nvSpPr>
        <p:spPr>
          <a:xfrm>
            <a:off x="3843338"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DECF906F-2B59-EF11-41EF-FC2815A1EC6D}"/>
              </a:ext>
            </a:extLst>
          </p:cNvPr>
          <p:cNvSpPr/>
          <p:nvPr userDrawn="1"/>
        </p:nvSpPr>
        <p:spPr>
          <a:xfrm>
            <a:off x="-17463" y="6775450"/>
            <a:ext cx="3860801"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1DF933FB-F467-EAE4-84BE-0AD51129949E}"/>
              </a:ext>
            </a:extLst>
          </p:cNvPr>
          <p:cNvSpPr/>
          <p:nvPr userDrawn="1"/>
        </p:nvSpPr>
        <p:spPr>
          <a:xfrm>
            <a:off x="7704138"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TextBox 7">
            <a:extLst>
              <a:ext uri="{FF2B5EF4-FFF2-40B4-BE49-F238E27FC236}">
                <a16:creationId xmlns:a16="http://schemas.microsoft.com/office/drawing/2014/main" id="{7382DD43-F1DB-2A9F-6675-58D97A869F45}"/>
              </a:ext>
            </a:extLst>
          </p:cNvPr>
          <p:cNvSpPr txBox="1"/>
          <p:nvPr userDrawn="1"/>
        </p:nvSpPr>
        <p:spPr>
          <a:xfrm>
            <a:off x="9144000" y="7620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4C6D0556-F284-68DD-810D-923079A58A71}"/>
              </a:ext>
            </a:extLst>
          </p:cNvPr>
          <p:cNvSpPr txBox="1">
            <a:spLocks noChangeArrowheads="1"/>
          </p:cNvSpPr>
          <p:nvPr userDrawn="1"/>
        </p:nvSpPr>
        <p:spPr bwMode="auto">
          <a:xfrm>
            <a:off x="9448800" y="1171575"/>
            <a:ext cx="2540000" cy="276225"/>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fontAlgn="auto" hangingPunct="1">
              <a:spcBef>
                <a:spcPts val="0"/>
              </a:spcBef>
              <a:spcAft>
                <a:spcPts val="0"/>
              </a:spcAft>
              <a:defRPr/>
            </a:pPr>
            <a:r>
              <a:rPr lang="en-US" sz="1200">
                <a:solidFill>
                  <a:srgbClr val="FFFFFF"/>
                </a:solidFil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975466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9BE989-81BA-76BE-8BBE-226CDAC14BD6}"/>
              </a:ext>
            </a:extLst>
          </p:cNvPr>
          <p:cNvSpPr txBox="1">
            <a:spLocks noChangeArrowheads="1"/>
          </p:cNvSpPr>
          <p:nvPr userDrawn="1"/>
        </p:nvSpPr>
        <p:spPr bwMode="auto">
          <a:xfrm>
            <a:off x="4368800" y="6596063"/>
            <a:ext cx="7823200" cy="261937"/>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fontAlgn="auto" hangingPunct="1">
              <a:spcBef>
                <a:spcPts val="0"/>
              </a:spcBef>
              <a:spcAft>
                <a:spcPts val="0"/>
              </a:spcAft>
              <a:defRPr/>
            </a:pPr>
            <a:r>
              <a:rPr lang="en-US" sz="1100" b="1">
                <a:solidFill>
                  <a:srgbClr val="101141"/>
                </a:solidFill>
              </a:rPr>
              <a:t>BITS </a:t>
            </a:r>
            <a:r>
              <a:rPr lang="en-US" sz="1100">
                <a:solidFill>
                  <a:srgbClr val="101141"/>
                </a:solidFill>
              </a:rPr>
              <a:t>Pilani, Pilani Campus</a:t>
            </a:r>
          </a:p>
        </p:txBody>
      </p:sp>
      <p:grpSp>
        <p:nvGrpSpPr>
          <p:cNvPr id="4" name="Group 11">
            <a:extLst>
              <a:ext uri="{FF2B5EF4-FFF2-40B4-BE49-F238E27FC236}">
                <a16:creationId xmlns:a16="http://schemas.microsoft.com/office/drawing/2014/main" id="{998E480E-B3F3-C898-6EC2-B16001EBD970}"/>
              </a:ext>
            </a:extLst>
          </p:cNvPr>
          <p:cNvGrpSpPr>
            <a:grpSpLocks/>
          </p:cNvGrpSpPr>
          <p:nvPr userDrawn="1"/>
        </p:nvGrpSpPr>
        <p:grpSpPr bwMode="auto">
          <a:xfrm>
            <a:off x="2779713" y="6550025"/>
            <a:ext cx="9412287" cy="49213"/>
            <a:chOff x="2083888" y="6550671"/>
            <a:chExt cx="7060112" cy="48665"/>
          </a:xfrm>
        </p:grpSpPr>
        <p:sp>
          <p:nvSpPr>
            <p:cNvPr id="5" name="Rectangle 4">
              <a:extLst>
                <a:ext uri="{FF2B5EF4-FFF2-40B4-BE49-F238E27FC236}">
                  <a16:creationId xmlns:a16="http://schemas.microsoft.com/office/drawing/2014/main" id="{9FDA406B-AF17-2CA0-9E20-A330C9B452C2}"/>
                </a:ext>
              </a:extLst>
            </p:cNvPr>
            <p:cNvSpPr/>
            <p:nvPr/>
          </p:nvSpPr>
          <p:spPr>
            <a:xfrm>
              <a:off x="4630958" y="6550671"/>
              <a:ext cx="2327968"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5">
              <a:extLst>
                <a:ext uri="{FF2B5EF4-FFF2-40B4-BE49-F238E27FC236}">
                  <a16:creationId xmlns:a16="http://schemas.microsoft.com/office/drawing/2014/main" id="{20544E36-F6E6-F6BB-4622-188F02447164}"/>
                </a:ext>
              </a:extLst>
            </p:cNvPr>
            <p:cNvSpPr/>
            <p:nvPr/>
          </p:nvSpPr>
          <p:spPr>
            <a:xfrm>
              <a:off x="6908913" y="6550671"/>
              <a:ext cx="2235087"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a:extLst>
                <a:ext uri="{FF2B5EF4-FFF2-40B4-BE49-F238E27FC236}">
                  <a16:creationId xmlns:a16="http://schemas.microsoft.com/office/drawing/2014/main" id="{3D03B77A-C0D9-1A87-E118-73F7DB4322BB}"/>
                </a:ext>
              </a:extLst>
            </p:cNvPr>
            <p:cNvSpPr/>
            <p:nvPr/>
          </p:nvSpPr>
          <p:spPr>
            <a:xfrm>
              <a:off x="2083888" y="6550671"/>
              <a:ext cx="2581603"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C6A08090-154B-D45D-5E40-F01310B8552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0" y="0"/>
            <a:ext cx="29257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2AED58E8-04BB-0A39-AFBB-9FF61433E71B}"/>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399D0BA5-90A5-950F-B4C3-48100D447CB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a:extLst>
                <a:ext uri="{FF2B5EF4-FFF2-40B4-BE49-F238E27FC236}">
                  <a16:creationId xmlns:a16="http://schemas.microsoft.com/office/drawing/2014/main" id="{A312D01D-6A83-CE7B-3759-E41E51FDAB11}"/>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a:extLst>
                <a:ext uri="{FF2B5EF4-FFF2-40B4-BE49-F238E27FC236}">
                  <a16:creationId xmlns:a16="http://schemas.microsoft.com/office/drawing/2014/main" id="{FC329ECB-C6DD-83B0-8DCB-8F1BE5891ADF}"/>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a:extLst>
              <a:ext uri="{FF2B5EF4-FFF2-40B4-BE49-F238E27FC236}">
                <a16:creationId xmlns:a16="http://schemas.microsoft.com/office/drawing/2014/main" id="{B0347BF7-E40B-2844-D818-7A5E418626F0}"/>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A733EB6E-EEFE-4BC8-8976-AC1BD2C7574B}"/>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a:extLst>
                <a:ext uri="{FF2B5EF4-FFF2-40B4-BE49-F238E27FC236}">
                  <a16:creationId xmlns:a16="http://schemas.microsoft.com/office/drawing/2014/main" id="{AD7448B5-9459-EA5E-EB73-3FA7DF89344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a:extLst>
                <a:ext uri="{FF2B5EF4-FFF2-40B4-BE49-F238E27FC236}">
                  <a16:creationId xmlns:a16="http://schemas.microsoft.com/office/drawing/2014/main" id="{78005067-6861-E324-F10D-8D87174AB5E5}"/>
                </a:ext>
              </a:extLst>
            </p:cNvPr>
            <p:cNvSpPr/>
            <p:nvPr userDrawn="1"/>
          </p:nvSpPr>
          <p:spPr>
            <a:xfrm>
              <a:off x="6586538" y="6553200"/>
              <a:ext cx="2328863"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0287616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dirty="0">
              <a:latin typeface="Arial" pitchFamily="34" charset="0"/>
              <a:cs typeface="Arial" pitchFamily="34" charset="0"/>
            </a:endParaRPr>
          </a:p>
        </p:txBody>
      </p:sp>
      <p:sp>
        <p:nvSpPr>
          <p:cNvPr id="5" name="Rectangle 4"/>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6" name="Rectangle 5"/>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8" name="Rectangle 7"/>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pic>
        <p:nvPicPr>
          <p:cNvPr id="9" name="Picture 10" descr="BITS_university_logo_whitevert.png"/>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userDrawn="1"/>
        </p:nvSpPr>
        <p:spPr>
          <a:xfrm>
            <a:off x="-101600" y="5257800"/>
            <a:ext cx="2946400" cy="554038"/>
          </a:xfrm>
          <a:prstGeom prst="rect">
            <a:avLst/>
          </a:prstGeom>
          <a:noFill/>
        </p:spPr>
        <p:txBody>
          <a:bodyPr>
            <a:spAutoFit/>
          </a:bodyPr>
          <a:lstStyle/>
          <a:p>
            <a:pPr algn="ctr" eaLnBrk="1" fontAlgn="auto" hangingPunct="1">
              <a:spcBef>
                <a:spcPts val="0"/>
              </a:spcBef>
              <a:spcAft>
                <a:spcPts val="0"/>
              </a:spcAft>
              <a:defRPr/>
            </a:pPr>
            <a:r>
              <a:rPr lang="en-US" sz="2900" b="1" spc="-150" dirty="0">
                <a:solidFill>
                  <a:schemeClr val="bg1"/>
                </a:solidFill>
                <a:latin typeface="Arial"/>
                <a:ea typeface="+mn-ea"/>
                <a:cs typeface="Arial"/>
              </a:rPr>
              <a:t>BITS</a:t>
            </a:r>
            <a:r>
              <a:rPr lang="en-US" sz="2900" spc="-150" dirty="0">
                <a:solidFill>
                  <a:schemeClr val="bg1"/>
                </a:solidFill>
                <a:latin typeface="Arial"/>
                <a:ea typeface="+mn-ea"/>
                <a:cs typeface="Arial"/>
              </a:rPr>
              <a:t> Pilani</a:t>
            </a:r>
          </a:p>
        </p:txBody>
      </p:sp>
      <p:sp>
        <p:nvSpPr>
          <p:cNvPr id="11" name="TextBox 10"/>
          <p:cNvSpPr txBox="1">
            <a:spLocks noChangeArrowheads="1"/>
          </p:cNvSpPr>
          <p:nvPr userDrawn="1"/>
        </p:nvSpPr>
        <p:spPr bwMode="auto">
          <a:xfrm>
            <a:off x="203200" y="5667376"/>
            <a:ext cx="2540000" cy="276225"/>
          </a:xfrm>
          <a:prstGeom prst="rect">
            <a:avLst/>
          </a:prstGeom>
          <a:noFill/>
          <a:ln>
            <a:noFill/>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defRPr/>
            </a:pPr>
            <a:r>
              <a:rPr lang="en-US" sz="1200">
                <a:solidFill>
                  <a:srgbClr val="FFFFFF"/>
                </a:solidFil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460150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A9B939-F6DB-7043-B4DB-1404C1C992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dirty="0"/>
          </a:p>
        </p:txBody>
      </p:sp>
      <p:sp>
        <p:nvSpPr>
          <p:cNvPr id="3" name="Text Placeholder 2">
            <a:extLst>
              <a:ext uri="{FF2B5EF4-FFF2-40B4-BE49-F238E27FC236}">
                <a16:creationId xmlns:a16="http://schemas.microsoft.com/office/drawing/2014/main" id="{8CAAB541-8BD1-84FE-B69F-7A48250008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a:extLst>
              <a:ext uri="{FF2B5EF4-FFF2-40B4-BE49-F238E27FC236}">
                <a16:creationId xmlns:a16="http://schemas.microsoft.com/office/drawing/2014/main" id="{57E2A1B0-CE9C-75E6-9490-4D64909FD3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W-2</a:t>
            </a:r>
          </a:p>
        </p:txBody>
      </p:sp>
      <p:sp>
        <p:nvSpPr>
          <p:cNvPr id="6" name="Slide Number Placeholder 5">
            <a:extLst>
              <a:ext uri="{FF2B5EF4-FFF2-40B4-BE49-F238E27FC236}">
                <a16:creationId xmlns:a16="http://schemas.microsoft.com/office/drawing/2014/main" id="{5A8EC88E-0416-97A9-E050-C9EC7A13F4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F8715E-8C71-4F9F-B407-36A334AD2C2C}" type="slidenum">
              <a:rPr lang="en-IN" smtClean="0"/>
              <a:t>‹#›</a:t>
            </a:fld>
            <a:endParaRPr lang="en-IN"/>
          </a:p>
        </p:txBody>
      </p:sp>
      <p:sp>
        <p:nvSpPr>
          <p:cNvPr id="4" name="fl">
            <a:extLst>
              <a:ext uri="{FF2B5EF4-FFF2-40B4-BE49-F238E27FC236}">
                <a16:creationId xmlns:a16="http://schemas.microsoft.com/office/drawing/2014/main" id="{C5BCB0B8-16E0-6133-1F35-A24B86EC6804}"/>
              </a:ext>
            </a:extLst>
          </p:cNvPr>
          <p:cNvSpPr txBox="1"/>
          <p:nvPr userDrawn="1"/>
        </p:nvSpPr>
        <p:spPr>
          <a:xfrm>
            <a:off x="0" y="6520180"/>
            <a:ext cx="12192000" cy="369332"/>
          </a:xfrm>
          <a:prstGeom prst="rect">
            <a:avLst/>
          </a:prstGeom>
          <a:noFill/>
        </p:spPr>
        <p:txBody>
          <a:bodyPr vert="horz" rtlCol="0">
            <a:spAutoFit/>
          </a:bodyPr>
          <a:lstStyle/>
          <a:p>
            <a:endParaRPr lang="en-IN">
              <a:solidFill>
                <a:schemeClr val="tx1"/>
              </a:solidFill>
            </a:endParaRPr>
          </a:p>
        </p:txBody>
      </p:sp>
    </p:spTree>
    <p:extLst>
      <p:ext uri="{BB962C8B-B14F-4D97-AF65-F5344CB8AC3E}">
        <p14:creationId xmlns:p14="http://schemas.microsoft.com/office/powerpoint/2010/main" val="126852258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681" r:id="rId18"/>
    <p:sldLayoutId id="2147483682" r:id="rId19"/>
    <p:sldLayoutId id="2147483701" r:id="rId20"/>
  </p:sldLayoutIdLst>
  <p:hf hd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5"/>
          <p:cNvSpPr>
            <a:spLocks noGrp="1"/>
          </p:cNvSpPr>
          <p:nvPr>
            <p:ph sz="quarter" idx="13"/>
          </p:nvPr>
        </p:nvSpPr>
        <p:spPr/>
        <p:txBody>
          <a:bodyPr/>
          <a:lstStyle/>
          <a:p>
            <a:pPr eaLnBrk="1" hangingPunct="1">
              <a:spcBef>
                <a:spcPct val="0"/>
              </a:spcBef>
            </a:pPr>
            <a:r>
              <a:rPr lang="en-US" dirty="0"/>
              <a:t>ISM TEAM</a:t>
            </a:r>
          </a:p>
        </p:txBody>
      </p:sp>
      <p:sp>
        <p:nvSpPr>
          <p:cNvPr id="5" name="Title 4"/>
          <p:cNvSpPr>
            <a:spLocks noGrp="1"/>
          </p:cNvSpPr>
          <p:nvPr>
            <p:ph type="title"/>
          </p:nvPr>
        </p:nvSpPr>
        <p:spPr/>
        <p:txBody>
          <a:bodyPr/>
          <a:lstStyle/>
          <a:p>
            <a:pPr>
              <a:defRPr/>
            </a:pPr>
            <a:r>
              <a:rPr lang="en-IN" sz="4800" b="1" dirty="0">
                <a:latin typeface="Times New Roman" panose="02020603050405020304" pitchFamily="18" charset="0"/>
                <a:cs typeface="Times New Roman" panose="02020603050405020304" pitchFamily="18" charset="0"/>
              </a:rPr>
              <a:t>Introduction to Statistical Methods</a:t>
            </a:r>
            <a:endParaRPr lang="en-US"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2786553"/>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40AE68-5EA4-7139-3FC8-3EA7E28A7BE2}"/>
              </a:ext>
            </a:extLst>
          </p:cNvPr>
          <p:cNvSpPr txBox="1"/>
          <p:nvPr/>
        </p:nvSpPr>
        <p:spPr>
          <a:xfrm>
            <a:off x="1390650" y="4478804"/>
            <a:ext cx="9563099" cy="1938992"/>
          </a:xfrm>
          <a:prstGeom prst="rect">
            <a:avLst/>
          </a:prstGeom>
          <a:noFill/>
        </p:spPr>
        <p:txBody>
          <a:bodyPr wrap="square">
            <a:spAutoFit/>
          </a:bodyPr>
          <a:lstStyle/>
          <a:p>
            <a:pPr algn="ctr">
              <a:spcBef>
                <a:spcPct val="0"/>
              </a:spcBef>
              <a:defRPr/>
            </a:pPr>
            <a:r>
              <a:rPr lang="en-IN" sz="4000" dirty="0"/>
              <a:t>Course No</a:t>
            </a:r>
            <a:r>
              <a:rPr lang="en-IN" sz="4000"/>
              <a:t>:  </a:t>
            </a:r>
            <a:r>
              <a:rPr lang="en-IN" sz="4000" kern="50" dirty="0">
                <a:latin typeface="Times New Roman" panose="02020603050405020304" pitchFamily="18" charset="0"/>
                <a:ea typeface="WenQuanYi Micro Hei"/>
              </a:rPr>
              <a:t>AIML CZC418</a:t>
            </a:r>
            <a:r>
              <a:rPr lang="en-US" sz="4000" dirty="0">
                <a:latin typeface="Arial" charset="0"/>
                <a:cs typeface="Arial" charset="0"/>
              </a:rPr>
              <a:t> </a:t>
            </a:r>
          </a:p>
          <a:p>
            <a:pPr algn="ctr">
              <a:spcBef>
                <a:spcPct val="0"/>
              </a:spcBef>
              <a:defRPr/>
            </a:pPr>
            <a:r>
              <a:rPr lang="en-US" sz="4000" dirty="0">
                <a:latin typeface="Arial" charset="0"/>
                <a:cs typeface="Arial" charset="0"/>
              </a:rPr>
              <a:t>WEBINAR 2 : 08/09/2026</a:t>
            </a:r>
          </a:p>
          <a:p>
            <a:pPr algn="ctr">
              <a:spcBef>
                <a:spcPct val="0"/>
              </a:spcBef>
              <a:defRPr/>
            </a:pPr>
            <a:endParaRPr lang="en-US" sz="4000" dirty="0">
              <a:latin typeface="Arial" charset="0"/>
              <a:cs typeface="Arial" charset="0"/>
            </a:endParaRPr>
          </a:p>
        </p:txBody>
      </p:sp>
    </p:spTree>
    <p:extLst>
      <p:ext uri="{BB962C8B-B14F-4D97-AF65-F5344CB8AC3E}">
        <p14:creationId xmlns:p14="http://schemas.microsoft.com/office/powerpoint/2010/main" val="1434641385"/>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1219200" y="819150"/>
            <a:ext cx="9848850" cy="5002213"/>
          </a:xfrm>
        </p:spPr>
        <p:txBody>
          <a:bodyPr>
            <a:noAutofit/>
          </a:bodyPr>
          <a:lstStyle/>
          <a:p>
            <a:pPr marL="457200" marR="495935" indent="-457200">
              <a:lnSpc>
                <a:spcPct val="300000"/>
              </a:lnSpc>
              <a:spcBef>
                <a:spcPts val="0"/>
              </a:spcBef>
              <a:spcAft>
                <a:spcPts val="0"/>
              </a:spcAft>
              <a:buFont typeface="Wingdings" panose="05000000000000000000" pitchFamily="2" charset="2"/>
              <a:buChar char="v"/>
            </a:pPr>
            <a:r>
              <a:rPr lang="en-US" sz="3500" kern="50" dirty="0">
                <a:solidFill>
                  <a:srgbClr val="00000A"/>
                </a:solidFill>
                <a:latin typeface="Times New Roman" panose="02020603050405020304" pitchFamily="18" charset="0"/>
                <a:ea typeface="Ubuntu" panose="020B0504030602030204" pitchFamily="34" charset="0"/>
                <a:cs typeface="Times New Roman" panose="02020603050405020304" pitchFamily="18" charset="0"/>
              </a:rPr>
              <a:t>B</a:t>
            </a:r>
            <a:r>
              <a:rPr lang="en-IN" sz="3500" kern="50" dirty="0">
                <a:solidFill>
                  <a:srgbClr val="00000A"/>
                </a:solidFill>
                <a:latin typeface="Times New Roman" panose="02020603050405020304" pitchFamily="18" charset="0"/>
                <a:ea typeface="Ubuntu" panose="020B0504030602030204" pitchFamily="34" charset="0"/>
                <a:cs typeface="Times New Roman" panose="02020603050405020304" pitchFamily="18" charset="0"/>
              </a:rPr>
              <a:t>ayes’ Theorem</a:t>
            </a:r>
          </a:p>
          <a:p>
            <a:pPr marL="457200" marR="495935" indent="-457200">
              <a:lnSpc>
                <a:spcPct val="300000"/>
              </a:lnSpc>
              <a:spcBef>
                <a:spcPts val="0"/>
              </a:spcBef>
              <a:spcAft>
                <a:spcPts val="0"/>
              </a:spcAft>
              <a:buFont typeface="Wingdings" panose="05000000000000000000" pitchFamily="2" charset="2"/>
              <a:buChar char="v"/>
            </a:pPr>
            <a:r>
              <a:rPr lang="en-IN" sz="3500" kern="50" dirty="0">
                <a:solidFill>
                  <a:srgbClr val="00000A"/>
                </a:solidFill>
                <a:effectLst/>
                <a:latin typeface="Times New Roman" panose="02020603050405020304" pitchFamily="18" charset="0"/>
                <a:ea typeface="Ubuntu" panose="020B0504030602030204" pitchFamily="34" charset="0"/>
                <a:cs typeface="Times New Roman" panose="02020603050405020304" pitchFamily="18" charset="0"/>
              </a:rPr>
              <a:t>Naïve Bayes Classifier</a:t>
            </a:r>
          </a:p>
          <a:p>
            <a:pPr marL="457200" marR="495935" indent="-457200">
              <a:lnSpc>
                <a:spcPct val="300000"/>
              </a:lnSpc>
              <a:spcBef>
                <a:spcPts val="0"/>
              </a:spcBef>
              <a:spcAft>
                <a:spcPts val="0"/>
              </a:spcAft>
              <a:buFont typeface="Wingdings" panose="05000000000000000000" pitchFamily="2" charset="2"/>
              <a:buChar char="v"/>
            </a:pPr>
            <a:r>
              <a:rPr lang="en-IN" sz="3500" kern="50" dirty="0">
                <a:solidFill>
                  <a:srgbClr val="00000A"/>
                </a:solidFill>
                <a:latin typeface="Times New Roman" panose="02020603050405020304" pitchFamily="18" charset="0"/>
                <a:ea typeface="Ubuntu" panose="020B0504030602030204" pitchFamily="34" charset="0"/>
                <a:cs typeface="Times New Roman" panose="02020603050405020304" pitchFamily="18" charset="0"/>
              </a:rPr>
              <a:t>Random Variables</a:t>
            </a:r>
            <a:endParaRPr lang="en-IN" sz="3500" kern="50" dirty="0">
              <a:solidFill>
                <a:srgbClr val="00000A"/>
              </a:solidFill>
              <a:effectLst/>
              <a:latin typeface="Times New Roman" panose="02020603050405020304" pitchFamily="18" charset="0"/>
              <a:ea typeface="Ubuntu" panose="020B0504030602030204" pitchFamily="34" charset="0"/>
              <a:cs typeface="Times New Roman" panose="02020603050405020304" pitchFamily="18" charset="0"/>
            </a:endParaRPr>
          </a:p>
        </p:txBody>
      </p:sp>
      <p:sp>
        <p:nvSpPr>
          <p:cNvPr id="3" name="Content Placeholder 2"/>
          <p:cNvSpPr>
            <a:spLocks noGrp="1"/>
          </p:cNvSpPr>
          <p:nvPr>
            <p:ph sz="quarter" idx="4294967295"/>
          </p:nvPr>
        </p:nvSpPr>
        <p:spPr>
          <a:xfrm>
            <a:off x="333375" y="465137"/>
            <a:ext cx="8432800" cy="1143000"/>
          </a:xfrm>
        </p:spPr>
        <p:txBody>
          <a:bodyPr>
            <a:normAutofit/>
          </a:bodyPr>
          <a:lstStyle/>
          <a:p>
            <a:pPr marL="0" indent="0">
              <a:buNone/>
            </a:pPr>
            <a:r>
              <a:rPr lang="en-IN" sz="4000" b="1" dirty="0">
                <a:solidFill>
                  <a:srgbClr val="FF0000"/>
                </a:solidFill>
                <a:latin typeface="+mj-lt"/>
              </a:rPr>
              <a:t>Agenda</a:t>
            </a:r>
          </a:p>
        </p:txBody>
      </p:sp>
      <p:sp>
        <p:nvSpPr>
          <p:cNvPr id="6" name="Footer Placeholder 5">
            <a:extLst>
              <a:ext uri="{FF2B5EF4-FFF2-40B4-BE49-F238E27FC236}">
                <a16:creationId xmlns:a16="http://schemas.microsoft.com/office/drawing/2014/main" id="{F1EEBE05-AE3A-8D48-9E50-CD3B2313E908}"/>
              </a:ext>
            </a:extLst>
          </p:cNvPr>
          <p:cNvSpPr>
            <a:spLocks noGrp="1"/>
          </p:cNvSpPr>
          <p:nvPr>
            <p:ph type="ftr" sz="quarter" idx="11"/>
          </p:nvPr>
        </p:nvSpPr>
        <p:spPr/>
        <p:txBody>
          <a:bodyPr/>
          <a:lstStyle/>
          <a:p>
            <a:r>
              <a:rPr lang="en-IN"/>
              <a:t>W-2</a:t>
            </a:r>
          </a:p>
        </p:txBody>
      </p:sp>
      <p:sp>
        <p:nvSpPr>
          <p:cNvPr id="7" name="Slide Number Placeholder 6">
            <a:extLst>
              <a:ext uri="{FF2B5EF4-FFF2-40B4-BE49-F238E27FC236}">
                <a16:creationId xmlns:a16="http://schemas.microsoft.com/office/drawing/2014/main" id="{73006815-3B79-60B1-A3BE-F30E42459ADE}"/>
              </a:ext>
            </a:extLst>
          </p:cNvPr>
          <p:cNvSpPr>
            <a:spLocks noGrp="1"/>
          </p:cNvSpPr>
          <p:nvPr>
            <p:ph type="sldNum" sz="quarter" idx="12"/>
          </p:nvPr>
        </p:nvSpPr>
        <p:spPr/>
        <p:txBody>
          <a:bodyPr/>
          <a:lstStyle/>
          <a:p>
            <a:pPr>
              <a:defRPr/>
            </a:pPr>
            <a:fld id="{799C83C6-4F87-48B4-8CF0-6A2F9115491D}" type="slidenum">
              <a:rPr lang="en-IN" smtClean="0"/>
              <a:pPr>
                <a:defRPr/>
              </a:pPr>
              <a:t>3</a:t>
            </a:fld>
            <a:endParaRPr lang="en-IN"/>
          </a:p>
        </p:txBody>
      </p:sp>
    </p:spTree>
    <p:extLst>
      <p:ext uri="{BB962C8B-B14F-4D97-AF65-F5344CB8AC3E}">
        <p14:creationId xmlns:p14="http://schemas.microsoft.com/office/powerpoint/2010/main" val="3642942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8C4A1621-87C9-AD6E-76AC-611C49A80737}"/>
              </a:ext>
            </a:extLst>
          </p:cNvPr>
          <p:cNvSpPr txBox="1">
            <a:spLocks/>
          </p:cNvSpPr>
          <p:nvPr/>
        </p:nvSpPr>
        <p:spPr>
          <a:xfrm>
            <a:off x="629728" y="358457"/>
            <a:ext cx="7803072" cy="792480"/>
          </a:xfrm>
          <a:prstGeom prst="rect">
            <a:avLst/>
          </a:prstGeom>
        </p:spPr>
        <p:txBody>
          <a:bodyPr/>
          <a:lstStyle>
            <a:lvl1pPr marL="431800" indent="-323850" algn="l" rtl="0" eaLnBrk="0" fontAlgn="base" hangingPunct="0">
              <a:spcBef>
                <a:spcPts val="1413"/>
              </a:spcBef>
              <a:spcAft>
                <a:spcPct val="0"/>
              </a:spcAft>
              <a:buClr>
                <a:srgbClr val="000000"/>
              </a:buClr>
              <a:buSzPct val="45000"/>
              <a:buFont typeface="Wingdings" panose="05000000000000000000" pitchFamily="2" charset="2"/>
              <a:buChar char=""/>
              <a:defRPr sz="3200">
                <a:solidFill>
                  <a:schemeClr val="tx1"/>
                </a:solidFill>
                <a:latin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algn="l" rtl="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algn="l" rtl="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algn="l" rtl="0" eaLnBrk="0" fontAlgn="base" hangingPunct="0">
              <a:spcBef>
                <a:spcPct val="20000"/>
              </a:spcBef>
              <a:spcAft>
                <a:spcPct val="0"/>
              </a:spcAft>
              <a:buChar char="»"/>
              <a:defRPr sz="2000">
                <a:solidFill>
                  <a:schemeClr val="tx1"/>
                </a:solidFill>
                <a:latin typeface="Arial" panose="020B0604020202020204" pitchFamily="34" charset="0"/>
              </a:defRPr>
            </a:lvl9pPr>
          </a:lstStyle>
          <a:p>
            <a:pPr marL="431800" marR="0" lvl="0" indent="-324000" algn="l" defTabSz="914400" rtl="0" eaLnBrk="1" fontAlgn="auto" latinLnBrk="0" hangingPunct="1">
              <a:lnSpc>
                <a:spcPct val="100000"/>
              </a:lnSpc>
              <a:spcBef>
                <a:spcPts val="1413"/>
              </a:spcBef>
              <a:spcAft>
                <a:spcPts val="0"/>
              </a:spcAft>
              <a:buClr>
                <a:srgbClr val="000000"/>
              </a:buClr>
              <a:buSzPct val="45000"/>
              <a:buFont typeface="Wingdings" charset="2"/>
              <a:buNone/>
              <a:tabLst/>
              <a:defRPr/>
            </a:pPr>
            <a:r>
              <a:rPr kumimoji="0" lang="en-US" sz="32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BAYES’ THEOREM: </a:t>
            </a:r>
          </a:p>
        </p:txBody>
      </p:sp>
      <p:sp>
        <p:nvSpPr>
          <p:cNvPr id="7" name="Footer Placeholder 6">
            <a:extLst>
              <a:ext uri="{FF2B5EF4-FFF2-40B4-BE49-F238E27FC236}">
                <a16:creationId xmlns:a16="http://schemas.microsoft.com/office/drawing/2014/main" id="{42C452E9-AB31-893E-4C04-F9D15D59D8A7}"/>
              </a:ext>
            </a:extLst>
          </p:cNvPr>
          <p:cNvSpPr>
            <a:spLocks noGrp="1"/>
          </p:cNvSpPr>
          <p:nvPr>
            <p:ph type="ftr" sz="quarter" idx="11"/>
          </p:nvPr>
        </p:nvSpPr>
        <p:spPr/>
        <p:txBody>
          <a:bodyPr/>
          <a:lstStyle/>
          <a:p>
            <a:r>
              <a:rPr lang="en-IN"/>
              <a:t>W-2</a:t>
            </a:r>
          </a:p>
        </p:txBody>
      </p:sp>
      <p:sp>
        <p:nvSpPr>
          <p:cNvPr id="8" name="Slide Number Placeholder 7">
            <a:extLst>
              <a:ext uri="{FF2B5EF4-FFF2-40B4-BE49-F238E27FC236}">
                <a16:creationId xmlns:a16="http://schemas.microsoft.com/office/drawing/2014/main" id="{2AE5D345-0D66-2E5C-5DE8-1A1AF8017FC1}"/>
              </a:ext>
            </a:extLst>
          </p:cNvPr>
          <p:cNvSpPr>
            <a:spLocks noGrp="1"/>
          </p:cNvSpPr>
          <p:nvPr>
            <p:ph type="sldNum" sz="quarter" idx="12"/>
          </p:nvPr>
        </p:nvSpPr>
        <p:spPr/>
        <p:txBody>
          <a:bodyPr/>
          <a:lstStyle/>
          <a:p>
            <a:pPr>
              <a:defRPr/>
            </a:pPr>
            <a:fld id="{799C83C6-4F87-48B4-8CF0-6A2F9115491D}" type="slidenum">
              <a:rPr lang="en-IN" smtClean="0"/>
              <a:pPr>
                <a:defRPr/>
              </a:pPr>
              <a:t>4</a:t>
            </a:fld>
            <a:endParaRPr lang="en-IN"/>
          </a:p>
        </p:txBody>
      </p:sp>
      <p:sp>
        <p:nvSpPr>
          <p:cNvPr id="10" name="TextBox 9">
            <a:extLst>
              <a:ext uri="{FF2B5EF4-FFF2-40B4-BE49-F238E27FC236}">
                <a16:creationId xmlns:a16="http://schemas.microsoft.com/office/drawing/2014/main" id="{5D07980B-180B-09F2-ADD0-63BE2397E48F}"/>
              </a:ext>
            </a:extLst>
          </p:cNvPr>
          <p:cNvSpPr txBox="1"/>
          <p:nvPr/>
        </p:nvSpPr>
        <p:spPr>
          <a:xfrm>
            <a:off x="923925" y="4417358"/>
            <a:ext cx="10125173" cy="1446550"/>
          </a:xfrm>
          <a:prstGeom prst="rect">
            <a:avLst/>
          </a:prstGeom>
          <a:noFill/>
        </p:spPr>
        <p:txBody>
          <a:bodyPr wrap="square">
            <a:spAutoFit/>
          </a:bodyPr>
          <a:lstStyle/>
          <a:p>
            <a:r>
              <a:rPr lang="en-US" sz="2200" b="0" i="0" dirty="0">
                <a:solidFill>
                  <a:srgbClr val="273239"/>
                </a:solidFill>
                <a:effectLst/>
                <a:ea typeface="Calibri" panose="020F0502020204030204" pitchFamily="34" charset="0"/>
                <a:cs typeface="Calibri" panose="020F0502020204030204" pitchFamily="34" charset="0"/>
              </a:rPr>
              <a:t>Bayes’ theorem is also known as the formula for the </a:t>
            </a:r>
            <a:r>
              <a:rPr lang="en-US" sz="2200" b="1" i="0" dirty="0">
                <a:solidFill>
                  <a:srgbClr val="273239"/>
                </a:solidFill>
                <a:effectLst/>
                <a:ea typeface="Calibri" panose="020F0502020204030204" pitchFamily="34" charset="0"/>
                <a:cs typeface="Calibri" panose="020F0502020204030204" pitchFamily="34" charset="0"/>
              </a:rPr>
              <a:t>probability of “causes”</a:t>
            </a:r>
            <a:r>
              <a:rPr lang="en-US" sz="2200" b="0" i="0" dirty="0">
                <a:solidFill>
                  <a:srgbClr val="273239"/>
                </a:solidFill>
                <a:effectLst/>
                <a:ea typeface="Calibri" panose="020F0502020204030204" pitchFamily="34" charset="0"/>
                <a:cs typeface="Calibri" panose="020F0502020204030204" pitchFamily="34" charset="0"/>
              </a:rPr>
              <a:t>. </a:t>
            </a:r>
            <a:r>
              <a:rPr lang="en-US" sz="2200" b="1" i="0" dirty="0">
                <a:solidFill>
                  <a:srgbClr val="273239"/>
                </a:solidFill>
                <a:effectLst/>
                <a:ea typeface="Calibri" panose="020F0502020204030204" pitchFamily="34" charset="0"/>
                <a:cs typeface="Calibri" panose="020F0502020204030204" pitchFamily="34" charset="0"/>
              </a:rPr>
              <a:t>As we know, the E</a:t>
            </a:r>
            <a:r>
              <a:rPr lang="en-US" sz="2200" b="1" i="0" baseline="-25000" dirty="0">
                <a:solidFill>
                  <a:srgbClr val="273239"/>
                </a:solidFill>
                <a:effectLst/>
                <a:ea typeface="Calibri" panose="020F0502020204030204" pitchFamily="34" charset="0"/>
                <a:cs typeface="Calibri" panose="020F0502020204030204" pitchFamily="34" charset="0"/>
              </a:rPr>
              <a:t>i</a:t>
            </a:r>
            <a:r>
              <a:rPr lang="en-US" sz="2200" b="1" i="0" dirty="0">
                <a:solidFill>
                  <a:srgbClr val="273239"/>
                </a:solidFill>
                <a:effectLst/>
                <a:ea typeface="Calibri" panose="020F0502020204030204" pitchFamily="34" charset="0"/>
                <a:cs typeface="Calibri" panose="020F0502020204030204" pitchFamily="34" charset="0"/>
              </a:rPr>
              <a:t>‘s are a partition of the sample space S, and at any given time only one of the events E</a:t>
            </a:r>
            <a:r>
              <a:rPr lang="en-US" sz="2200" b="1" i="0" baseline="-25000" dirty="0">
                <a:solidFill>
                  <a:srgbClr val="273239"/>
                </a:solidFill>
                <a:effectLst/>
                <a:ea typeface="Calibri" panose="020F0502020204030204" pitchFamily="34" charset="0"/>
                <a:cs typeface="Calibri" panose="020F0502020204030204" pitchFamily="34" charset="0"/>
              </a:rPr>
              <a:t>i</a:t>
            </a:r>
            <a:r>
              <a:rPr lang="en-US" sz="2200" b="1" i="0" dirty="0">
                <a:solidFill>
                  <a:srgbClr val="273239"/>
                </a:solidFill>
                <a:effectLst/>
                <a:ea typeface="Calibri" panose="020F0502020204030204" pitchFamily="34" charset="0"/>
                <a:cs typeface="Calibri" panose="020F0502020204030204" pitchFamily="34" charset="0"/>
              </a:rPr>
              <a:t> occurs.</a:t>
            </a:r>
            <a:r>
              <a:rPr lang="en-US" sz="2200" b="0" i="0" dirty="0">
                <a:solidFill>
                  <a:srgbClr val="273239"/>
                </a:solidFill>
                <a:effectLst/>
                <a:ea typeface="Calibri" panose="020F0502020204030204" pitchFamily="34" charset="0"/>
                <a:cs typeface="Calibri" panose="020F0502020204030204" pitchFamily="34" charset="0"/>
              </a:rPr>
              <a:t> Thus, we conclude that the Bayes’ theorem formula gives the probability of a particular E</a:t>
            </a:r>
            <a:r>
              <a:rPr lang="en-US" sz="2200" b="0" i="0" baseline="-25000" dirty="0">
                <a:solidFill>
                  <a:srgbClr val="273239"/>
                </a:solidFill>
                <a:effectLst/>
                <a:ea typeface="Calibri" panose="020F0502020204030204" pitchFamily="34" charset="0"/>
                <a:cs typeface="Calibri" panose="020F0502020204030204" pitchFamily="34" charset="0"/>
              </a:rPr>
              <a:t>i</a:t>
            </a:r>
            <a:r>
              <a:rPr lang="en-US" sz="2200" b="0" i="0" dirty="0">
                <a:solidFill>
                  <a:srgbClr val="273239"/>
                </a:solidFill>
                <a:effectLst/>
                <a:ea typeface="Calibri" panose="020F0502020204030204" pitchFamily="34" charset="0"/>
                <a:cs typeface="Calibri" panose="020F0502020204030204" pitchFamily="34" charset="0"/>
              </a:rPr>
              <a:t>, given the event A has occurred.</a:t>
            </a:r>
            <a:endParaRPr lang="en-IN" sz="2200" dirty="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781C6AA-F3EC-86DB-D313-A0BA11253708}"/>
                  </a:ext>
                </a:extLst>
              </p:cNvPr>
              <p:cNvSpPr txBox="1"/>
              <p:nvPr/>
            </p:nvSpPr>
            <p:spPr>
              <a:xfrm>
                <a:off x="733964" y="1150937"/>
                <a:ext cx="10724072" cy="3034036"/>
              </a:xfrm>
              <a:prstGeom prst="rect">
                <a:avLst/>
              </a:prstGeom>
              <a:noFill/>
            </p:spPr>
            <p:txBody>
              <a:bodyPr wrap="square">
                <a:spAutoFit/>
              </a:bodyPr>
              <a:lstStyle/>
              <a:p>
                <a:pPr>
                  <a:buNone/>
                </a:pPr>
                <a:r>
                  <a:rPr lang="en-IN" sz="2200" dirty="0"/>
                  <a:t>Suppose that </a:t>
                </a:r>
                <a14:m>
                  <m:oMath xmlns:m="http://schemas.openxmlformats.org/officeDocument/2006/math">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0">
                            <a:latin typeface="Cambria Math" panose="02040503050406030204" pitchFamily="18" charset="0"/>
                          </a:rPr>
                          <m:t>1</m:t>
                        </m:r>
                      </m:sub>
                    </m:sSub>
                    <m:r>
                      <a:rPr lang="en-IN" sz="2200" i="0">
                        <a:latin typeface="Cambria Math" panose="02040503050406030204" pitchFamily="18" charset="0"/>
                      </a:rPr>
                      <m:t>,</m:t>
                    </m:r>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0">
                            <a:latin typeface="Cambria Math" panose="02040503050406030204" pitchFamily="18" charset="0"/>
                          </a:rPr>
                          <m:t>2</m:t>
                        </m:r>
                      </m:sub>
                    </m:sSub>
                    <m:r>
                      <a:rPr lang="en-IN" sz="2200" i="0">
                        <a:latin typeface="Cambria Math" panose="02040503050406030204" pitchFamily="18" charset="0"/>
                      </a:rPr>
                      <m:t>,…,</m:t>
                    </m:r>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1">
                            <a:latin typeface="Cambria Math" panose="02040503050406030204" pitchFamily="18" charset="0"/>
                          </a:rPr>
                          <m:t>𝑛</m:t>
                        </m:r>
                      </m:sub>
                    </m:sSub>
                  </m:oMath>
                </a14:m>
                <a:r>
                  <a:rPr lang="en-IN" sz="2200" dirty="0"/>
                  <a:t>are </a:t>
                </a:r>
                <a:r>
                  <a:rPr lang="en-IN" sz="2200" b="1" dirty="0"/>
                  <a:t>mutually exclusive and exhaustive events</a:t>
                </a:r>
                <a:r>
                  <a:rPr lang="en-IN" sz="2200" dirty="0"/>
                  <a:t> of a sample space </a:t>
                </a:r>
                <a14:m>
                  <m:oMath xmlns:m="http://schemas.openxmlformats.org/officeDocument/2006/math">
                    <m:r>
                      <a:rPr lang="en-IN" sz="2200">
                        <a:latin typeface="Cambria Math" panose="02040503050406030204" pitchFamily="18" charset="0"/>
                      </a:rPr>
                      <m:t>"</m:t>
                    </m:r>
                    <m:r>
                      <a:rPr lang="en-IN" sz="2200" i="1">
                        <a:latin typeface="Cambria Math" panose="02040503050406030204" pitchFamily="18" charset="0"/>
                      </a:rPr>
                      <m:t>𝑆</m:t>
                    </m:r>
                    <m:r>
                      <a:rPr lang="en-IN" sz="2200" b="0" i="1" smtClean="0">
                        <a:latin typeface="Cambria Math" panose="02040503050406030204" pitchFamily="18" charset="0"/>
                      </a:rPr>
                      <m:t>"</m:t>
                    </m:r>
                  </m:oMath>
                </a14:m>
                <a:r>
                  <a:rPr lang="en-IN" sz="2200" dirty="0"/>
                  <a:t>, such that</a:t>
                </a:r>
              </a:p>
              <a:p>
                <a:pPr>
                  <a:buNone/>
                </a:pPr>
                <a14:m>
                  <m:oMathPara xmlns:m="http://schemas.openxmlformats.org/officeDocument/2006/math">
                    <m:oMathParaPr>
                      <m:jc m:val="centerGroup"/>
                    </m:oMathParaPr>
                    <m:oMath xmlns:m="http://schemas.openxmlformats.org/officeDocument/2006/math">
                      <m:r>
                        <a:rPr lang="en-IN" sz="2200" i="1">
                          <a:latin typeface="Cambria Math" panose="02040503050406030204" pitchFamily="18" charset="0"/>
                        </a:rPr>
                        <m:t>𝑃</m:t>
                      </m:r>
                      <m:d>
                        <m:dPr>
                          <m:ctrlPr>
                            <a:rPr lang="en-IN" sz="2200" i="1">
                              <a:latin typeface="Cambria Math" panose="02040503050406030204" pitchFamily="18" charset="0"/>
                            </a:rPr>
                          </m:ctrlPr>
                        </m:dPr>
                        <m:e>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1">
                                  <a:latin typeface="Cambria Math" panose="02040503050406030204" pitchFamily="18" charset="0"/>
                                </a:rPr>
                                <m:t>𝑖</m:t>
                              </m:r>
                            </m:sub>
                          </m:sSub>
                        </m:e>
                      </m:d>
                      <m:r>
                        <a:rPr lang="en-IN" sz="2200" i="0">
                          <a:latin typeface="Cambria Math" panose="02040503050406030204" pitchFamily="18" charset="0"/>
                        </a:rPr>
                        <m:t>&gt;0, </m:t>
                      </m:r>
                      <m:r>
                        <a:rPr lang="en-IN" sz="2200" i="1">
                          <a:latin typeface="Cambria Math" panose="02040503050406030204" pitchFamily="18" charset="0"/>
                        </a:rPr>
                        <m:t>𝑖</m:t>
                      </m:r>
                      <m:r>
                        <a:rPr lang="en-IN" sz="2200" i="0">
                          <a:latin typeface="Cambria Math" panose="02040503050406030204" pitchFamily="18" charset="0"/>
                        </a:rPr>
                        <m:t>=1,2,…,</m:t>
                      </m:r>
                      <m:r>
                        <a:rPr lang="en-IN" sz="2200" i="1">
                          <a:latin typeface="Cambria Math" panose="02040503050406030204" pitchFamily="18" charset="0"/>
                        </a:rPr>
                        <m:t>𝑛</m:t>
                      </m:r>
                      <m:r>
                        <a:rPr lang="en-IN" sz="2200" i="0">
                          <a:latin typeface="Cambria Math" panose="02040503050406030204" pitchFamily="18" charset="0"/>
                        </a:rPr>
                        <m:t>,</m:t>
                      </m:r>
                    </m:oMath>
                  </m:oMathPara>
                </a14:m>
                <a:endParaRPr lang="en-IN" sz="2200" dirty="0"/>
              </a:p>
              <a:p>
                <a:pPr>
                  <a:buNone/>
                </a:pPr>
                <a:r>
                  <a:rPr lang="en-IN" sz="2200" dirty="0"/>
                  <a:t>and let </a:t>
                </a:r>
                <a14:m>
                  <m:oMath xmlns:m="http://schemas.openxmlformats.org/officeDocument/2006/math">
                    <m:r>
                      <a:rPr lang="en-IN" sz="2200" i="1">
                        <a:latin typeface="Cambria Math" panose="02040503050406030204" pitchFamily="18" charset="0"/>
                      </a:rPr>
                      <m:t>𝐴</m:t>
                    </m:r>
                    <m:r>
                      <a:rPr lang="en-IN" sz="2200" b="0" i="1" smtClean="0">
                        <a:latin typeface="Cambria Math" panose="02040503050406030204" pitchFamily="18" charset="0"/>
                      </a:rPr>
                      <m:t> </m:t>
                    </m:r>
                    <m:r>
                      <m:rPr>
                        <m:sty m:val="p"/>
                      </m:rPr>
                      <a:rPr lang="en-IN" sz="2200" b="0" i="0" smtClean="0">
                        <a:latin typeface="Cambria Math" panose="02040503050406030204" pitchFamily="18" charset="0"/>
                      </a:rPr>
                      <m:t>is</m:t>
                    </m:r>
                    <m:r>
                      <a:rPr lang="en-IN" sz="2200" b="0" i="0" smtClean="0">
                        <a:latin typeface="Cambria Math" panose="02040503050406030204" pitchFamily="18" charset="0"/>
                      </a:rPr>
                      <m:t> </m:t>
                    </m:r>
                    <m:r>
                      <m:rPr>
                        <m:sty m:val="p"/>
                      </m:rPr>
                      <a:rPr lang="en-IN" sz="2200" b="0" i="0" smtClean="0">
                        <a:latin typeface="Cambria Math" panose="02040503050406030204" pitchFamily="18" charset="0"/>
                      </a:rPr>
                      <m:t>any</m:t>
                    </m:r>
                    <m:r>
                      <a:rPr lang="en-IN" sz="2200" b="0" i="0" smtClean="0">
                        <a:latin typeface="Cambria Math" panose="02040503050406030204" pitchFamily="18" charset="0"/>
                      </a:rPr>
                      <m:t> </m:t>
                    </m:r>
                    <m:r>
                      <m:rPr>
                        <m:sty m:val="p"/>
                      </m:rPr>
                      <a:rPr lang="en-IN" sz="2200" b="0" i="0" smtClean="0">
                        <a:latin typeface="Cambria Math" panose="02040503050406030204" pitchFamily="18" charset="0"/>
                      </a:rPr>
                      <m:t>arbitrary</m:t>
                    </m:r>
                  </m:oMath>
                </a14:m>
                <a:r>
                  <a:rPr lang="en-IN" sz="2200" dirty="0"/>
                  <a:t> event of “</a:t>
                </a:r>
                <a14:m>
                  <m:oMath xmlns:m="http://schemas.openxmlformats.org/officeDocument/2006/math">
                    <m:r>
                      <a:rPr lang="en-IN" sz="2200" i="1">
                        <a:latin typeface="Cambria Math" panose="02040503050406030204" pitchFamily="18" charset="0"/>
                      </a:rPr>
                      <m:t>𝑆</m:t>
                    </m:r>
                    <m:r>
                      <a:rPr lang="en-IN" sz="2200" b="0" i="1" smtClean="0">
                        <a:latin typeface="Cambria Math" panose="02040503050406030204" pitchFamily="18" charset="0"/>
                      </a:rPr>
                      <m:t>"  </m:t>
                    </m:r>
                  </m:oMath>
                </a14:m>
                <a:r>
                  <a:rPr lang="en-IN" sz="2200" dirty="0"/>
                  <a:t>with </a:t>
                </a:r>
                <a14:m>
                  <m:oMath xmlns:m="http://schemas.openxmlformats.org/officeDocument/2006/math">
                    <m:r>
                      <a:rPr lang="en-IN" sz="2200" i="1">
                        <a:latin typeface="Cambria Math" panose="02040503050406030204" pitchFamily="18" charset="0"/>
                      </a:rPr>
                      <m:t>𝑃</m:t>
                    </m:r>
                    <m:d>
                      <m:dPr>
                        <m:ctrlPr>
                          <a:rPr lang="en-IN" sz="2200" i="1">
                            <a:latin typeface="Cambria Math" panose="02040503050406030204" pitchFamily="18" charset="0"/>
                          </a:rPr>
                        </m:ctrlPr>
                      </m:dPr>
                      <m:e>
                        <m:r>
                          <a:rPr lang="en-IN" sz="2200" i="1">
                            <a:latin typeface="Cambria Math" panose="02040503050406030204" pitchFamily="18" charset="0"/>
                          </a:rPr>
                          <m:t>𝐴</m:t>
                        </m:r>
                      </m:e>
                    </m:d>
                    <m:r>
                      <a:rPr lang="en-IN" sz="2200" i="0">
                        <a:latin typeface="Cambria Math" panose="02040503050406030204" pitchFamily="18" charset="0"/>
                      </a:rPr>
                      <m:t>&gt;0</m:t>
                    </m:r>
                    <m:r>
                      <a:rPr lang="en-IN" sz="2200" b="0" i="0" smtClean="0">
                        <a:latin typeface="Cambria Math" panose="02040503050406030204" pitchFamily="18" charset="0"/>
                      </a:rPr>
                      <m:t> </m:t>
                    </m:r>
                    <m:r>
                      <a:rPr lang="en-IN" sz="2200" i="0">
                        <a:latin typeface="Cambria Math" panose="02040503050406030204" pitchFamily="18" charset="0"/>
                      </a:rPr>
                      <m:t>.</m:t>
                    </m:r>
                  </m:oMath>
                </a14:m>
                <a:endParaRPr lang="en-IN" sz="2200" dirty="0"/>
              </a:p>
              <a:p>
                <a:pPr>
                  <a:buNone/>
                </a:pPr>
                <a:endParaRPr lang="en-IN" sz="2200" dirty="0"/>
              </a:p>
              <a:p>
                <a:pPr>
                  <a:buNone/>
                </a:pPr>
                <a:r>
                  <a:rPr lang="en-IN" sz="2200" dirty="0"/>
                  <a:t>Then, the conditional probability of </a:t>
                </a:r>
                <a14:m>
                  <m:oMath xmlns:m="http://schemas.openxmlformats.org/officeDocument/2006/math">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1">
                            <a:latin typeface="Cambria Math" panose="02040503050406030204" pitchFamily="18" charset="0"/>
                          </a:rPr>
                          <m:t>𝑖</m:t>
                        </m:r>
                      </m:sub>
                    </m:sSub>
                  </m:oMath>
                </a14:m>
                <a:r>
                  <a:rPr lang="en-IN" sz="2200" dirty="0"/>
                  <a:t>given </a:t>
                </a:r>
                <a14:m>
                  <m:oMath xmlns:m="http://schemas.openxmlformats.org/officeDocument/2006/math">
                    <m:r>
                      <a:rPr lang="en-IN" sz="2200" i="1">
                        <a:latin typeface="Cambria Math" panose="02040503050406030204" pitchFamily="18" charset="0"/>
                      </a:rPr>
                      <m:t>𝐴</m:t>
                    </m:r>
                  </m:oMath>
                </a14:m>
                <a:r>
                  <a:rPr lang="en-IN" sz="2200" dirty="0"/>
                  <a:t>, for </a:t>
                </a:r>
                <a14:m>
                  <m:oMath xmlns:m="http://schemas.openxmlformats.org/officeDocument/2006/math">
                    <m:r>
                      <a:rPr lang="en-IN" sz="2200" i="1">
                        <a:latin typeface="Cambria Math" panose="02040503050406030204" pitchFamily="18" charset="0"/>
                      </a:rPr>
                      <m:t>𝑖</m:t>
                    </m:r>
                    <m:r>
                      <a:rPr lang="en-IN" sz="2200" i="0">
                        <a:latin typeface="Cambria Math" panose="02040503050406030204" pitchFamily="18" charset="0"/>
                      </a:rPr>
                      <m:t>=1,2,…,</m:t>
                    </m:r>
                    <m:r>
                      <a:rPr lang="en-IN" sz="2200" i="1">
                        <a:latin typeface="Cambria Math" panose="02040503050406030204" pitchFamily="18" charset="0"/>
                      </a:rPr>
                      <m:t>𝑛</m:t>
                    </m:r>
                  </m:oMath>
                </a14:m>
                <a:r>
                  <a:rPr lang="en-IN" sz="2200" dirty="0"/>
                  <a:t>, is given by</a:t>
                </a:r>
              </a:p>
              <a:p>
                <a:pPr algn="ctr">
                  <a:buNone/>
                </a:pPr>
                <a14:m>
                  <m:oMath xmlns:m="http://schemas.openxmlformats.org/officeDocument/2006/math">
                    <m:r>
                      <a:rPr lang="en-IN" sz="2200" i="1">
                        <a:latin typeface="Cambria Math" panose="02040503050406030204" pitchFamily="18" charset="0"/>
                      </a:rPr>
                      <m:t>𝑃</m:t>
                    </m:r>
                    <m:d>
                      <m:dPr>
                        <m:ctrlPr>
                          <a:rPr lang="en-IN" sz="2200" i="1">
                            <a:latin typeface="Cambria Math" panose="02040503050406030204" pitchFamily="18" charset="0"/>
                          </a:rPr>
                        </m:ctrlPr>
                      </m:dPr>
                      <m:e>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1">
                                <a:latin typeface="Cambria Math" panose="02040503050406030204" pitchFamily="18" charset="0"/>
                              </a:rPr>
                              <m:t>𝑖</m:t>
                            </m:r>
                          </m:sub>
                        </m:sSub>
                        <m:r>
                          <a:rPr lang="en-IN" sz="2200">
                            <a:latin typeface="Cambria Math" panose="02040503050406030204" pitchFamily="18" charset="0"/>
                          </a:rPr>
                          <m:t>∣</m:t>
                        </m:r>
                        <m:r>
                          <a:rPr lang="en-IN" sz="2200" i="1">
                            <a:latin typeface="Cambria Math" panose="02040503050406030204" pitchFamily="18" charset="0"/>
                          </a:rPr>
                          <m:t>𝐴</m:t>
                        </m:r>
                      </m:e>
                    </m:d>
                    <m:r>
                      <a:rPr lang="en-IN" sz="2200">
                        <a:latin typeface="Cambria Math" panose="02040503050406030204" pitchFamily="18" charset="0"/>
                      </a:rPr>
                      <m:t>=</m:t>
                    </m:r>
                    <m:f>
                      <m:fPr>
                        <m:ctrlPr>
                          <a:rPr lang="en-IN" sz="2200" i="1">
                            <a:latin typeface="Cambria Math" panose="02040503050406030204" pitchFamily="18" charset="0"/>
                          </a:rPr>
                        </m:ctrlPr>
                      </m:fPr>
                      <m:num>
                        <m:r>
                          <a:rPr lang="en-IN" sz="2200" i="1">
                            <a:latin typeface="Cambria Math" panose="02040503050406030204" pitchFamily="18" charset="0"/>
                          </a:rPr>
                          <m:t>𝑃</m:t>
                        </m:r>
                        <m:d>
                          <m:dPr>
                            <m:ctrlPr>
                              <a:rPr lang="en-IN" sz="2200" i="1">
                                <a:latin typeface="Cambria Math" panose="02040503050406030204" pitchFamily="18" charset="0"/>
                              </a:rPr>
                            </m:ctrlPr>
                          </m:dPr>
                          <m:e>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1">
                                    <a:latin typeface="Cambria Math" panose="02040503050406030204" pitchFamily="18" charset="0"/>
                                  </a:rPr>
                                  <m:t>𝑖</m:t>
                                </m:r>
                              </m:sub>
                            </m:sSub>
                          </m:e>
                        </m:d>
                        <m:r>
                          <m:rPr>
                            <m:nor/>
                          </m:rPr>
                          <a:rPr lang="en-IN" sz="2200" i="0"/>
                          <m:t> </m:t>
                        </m:r>
                        <m:r>
                          <a:rPr lang="en-IN" sz="2200" i="1">
                            <a:latin typeface="Cambria Math" panose="02040503050406030204" pitchFamily="18" charset="0"/>
                          </a:rPr>
                          <m:t>𝑃</m:t>
                        </m:r>
                        <m:d>
                          <m:dPr>
                            <m:ctrlPr>
                              <a:rPr lang="en-IN" sz="2200" i="1">
                                <a:latin typeface="Cambria Math" panose="02040503050406030204" pitchFamily="18" charset="0"/>
                              </a:rPr>
                            </m:ctrlPr>
                          </m:dPr>
                          <m:e>
                            <m:r>
                              <a:rPr lang="en-IN" sz="2200" i="1">
                                <a:latin typeface="Cambria Math" panose="02040503050406030204" pitchFamily="18" charset="0"/>
                              </a:rPr>
                              <m:t>𝐴</m:t>
                            </m:r>
                            <m:r>
                              <a:rPr lang="en-IN" sz="2200">
                                <a:latin typeface="Cambria Math" panose="02040503050406030204" pitchFamily="18" charset="0"/>
                              </a:rPr>
                              <m:t>∣</m:t>
                            </m:r>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1">
                                    <a:latin typeface="Cambria Math" panose="02040503050406030204" pitchFamily="18" charset="0"/>
                                  </a:rPr>
                                  <m:t>𝑖</m:t>
                                </m:r>
                              </m:sub>
                            </m:sSub>
                          </m:e>
                        </m:d>
                      </m:num>
                      <m:den>
                        <m:nary>
                          <m:naryPr>
                            <m:chr m:val="∑"/>
                            <m:grow m:val="on"/>
                            <m:ctrlPr>
                              <a:rPr lang="en-IN" sz="2200" i="1">
                                <a:latin typeface="Cambria Math" panose="02040503050406030204" pitchFamily="18" charset="0"/>
                              </a:rPr>
                            </m:ctrlPr>
                          </m:naryPr>
                          <m:sub>
                            <m:r>
                              <a:rPr lang="en-IN" sz="2200" i="1">
                                <a:latin typeface="Cambria Math" panose="02040503050406030204" pitchFamily="18" charset="0"/>
                              </a:rPr>
                              <m:t>𝑖</m:t>
                            </m:r>
                            <m:r>
                              <a:rPr lang="en-IN" sz="2200">
                                <a:latin typeface="Cambria Math" panose="02040503050406030204" pitchFamily="18" charset="0"/>
                              </a:rPr>
                              <m:t>=1</m:t>
                            </m:r>
                          </m:sub>
                          <m:sup>
                            <m:r>
                              <a:rPr lang="en-IN" sz="2200" i="1">
                                <a:latin typeface="Cambria Math" panose="02040503050406030204" pitchFamily="18" charset="0"/>
                              </a:rPr>
                              <m:t>𝑛</m:t>
                            </m:r>
                          </m:sup>
                          <m:e>
                            <m:r>
                              <a:rPr lang="en-IN" sz="2200" i="1">
                                <a:latin typeface="Cambria Math" panose="02040503050406030204" pitchFamily="18" charset="0"/>
                              </a:rPr>
                              <m:t>𝑃</m:t>
                            </m:r>
                          </m:e>
                        </m:nary>
                        <m:d>
                          <m:dPr>
                            <m:ctrlPr>
                              <a:rPr lang="en-IN" sz="2200" i="1">
                                <a:latin typeface="Cambria Math" panose="02040503050406030204" pitchFamily="18" charset="0"/>
                              </a:rPr>
                            </m:ctrlPr>
                          </m:dPr>
                          <m:e>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1">
                                    <a:latin typeface="Cambria Math" panose="02040503050406030204" pitchFamily="18" charset="0"/>
                                  </a:rPr>
                                  <m:t>𝑖</m:t>
                                </m:r>
                              </m:sub>
                            </m:sSub>
                          </m:e>
                        </m:d>
                        <m:r>
                          <m:rPr>
                            <m:nor/>
                          </m:rPr>
                          <a:rPr lang="en-IN" sz="2200" i="0"/>
                          <m:t> </m:t>
                        </m:r>
                        <m:r>
                          <a:rPr lang="en-IN" sz="2200" i="1">
                            <a:latin typeface="Cambria Math" panose="02040503050406030204" pitchFamily="18" charset="0"/>
                          </a:rPr>
                          <m:t>𝑃</m:t>
                        </m:r>
                        <m:d>
                          <m:dPr>
                            <m:ctrlPr>
                              <a:rPr lang="en-IN" sz="2200" i="1">
                                <a:latin typeface="Cambria Math" panose="02040503050406030204" pitchFamily="18" charset="0"/>
                              </a:rPr>
                            </m:ctrlPr>
                          </m:dPr>
                          <m:e>
                            <m:r>
                              <a:rPr lang="en-IN" sz="2200" i="1">
                                <a:latin typeface="Cambria Math" panose="02040503050406030204" pitchFamily="18" charset="0"/>
                              </a:rPr>
                              <m:t>𝐴</m:t>
                            </m:r>
                            <m:r>
                              <a:rPr lang="en-IN" sz="2200">
                                <a:latin typeface="Cambria Math" panose="02040503050406030204" pitchFamily="18" charset="0"/>
                              </a:rPr>
                              <m:t>∣</m:t>
                            </m:r>
                            <m:sSub>
                              <m:sSubPr>
                                <m:ctrlPr>
                                  <a:rPr lang="en-IN" sz="2200" i="1">
                                    <a:latin typeface="Cambria Math" panose="02040503050406030204" pitchFamily="18" charset="0"/>
                                  </a:rPr>
                                </m:ctrlPr>
                              </m:sSubPr>
                              <m:e>
                                <m:r>
                                  <a:rPr lang="en-IN" sz="2200" i="1">
                                    <a:latin typeface="Cambria Math" panose="02040503050406030204" pitchFamily="18" charset="0"/>
                                  </a:rPr>
                                  <m:t>𝐸</m:t>
                                </m:r>
                              </m:e>
                              <m:sub>
                                <m:r>
                                  <a:rPr lang="en-IN" sz="2200" i="1">
                                    <a:latin typeface="Cambria Math" panose="02040503050406030204" pitchFamily="18" charset="0"/>
                                  </a:rPr>
                                  <m:t>𝑖</m:t>
                                </m:r>
                              </m:sub>
                            </m:sSub>
                          </m:e>
                        </m:d>
                      </m:den>
                    </m:f>
                  </m:oMath>
                </a14:m>
                <a:r>
                  <a:rPr lang="en-IN" sz="2200" dirty="0"/>
                  <a:t>   for </a:t>
                </a:r>
                <a14:m>
                  <m:oMath xmlns:m="http://schemas.openxmlformats.org/officeDocument/2006/math">
                    <m:r>
                      <a:rPr lang="en-IN" sz="2200" i="1">
                        <a:latin typeface="Cambria Math" panose="02040503050406030204" pitchFamily="18" charset="0"/>
                      </a:rPr>
                      <m:t>𝑖</m:t>
                    </m:r>
                    <m:r>
                      <a:rPr lang="en-IN" sz="2200" i="0">
                        <a:latin typeface="Cambria Math" panose="02040503050406030204" pitchFamily="18" charset="0"/>
                      </a:rPr>
                      <m:t>=1,2,…,</m:t>
                    </m:r>
                    <m:r>
                      <a:rPr lang="en-IN" sz="2200" i="1">
                        <a:latin typeface="Cambria Math" panose="02040503050406030204" pitchFamily="18" charset="0"/>
                      </a:rPr>
                      <m:t>𝑛</m:t>
                    </m:r>
                    <m:r>
                      <a:rPr lang="en-IN" sz="2200" i="0">
                        <a:latin typeface="Cambria Math" panose="02040503050406030204" pitchFamily="18" charset="0"/>
                      </a:rPr>
                      <m:t>.</m:t>
                    </m:r>
                  </m:oMath>
                </a14:m>
                <a:endParaRPr lang="en-IN" sz="2200" dirty="0"/>
              </a:p>
              <a:p>
                <a:pPr>
                  <a:buNone/>
                </a:pPr>
                <a:r>
                  <a:rPr lang="en-IN" sz="2200" dirty="0"/>
                  <a:t>This is known as </a:t>
                </a:r>
                <a:r>
                  <a:rPr lang="en-IN" sz="2200" b="1" dirty="0"/>
                  <a:t>Bayes' Theorem</a:t>
                </a:r>
                <a:r>
                  <a:rPr lang="en-IN" sz="2200" dirty="0"/>
                  <a:t>.</a:t>
                </a:r>
              </a:p>
            </p:txBody>
          </p:sp>
        </mc:Choice>
        <mc:Fallback xmlns="">
          <p:sp>
            <p:nvSpPr>
              <p:cNvPr id="12" name="TextBox 11">
                <a:extLst>
                  <a:ext uri="{FF2B5EF4-FFF2-40B4-BE49-F238E27FC236}">
                    <a16:creationId xmlns:a16="http://schemas.microsoft.com/office/drawing/2014/main" id="{D781C6AA-F3EC-86DB-D313-A0BA11253708}"/>
                  </a:ext>
                </a:extLst>
              </p:cNvPr>
              <p:cNvSpPr txBox="1">
                <a:spLocks noRot="1" noChangeAspect="1" noMove="1" noResize="1" noEditPoints="1" noAdjustHandles="1" noChangeArrowheads="1" noChangeShapeType="1" noTextEdit="1"/>
              </p:cNvSpPr>
              <p:nvPr/>
            </p:nvSpPr>
            <p:spPr>
              <a:xfrm>
                <a:off x="733964" y="1150937"/>
                <a:ext cx="10724072" cy="3034036"/>
              </a:xfrm>
              <a:prstGeom prst="rect">
                <a:avLst/>
              </a:prstGeom>
              <a:blipFill>
                <a:blip r:embed="rId2"/>
                <a:stretch>
                  <a:fillRect l="-739" t="-1406" b="-3012"/>
                </a:stretch>
              </a:blipFill>
            </p:spPr>
            <p:txBody>
              <a:bodyPr/>
              <a:lstStyle/>
              <a:p>
                <a:r>
                  <a:rPr lang="en-IN">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A4C38-85E0-5573-C95E-54EC4468D526}"/>
              </a:ext>
            </a:extLst>
          </p:cNvPr>
          <p:cNvSpPr>
            <a:spLocks noGrp="1"/>
          </p:cNvSpPr>
          <p:nvPr>
            <p:ph type="title" idx="4294967295"/>
          </p:nvPr>
        </p:nvSpPr>
        <p:spPr>
          <a:xfrm>
            <a:off x="0" y="274638"/>
            <a:ext cx="8161338" cy="849312"/>
          </a:xfrm>
        </p:spPr>
        <p:txBody>
          <a:bodyPr/>
          <a:lstStyle/>
          <a:p>
            <a:r>
              <a:rPr lang="en-US" sz="4000" b="1" dirty="0">
                <a:solidFill>
                  <a:srgbClr val="FF0000"/>
                </a:solidFill>
                <a:ea typeface="Calibri" panose="020F0502020204030204" pitchFamily="34" charset="0"/>
                <a:cs typeface="Calibri" panose="020F0502020204030204" pitchFamily="34" charset="0"/>
              </a:rPr>
              <a:t>Terms related to Bayes Theorem</a:t>
            </a:r>
            <a:endParaRPr lang="en-IN" sz="4000" b="1"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20E7219-BDCD-4144-1BB4-FE8D90EB9F3D}"/>
              </a:ext>
            </a:extLst>
          </p:cNvPr>
          <p:cNvSpPr>
            <a:spLocks noGrp="1"/>
          </p:cNvSpPr>
          <p:nvPr>
            <p:ph type="body" idx="4294967295"/>
          </p:nvPr>
        </p:nvSpPr>
        <p:spPr>
          <a:xfrm>
            <a:off x="561975" y="1563688"/>
            <a:ext cx="10294938" cy="4033837"/>
          </a:xfrm>
        </p:spPr>
        <p:txBody>
          <a:bodyPr>
            <a:noAutofit/>
          </a:bodyPr>
          <a:lstStyle/>
          <a:p>
            <a:pPr marL="0" indent="0" algn="l" fontAlgn="base">
              <a:spcAft>
                <a:spcPts val="1800"/>
              </a:spcAft>
              <a:buNone/>
            </a:pPr>
            <a:r>
              <a:rPr lang="en-US" b="1" i="0" dirty="0">
                <a:solidFill>
                  <a:srgbClr val="002060"/>
                </a:solidFill>
                <a:effectLst/>
                <a:ea typeface="Calibri" panose="020F0502020204030204" pitchFamily="34" charset="0"/>
                <a:cs typeface="Calibri" panose="020F0502020204030204" pitchFamily="34" charset="0"/>
              </a:rPr>
              <a:t>Hypotheses: </a:t>
            </a:r>
            <a:r>
              <a:rPr lang="en-US" b="0" i="0" dirty="0">
                <a:solidFill>
                  <a:srgbClr val="002060"/>
                </a:solidFill>
                <a:effectLst/>
                <a:ea typeface="Calibri" panose="020F0502020204030204" pitchFamily="34" charset="0"/>
                <a:cs typeface="Calibri" panose="020F0502020204030204" pitchFamily="34" charset="0"/>
              </a:rPr>
              <a:t>Events happening in the sample space </a:t>
            </a:r>
            <a:r>
              <a:rPr lang="en-US" b="1" i="0" dirty="0">
                <a:solidFill>
                  <a:srgbClr val="002060"/>
                </a:solidFill>
                <a:effectLst/>
                <a:ea typeface="Calibri" panose="020F0502020204030204" pitchFamily="34" charset="0"/>
                <a:cs typeface="Calibri" panose="020F0502020204030204" pitchFamily="34" charset="0"/>
              </a:rPr>
              <a:t>E</a:t>
            </a:r>
            <a:r>
              <a:rPr lang="en-US" b="1" i="0" baseline="-25000" dirty="0">
                <a:solidFill>
                  <a:srgbClr val="002060"/>
                </a:solidFill>
                <a:effectLst/>
                <a:ea typeface="Calibri" panose="020F0502020204030204" pitchFamily="34" charset="0"/>
                <a:cs typeface="Calibri" panose="020F0502020204030204" pitchFamily="34" charset="0"/>
              </a:rPr>
              <a:t>1</a:t>
            </a:r>
            <a:r>
              <a:rPr lang="en-US" b="1" i="0" dirty="0">
                <a:solidFill>
                  <a:srgbClr val="002060"/>
                </a:solidFill>
                <a:effectLst/>
                <a:ea typeface="Calibri" panose="020F0502020204030204" pitchFamily="34" charset="0"/>
                <a:cs typeface="Calibri" panose="020F0502020204030204" pitchFamily="34" charset="0"/>
              </a:rPr>
              <a:t>, E</a:t>
            </a:r>
            <a:r>
              <a:rPr lang="en-US" b="1" i="0" baseline="-25000" dirty="0">
                <a:solidFill>
                  <a:srgbClr val="002060"/>
                </a:solidFill>
                <a:effectLst/>
                <a:ea typeface="Calibri" panose="020F0502020204030204" pitchFamily="34" charset="0"/>
                <a:cs typeface="Calibri" panose="020F0502020204030204" pitchFamily="34" charset="0"/>
              </a:rPr>
              <a:t>2</a:t>
            </a:r>
            <a:r>
              <a:rPr lang="en-US" b="1" i="0" dirty="0">
                <a:solidFill>
                  <a:srgbClr val="002060"/>
                </a:solidFill>
                <a:effectLst/>
                <a:ea typeface="Calibri" panose="020F0502020204030204" pitchFamily="34" charset="0"/>
                <a:cs typeface="Calibri" panose="020F0502020204030204" pitchFamily="34" charset="0"/>
              </a:rPr>
              <a:t>,… E</a:t>
            </a:r>
            <a:r>
              <a:rPr lang="en-US" b="1" i="0" baseline="-25000" dirty="0">
                <a:solidFill>
                  <a:srgbClr val="002060"/>
                </a:solidFill>
                <a:effectLst/>
                <a:ea typeface="Calibri" panose="020F0502020204030204" pitchFamily="34" charset="0"/>
                <a:cs typeface="Calibri" panose="020F0502020204030204" pitchFamily="34" charset="0"/>
              </a:rPr>
              <a:t>n</a:t>
            </a:r>
            <a:r>
              <a:rPr lang="en-US" b="1" i="0" dirty="0">
                <a:solidFill>
                  <a:srgbClr val="002060"/>
                </a:solidFill>
                <a:effectLst/>
                <a:ea typeface="Calibri" panose="020F0502020204030204" pitchFamily="34" charset="0"/>
                <a:cs typeface="Calibri" panose="020F0502020204030204" pitchFamily="34" charset="0"/>
              </a:rPr>
              <a:t> is called the hypotheses</a:t>
            </a:r>
            <a:endParaRPr lang="en-US" b="0" i="0" dirty="0">
              <a:solidFill>
                <a:srgbClr val="002060"/>
              </a:solidFill>
              <a:effectLst/>
              <a:ea typeface="Calibri" panose="020F0502020204030204" pitchFamily="34" charset="0"/>
              <a:cs typeface="Calibri" panose="020F0502020204030204" pitchFamily="34" charset="0"/>
            </a:endParaRPr>
          </a:p>
          <a:p>
            <a:pPr marL="0" indent="0" algn="l" fontAlgn="base">
              <a:spcAft>
                <a:spcPts val="1800"/>
              </a:spcAft>
              <a:buNone/>
            </a:pPr>
            <a:r>
              <a:rPr lang="en-US" b="1" i="0" dirty="0">
                <a:solidFill>
                  <a:srgbClr val="002060"/>
                </a:solidFill>
                <a:effectLst/>
                <a:ea typeface="Calibri" panose="020F0502020204030204" pitchFamily="34" charset="0"/>
                <a:cs typeface="Calibri" panose="020F0502020204030204" pitchFamily="34" charset="0"/>
              </a:rPr>
              <a:t>Priori Probability: </a:t>
            </a:r>
            <a:r>
              <a:rPr lang="en-US" b="0" i="0" dirty="0">
                <a:solidFill>
                  <a:srgbClr val="002060"/>
                </a:solidFill>
                <a:effectLst/>
                <a:ea typeface="Calibri" panose="020F0502020204030204" pitchFamily="34" charset="0"/>
                <a:cs typeface="Calibri" panose="020F0502020204030204" pitchFamily="34" charset="0"/>
              </a:rPr>
              <a:t>Priori Probability is the initial probability of an event occurring before any new data is taken into account. P(E</a:t>
            </a:r>
            <a:r>
              <a:rPr lang="en-US" b="0" i="0" baseline="-25000" dirty="0">
                <a:solidFill>
                  <a:srgbClr val="002060"/>
                </a:solidFill>
                <a:effectLst/>
                <a:ea typeface="Calibri" panose="020F0502020204030204" pitchFamily="34" charset="0"/>
                <a:cs typeface="Calibri" panose="020F0502020204030204" pitchFamily="34" charset="0"/>
              </a:rPr>
              <a:t>i</a:t>
            </a:r>
            <a:r>
              <a:rPr lang="en-US" b="0" i="0" dirty="0">
                <a:solidFill>
                  <a:srgbClr val="002060"/>
                </a:solidFill>
                <a:effectLst/>
                <a:ea typeface="Calibri" panose="020F0502020204030204" pitchFamily="34" charset="0"/>
                <a:cs typeface="Calibri" panose="020F0502020204030204" pitchFamily="34" charset="0"/>
              </a:rPr>
              <a:t>) is the priori probability of hypothesis E</a:t>
            </a:r>
            <a:r>
              <a:rPr lang="en-US" b="0" i="0" baseline="-25000" dirty="0">
                <a:solidFill>
                  <a:srgbClr val="002060"/>
                </a:solidFill>
                <a:effectLst/>
                <a:ea typeface="Calibri" panose="020F0502020204030204" pitchFamily="34" charset="0"/>
                <a:cs typeface="Calibri" panose="020F0502020204030204" pitchFamily="34" charset="0"/>
              </a:rPr>
              <a:t>i</a:t>
            </a:r>
            <a:r>
              <a:rPr lang="en-US" b="0" i="0" dirty="0">
                <a:solidFill>
                  <a:srgbClr val="002060"/>
                </a:solidFill>
                <a:effectLst/>
                <a:ea typeface="Calibri" panose="020F0502020204030204" pitchFamily="34" charset="0"/>
                <a:cs typeface="Calibri" panose="020F0502020204030204" pitchFamily="34" charset="0"/>
              </a:rPr>
              <a:t>.</a:t>
            </a:r>
          </a:p>
          <a:p>
            <a:pPr marL="0" indent="0" algn="l" fontAlgn="base">
              <a:spcAft>
                <a:spcPts val="1800"/>
              </a:spcAft>
              <a:buNone/>
            </a:pPr>
            <a:r>
              <a:rPr lang="en-US" b="1" i="0" dirty="0">
                <a:solidFill>
                  <a:srgbClr val="002060"/>
                </a:solidFill>
                <a:effectLst/>
                <a:ea typeface="Calibri" panose="020F0502020204030204" pitchFamily="34" charset="0"/>
                <a:cs typeface="Calibri" panose="020F0502020204030204" pitchFamily="34" charset="0"/>
              </a:rPr>
              <a:t>Posterior Probability: </a:t>
            </a:r>
            <a:r>
              <a:rPr lang="en-US" b="0" i="0" dirty="0">
                <a:solidFill>
                  <a:srgbClr val="002060"/>
                </a:solidFill>
                <a:effectLst/>
                <a:ea typeface="Calibri" panose="020F0502020204030204" pitchFamily="34" charset="0"/>
                <a:cs typeface="Calibri" panose="020F0502020204030204" pitchFamily="34" charset="0"/>
              </a:rPr>
              <a:t>Posterior Probability is the updated probability of an event after considering new information. Probability P(</a:t>
            </a:r>
            <a:r>
              <a:rPr lang="en-US" b="0" i="0" dirty="0" err="1">
                <a:solidFill>
                  <a:srgbClr val="002060"/>
                </a:solidFill>
                <a:effectLst/>
                <a:ea typeface="Calibri" panose="020F0502020204030204" pitchFamily="34" charset="0"/>
                <a:cs typeface="Calibri" panose="020F0502020204030204" pitchFamily="34" charset="0"/>
              </a:rPr>
              <a:t>E</a:t>
            </a:r>
            <a:r>
              <a:rPr lang="en-US" b="0" i="0" baseline="-25000" dirty="0" err="1">
                <a:solidFill>
                  <a:srgbClr val="002060"/>
                </a:solidFill>
                <a:effectLst/>
                <a:ea typeface="Calibri" panose="020F0502020204030204" pitchFamily="34" charset="0"/>
                <a:cs typeface="Calibri" panose="020F0502020204030204" pitchFamily="34" charset="0"/>
              </a:rPr>
              <a:t>i</a:t>
            </a:r>
            <a:r>
              <a:rPr lang="en-US" b="0" i="0" dirty="0" err="1">
                <a:solidFill>
                  <a:srgbClr val="002060"/>
                </a:solidFill>
                <a:effectLst/>
                <a:ea typeface="Calibri" panose="020F0502020204030204" pitchFamily="34" charset="0"/>
                <a:cs typeface="Calibri" panose="020F0502020204030204" pitchFamily="34" charset="0"/>
              </a:rPr>
              <a:t>|A</a:t>
            </a:r>
            <a:r>
              <a:rPr lang="en-US" b="0" i="0" dirty="0">
                <a:solidFill>
                  <a:srgbClr val="002060"/>
                </a:solidFill>
                <a:effectLst/>
                <a:ea typeface="Calibri" panose="020F0502020204030204" pitchFamily="34" charset="0"/>
                <a:cs typeface="Calibri" panose="020F0502020204030204" pitchFamily="34" charset="0"/>
              </a:rPr>
              <a:t>) is considered as the posterior probability of hypothesis E</a:t>
            </a:r>
            <a:r>
              <a:rPr lang="en-US" b="0" i="0" baseline="-25000" dirty="0">
                <a:solidFill>
                  <a:srgbClr val="002060"/>
                </a:solidFill>
                <a:effectLst/>
                <a:ea typeface="Calibri" panose="020F0502020204030204" pitchFamily="34" charset="0"/>
                <a:cs typeface="Calibri" panose="020F0502020204030204" pitchFamily="34" charset="0"/>
              </a:rPr>
              <a:t>i</a:t>
            </a:r>
            <a:r>
              <a:rPr lang="en-US" b="0" i="0" dirty="0">
                <a:solidFill>
                  <a:srgbClr val="002060"/>
                </a:solidFill>
                <a:effectLst/>
                <a:ea typeface="Calibri" panose="020F0502020204030204" pitchFamily="34" charset="0"/>
                <a:cs typeface="Calibri" panose="020F0502020204030204" pitchFamily="34" charset="0"/>
              </a:rPr>
              <a:t>.</a:t>
            </a:r>
          </a:p>
          <a:p>
            <a:pPr marL="0" indent="0">
              <a:buNone/>
            </a:pPr>
            <a:endParaRPr lang="en-IN" dirty="0"/>
          </a:p>
        </p:txBody>
      </p:sp>
      <p:sp>
        <p:nvSpPr>
          <p:cNvPr id="4" name="Footer Placeholder 3">
            <a:extLst>
              <a:ext uri="{FF2B5EF4-FFF2-40B4-BE49-F238E27FC236}">
                <a16:creationId xmlns:a16="http://schemas.microsoft.com/office/drawing/2014/main" id="{9BFCFA1B-0105-1584-8591-B4B8B19F0914}"/>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8B73C097-A0B9-E384-1FC4-F9D9A7B78AEE}"/>
              </a:ext>
            </a:extLst>
          </p:cNvPr>
          <p:cNvSpPr>
            <a:spLocks noGrp="1"/>
          </p:cNvSpPr>
          <p:nvPr>
            <p:ph type="sldNum" sz="quarter" idx="12"/>
          </p:nvPr>
        </p:nvSpPr>
        <p:spPr/>
        <p:txBody>
          <a:bodyPr/>
          <a:lstStyle/>
          <a:p>
            <a:pPr>
              <a:defRPr/>
            </a:pPr>
            <a:fld id="{799C83C6-4F87-48B4-8CF0-6A2F9115491D}" type="slidenum">
              <a:rPr lang="en-IN" smtClean="0"/>
              <a:pPr>
                <a:defRPr/>
              </a:pPr>
              <a:t>5</a:t>
            </a:fld>
            <a:endParaRPr lang="en-IN"/>
          </a:p>
        </p:txBody>
      </p:sp>
    </p:spTree>
    <p:extLst>
      <p:ext uri="{BB962C8B-B14F-4D97-AF65-F5344CB8AC3E}">
        <p14:creationId xmlns:p14="http://schemas.microsoft.com/office/powerpoint/2010/main" val="3883695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5B56-7C49-9B7E-A4EC-70274D74A64F}"/>
              </a:ext>
            </a:extLst>
          </p:cNvPr>
          <p:cNvSpPr>
            <a:spLocks noGrp="1"/>
          </p:cNvSpPr>
          <p:nvPr>
            <p:ph type="title" idx="4294967295"/>
          </p:nvPr>
        </p:nvSpPr>
        <p:spPr>
          <a:xfrm>
            <a:off x="142875" y="274637"/>
            <a:ext cx="8161338" cy="849312"/>
          </a:xfrm>
        </p:spPr>
        <p:txBody>
          <a:bodyPr/>
          <a:lstStyle/>
          <a:p>
            <a:r>
              <a:rPr lang="en-US" sz="4000" b="1" dirty="0">
                <a:solidFill>
                  <a:srgbClr val="FF0000"/>
                </a:solidFill>
                <a:ea typeface="Calibri" panose="020F0502020204030204" pitchFamily="34" charset="0"/>
                <a:cs typeface="Calibri" panose="020F0502020204030204" pitchFamily="34" charset="0"/>
              </a:rPr>
              <a:t>Applications of Bayes Theorem</a:t>
            </a:r>
            <a:endParaRPr lang="en-IN" sz="4000" b="1" dirty="0">
              <a:solidFill>
                <a:srgbClr val="FF0000"/>
              </a:solidFill>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4F0BEF22-42CC-8486-DDB5-C751AA6BE0C7}"/>
              </a:ext>
            </a:extLst>
          </p:cNvPr>
          <p:cNvSpPr>
            <a:spLocks noGrp="1"/>
          </p:cNvSpPr>
          <p:nvPr>
            <p:ph type="subTitle" idx="4294967295"/>
          </p:nvPr>
        </p:nvSpPr>
        <p:spPr>
          <a:xfrm>
            <a:off x="533400" y="1525587"/>
            <a:ext cx="10915650" cy="4429125"/>
          </a:xfrm>
        </p:spPr>
        <p:txBody>
          <a:bodyPr>
            <a:normAutofit/>
          </a:bodyPr>
          <a:lstStyle/>
          <a:p>
            <a:pPr marL="0" indent="0" algn="just" rtl="0" fontAlgn="base">
              <a:lnSpc>
                <a:spcPct val="150000"/>
              </a:lnSpc>
              <a:spcAft>
                <a:spcPts val="750"/>
              </a:spcAft>
              <a:buNone/>
            </a:pPr>
            <a:r>
              <a:rPr lang="en-US" b="0" i="0" dirty="0">
                <a:solidFill>
                  <a:srgbClr val="273239"/>
                </a:solidFill>
                <a:effectLst/>
                <a:ea typeface="Calibri" panose="020F0502020204030204" pitchFamily="34" charset="0"/>
                <a:cs typeface="Calibri" panose="020F0502020204030204" pitchFamily="34" charset="0"/>
              </a:rPr>
              <a:t>Bayesian inference is very important and has found application in various activities, including medicine, science, philosophy, engineering, sports, law, etc., and Bayesian inference is directly derived from Bayes’ theorem.</a:t>
            </a:r>
          </a:p>
          <a:p>
            <a:pPr marL="0" indent="0" algn="just" rtl="0" fontAlgn="base">
              <a:lnSpc>
                <a:spcPct val="150000"/>
              </a:lnSpc>
              <a:spcAft>
                <a:spcPts val="750"/>
              </a:spcAft>
              <a:buNone/>
            </a:pPr>
            <a:r>
              <a:rPr lang="en-US" b="1" i="0" dirty="0">
                <a:solidFill>
                  <a:srgbClr val="273239"/>
                </a:solidFill>
                <a:effectLst/>
                <a:ea typeface="Calibri" panose="020F0502020204030204" pitchFamily="34" charset="0"/>
                <a:cs typeface="Calibri" panose="020F0502020204030204" pitchFamily="34" charset="0"/>
              </a:rPr>
              <a:t>Example:</a:t>
            </a:r>
            <a:r>
              <a:rPr lang="en-US" b="0" i="0" dirty="0">
                <a:solidFill>
                  <a:srgbClr val="273239"/>
                </a:solidFill>
                <a:effectLst/>
                <a:ea typeface="Calibri" panose="020F0502020204030204" pitchFamily="34" charset="0"/>
                <a:cs typeface="Calibri" panose="020F0502020204030204" pitchFamily="34" charset="0"/>
              </a:rPr>
              <a:t> Bayes’ theorem defines the accuracy of the medical test by taking into account how likely a person is to have a disease and what is the overall accuracy of the test.</a:t>
            </a:r>
          </a:p>
          <a:p>
            <a:pPr marL="0" indent="0">
              <a:lnSpc>
                <a:spcPct val="150000"/>
              </a:lnSpc>
              <a:buNone/>
            </a:pPr>
            <a:endParaRPr lang="en-IN" dirty="0"/>
          </a:p>
        </p:txBody>
      </p:sp>
      <p:sp>
        <p:nvSpPr>
          <p:cNvPr id="4" name="Footer Placeholder 3">
            <a:extLst>
              <a:ext uri="{FF2B5EF4-FFF2-40B4-BE49-F238E27FC236}">
                <a16:creationId xmlns:a16="http://schemas.microsoft.com/office/drawing/2014/main" id="{7BC931BE-10B5-DDB6-1494-A6020BDDE16B}"/>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47B6302D-7DE3-657B-1952-43DA5E6DA632}"/>
              </a:ext>
            </a:extLst>
          </p:cNvPr>
          <p:cNvSpPr>
            <a:spLocks noGrp="1"/>
          </p:cNvSpPr>
          <p:nvPr>
            <p:ph type="sldNum" sz="quarter" idx="12"/>
          </p:nvPr>
        </p:nvSpPr>
        <p:spPr/>
        <p:txBody>
          <a:bodyPr/>
          <a:lstStyle/>
          <a:p>
            <a:pPr>
              <a:defRPr/>
            </a:pPr>
            <a:fld id="{799C83C6-4F87-48B4-8CF0-6A2F9115491D}" type="slidenum">
              <a:rPr lang="en-IN" smtClean="0"/>
              <a:pPr>
                <a:defRPr/>
              </a:pPr>
              <a:t>6</a:t>
            </a:fld>
            <a:endParaRPr lang="en-IN"/>
          </a:p>
        </p:txBody>
      </p:sp>
    </p:spTree>
    <p:extLst>
      <p:ext uri="{BB962C8B-B14F-4D97-AF65-F5344CB8AC3E}">
        <p14:creationId xmlns:p14="http://schemas.microsoft.com/office/powerpoint/2010/main" val="1108892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30DD1-C82D-3455-78FD-C2D751872150}"/>
              </a:ext>
            </a:extLst>
          </p:cNvPr>
          <p:cNvSpPr>
            <a:spLocks noGrp="1"/>
          </p:cNvSpPr>
          <p:nvPr>
            <p:ph type="title" idx="4294967295"/>
          </p:nvPr>
        </p:nvSpPr>
        <p:spPr>
          <a:xfrm>
            <a:off x="190500" y="241301"/>
            <a:ext cx="8161338" cy="849312"/>
          </a:xfrm>
        </p:spPr>
        <p:txBody>
          <a:bodyPr/>
          <a:lstStyle/>
          <a:p>
            <a:pPr algn="l"/>
            <a:r>
              <a:rPr lang="en-US" sz="4000" b="1" dirty="0">
                <a:solidFill>
                  <a:srgbClr val="FF0000"/>
                </a:solidFill>
                <a:ea typeface="Calibri" panose="020F0502020204030204" pitchFamily="34" charset="0"/>
                <a:cs typeface="Calibri" panose="020F0502020204030204" pitchFamily="34" charset="0"/>
              </a:rPr>
              <a:t>Problem 1</a:t>
            </a:r>
            <a:endParaRPr lang="en-IN" sz="4000" b="1"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DACF4B49-5EFE-105F-D7F3-48DCB51BB44E}"/>
              </a:ext>
            </a:extLst>
          </p:cNvPr>
          <p:cNvSpPr>
            <a:spLocks noGrp="1"/>
          </p:cNvSpPr>
          <p:nvPr>
            <p:ph type="body" idx="4294967295"/>
          </p:nvPr>
        </p:nvSpPr>
        <p:spPr>
          <a:xfrm>
            <a:off x="534193" y="1455738"/>
            <a:ext cx="11123613" cy="4900612"/>
          </a:xfrm>
        </p:spPr>
        <p:txBody>
          <a:bodyPr>
            <a:normAutofit/>
          </a:bodyPr>
          <a:lstStyle/>
          <a:p>
            <a:pPr marL="107950" indent="0" algn="l">
              <a:lnSpc>
                <a:spcPct val="150000"/>
              </a:lnSpc>
              <a:buNone/>
            </a:pPr>
            <a:r>
              <a:rPr lang="en-US" sz="3200" dirty="0">
                <a:solidFill>
                  <a:schemeClr val="tx1"/>
                </a:solidFill>
                <a:ea typeface="Calibri" panose="020F0502020204030204" pitchFamily="34" charset="0"/>
                <a:cs typeface="Calibri" panose="020F0502020204030204" pitchFamily="34" charset="0"/>
                <a:sym typeface="Arial"/>
              </a:rPr>
              <a:t>A hospital has 4 nurses handling respectively 20%, 40%, 25% and 15% of the patients of all the doctors coming to the hospital. The probability that they misguide the patients are respectively 0.05, 0.03, 0.04 and 0.05. Find the probability that the misguided incident can be blamed on the third nurse.</a:t>
            </a:r>
            <a:endParaRPr lang="en-IN" sz="3200" dirty="0">
              <a:solidFill>
                <a:schemeClr val="tx1"/>
              </a:solidFill>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F5CEE7C4-54A2-EA4A-0948-9DA99EBF4383}"/>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51BE4DE0-50D7-A48C-7702-A1E38AFC662A}"/>
              </a:ext>
            </a:extLst>
          </p:cNvPr>
          <p:cNvSpPr>
            <a:spLocks noGrp="1"/>
          </p:cNvSpPr>
          <p:nvPr>
            <p:ph type="sldNum" sz="quarter" idx="12"/>
          </p:nvPr>
        </p:nvSpPr>
        <p:spPr/>
        <p:txBody>
          <a:bodyPr/>
          <a:lstStyle/>
          <a:p>
            <a:pPr>
              <a:defRPr/>
            </a:pPr>
            <a:fld id="{799C83C6-4F87-48B4-8CF0-6A2F9115491D}" type="slidenum">
              <a:rPr lang="en-IN" smtClean="0"/>
              <a:pPr>
                <a:defRPr/>
              </a:pPr>
              <a:t>7</a:t>
            </a:fld>
            <a:endParaRPr lang="en-IN"/>
          </a:p>
        </p:txBody>
      </p:sp>
    </p:spTree>
    <p:extLst>
      <p:ext uri="{BB962C8B-B14F-4D97-AF65-F5344CB8AC3E}">
        <p14:creationId xmlns:p14="http://schemas.microsoft.com/office/powerpoint/2010/main" val="3311443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8A16-20CF-BB87-263E-D2C9C616E677}"/>
              </a:ext>
            </a:extLst>
          </p:cNvPr>
          <p:cNvSpPr>
            <a:spLocks noGrp="1"/>
          </p:cNvSpPr>
          <p:nvPr>
            <p:ph type="title" idx="4294967295"/>
          </p:nvPr>
        </p:nvSpPr>
        <p:spPr>
          <a:xfrm>
            <a:off x="0" y="219075"/>
            <a:ext cx="8161338" cy="849313"/>
          </a:xfrm>
        </p:spPr>
        <p:txBody>
          <a:bodyPr/>
          <a:lstStyle/>
          <a:p>
            <a:pPr algn="l"/>
            <a:r>
              <a:rPr lang="en-US" sz="4000" b="1" dirty="0">
                <a:solidFill>
                  <a:srgbClr val="00B050"/>
                </a:solidFill>
                <a:ea typeface="Calibri" panose="020F0502020204030204" pitchFamily="34" charset="0"/>
                <a:cs typeface="Calibri" panose="020F0502020204030204" pitchFamily="34" charset="0"/>
              </a:rPr>
              <a:t>Problem 1 - Solution</a:t>
            </a:r>
            <a:endParaRPr lang="en-IN" sz="4000" dirty="0">
              <a:solidFill>
                <a:srgbClr val="00B050"/>
              </a:solidFill>
            </a:endParaRPr>
          </a:p>
        </p:txBody>
      </p:sp>
      <p:pic>
        <p:nvPicPr>
          <p:cNvPr id="5" name="Picture 4">
            <a:extLst>
              <a:ext uri="{FF2B5EF4-FFF2-40B4-BE49-F238E27FC236}">
                <a16:creationId xmlns:a16="http://schemas.microsoft.com/office/drawing/2014/main" id="{96318BF3-1E5C-5AC0-5B7F-B7DE742D0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725" y="1155818"/>
            <a:ext cx="5111050" cy="5272451"/>
          </a:xfrm>
          <a:prstGeom prst="rect">
            <a:avLst/>
          </a:prstGeom>
        </p:spPr>
      </p:pic>
      <p:pic>
        <p:nvPicPr>
          <p:cNvPr id="8" name="Picture 7">
            <a:extLst>
              <a:ext uri="{FF2B5EF4-FFF2-40B4-BE49-F238E27FC236}">
                <a16:creationId xmlns:a16="http://schemas.microsoft.com/office/drawing/2014/main" id="{42F67AFD-67E0-FAE8-E457-E5088FE268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16541"/>
            <a:ext cx="4956577" cy="5873027"/>
          </a:xfrm>
          <a:prstGeom prst="rect">
            <a:avLst/>
          </a:prstGeom>
        </p:spPr>
      </p:pic>
      <p:sp>
        <p:nvSpPr>
          <p:cNvPr id="6" name="Footer Placeholder 5">
            <a:extLst>
              <a:ext uri="{FF2B5EF4-FFF2-40B4-BE49-F238E27FC236}">
                <a16:creationId xmlns:a16="http://schemas.microsoft.com/office/drawing/2014/main" id="{E4FA8DF4-4AA7-6E86-EA68-6DDD95B17AEB}"/>
              </a:ext>
            </a:extLst>
          </p:cNvPr>
          <p:cNvSpPr>
            <a:spLocks noGrp="1"/>
          </p:cNvSpPr>
          <p:nvPr>
            <p:ph type="ftr" sz="quarter" idx="11"/>
          </p:nvPr>
        </p:nvSpPr>
        <p:spPr/>
        <p:txBody>
          <a:bodyPr/>
          <a:lstStyle/>
          <a:p>
            <a:r>
              <a:rPr lang="en-IN"/>
              <a:t>W-2</a:t>
            </a:r>
          </a:p>
        </p:txBody>
      </p:sp>
      <p:sp>
        <p:nvSpPr>
          <p:cNvPr id="7" name="Slide Number Placeholder 6">
            <a:extLst>
              <a:ext uri="{FF2B5EF4-FFF2-40B4-BE49-F238E27FC236}">
                <a16:creationId xmlns:a16="http://schemas.microsoft.com/office/drawing/2014/main" id="{A1D44D28-D9E2-C619-AC17-60771CA19F61}"/>
              </a:ext>
            </a:extLst>
          </p:cNvPr>
          <p:cNvSpPr>
            <a:spLocks noGrp="1"/>
          </p:cNvSpPr>
          <p:nvPr>
            <p:ph type="sldNum" sz="quarter" idx="12"/>
          </p:nvPr>
        </p:nvSpPr>
        <p:spPr/>
        <p:txBody>
          <a:bodyPr/>
          <a:lstStyle/>
          <a:p>
            <a:pPr>
              <a:defRPr/>
            </a:pPr>
            <a:fld id="{799C83C6-4F87-48B4-8CF0-6A2F9115491D}" type="slidenum">
              <a:rPr lang="en-IN" smtClean="0"/>
              <a:pPr>
                <a:defRPr/>
              </a:pPr>
              <a:t>8</a:t>
            </a:fld>
            <a:endParaRPr lang="en-IN"/>
          </a:p>
        </p:txBody>
      </p:sp>
    </p:spTree>
    <p:extLst>
      <p:ext uri="{BB962C8B-B14F-4D97-AF65-F5344CB8AC3E}">
        <p14:creationId xmlns:p14="http://schemas.microsoft.com/office/powerpoint/2010/main" val="2633734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F23FB-BFEC-F91F-9FDB-06900FC0EBE1}"/>
              </a:ext>
            </a:extLst>
          </p:cNvPr>
          <p:cNvSpPr>
            <a:spLocks noGrp="1"/>
          </p:cNvSpPr>
          <p:nvPr>
            <p:ph type="title" idx="4294967295"/>
          </p:nvPr>
        </p:nvSpPr>
        <p:spPr>
          <a:xfrm>
            <a:off x="0" y="274638"/>
            <a:ext cx="8161338" cy="849312"/>
          </a:xfrm>
        </p:spPr>
        <p:txBody>
          <a:bodyPr/>
          <a:lstStyle/>
          <a:p>
            <a:pPr algn="l"/>
            <a:r>
              <a:rPr lang="en-US" sz="4400" b="1" dirty="0">
                <a:solidFill>
                  <a:srgbClr val="FF0000"/>
                </a:solidFill>
                <a:ea typeface="Calibri" panose="020F0502020204030204" pitchFamily="34" charset="0"/>
                <a:cs typeface="Calibri" panose="020F0502020204030204" pitchFamily="34" charset="0"/>
              </a:rPr>
              <a:t>Problem 2</a:t>
            </a:r>
            <a:endParaRPr lang="en-IN" dirty="0"/>
          </a:p>
        </p:txBody>
      </p:sp>
      <p:sp>
        <p:nvSpPr>
          <p:cNvPr id="3" name="Text Placeholder 2">
            <a:extLst>
              <a:ext uri="{FF2B5EF4-FFF2-40B4-BE49-F238E27FC236}">
                <a16:creationId xmlns:a16="http://schemas.microsoft.com/office/drawing/2014/main" id="{36E57BF3-AD81-8C15-016A-0254D7C127D8}"/>
              </a:ext>
            </a:extLst>
          </p:cNvPr>
          <p:cNvSpPr>
            <a:spLocks noGrp="1"/>
          </p:cNvSpPr>
          <p:nvPr>
            <p:ph type="body" idx="4294967295"/>
          </p:nvPr>
        </p:nvSpPr>
        <p:spPr>
          <a:xfrm>
            <a:off x="476250" y="1530350"/>
            <a:ext cx="11391900" cy="4537075"/>
          </a:xfrm>
        </p:spPr>
        <p:txBody>
          <a:bodyPr/>
          <a:lstStyle/>
          <a:p>
            <a:pPr marL="107950" indent="0" algn="l">
              <a:buNone/>
            </a:pPr>
            <a:r>
              <a:rPr lang="en-US" sz="3200" dirty="0">
                <a:solidFill>
                  <a:schemeClr val="tx1"/>
                </a:solidFill>
                <a:ea typeface="Calibri" panose="020F0502020204030204" pitchFamily="34" charset="0"/>
                <a:cs typeface="Calibri" panose="020F0502020204030204" pitchFamily="34" charset="0"/>
                <a:sym typeface="Arial"/>
              </a:rPr>
              <a:t>Three machines A, B and C produce respectively 50%, 30% and 20% of the total number of items of a factory. The percentage of defective outputs of these machines are 3%, 5% and 2%. An item is selected at random and is found to be defective. (</a:t>
            </a:r>
            <a:r>
              <a:rPr lang="en-US" sz="3200" dirty="0" err="1">
                <a:solidFill>
                  <a:schemeClr val="tx1"/>
                </a:solidFill>
                <a:ea typeface="Calibri" panose="020F0502020204030204" pitchFamily="34" charset="0"/>
                <a:cs typeface="Calibri" panose="020F0502020204030204" pitchFamily="34" charset="0"/>
                <a:sym typeface="Arial"/>
              </a:rPr>
              <a:t>i</a:t>
            </a:r>
            <a:r>
              <a:rPr lang="en-US" sz="3200" dirty="0">
                <a:solidFill>
                  <a:schemeClr val="tx1"/>
                </a:solidFill>
                <a:ea typeface="Calibri" panose="020F0502020204030204" pitchFamily="34" charset="0"/>
                <a:cs typeface="Calibri" panose="020F0502020204030204" pitchFamily="34" charset="0"/>
                <a:sym typeface="Arial"/>
              </a:rPr>
              <a:t>) Find the probability that the item was produced by machine C? (ii) What is the probability that the item was produced by machine C or B?(iii) What is the probability that an item selected at random is found to be non-defective and also the probability that the item was produced by machine A given that it is non-defective.</a:t>
            </a:r>
          </a:p>
        </p:txBody>
      </p:sp>
      <p:sp>
        <p:nvSpPr>
          <p:cNvPr id="4" name="Footer Placeholder 3">
            <a:extLst>
              <a:ext uri="{FF2B5EF4-FFF2-40B4-BE49-F238E27FC236}">
                <a16:creationId xmlns:a16="http://schemas.microsoft.com/office/drawing/2014/main" id="{A1598DF0-5CDE-B2E4-B5EC-0557D30489F6}"/>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4966B356-D673-C5DE-BB35-72CA076B5055}"/>
              </a:ext>
            </a:extLst>
          </p:cNvPr>
          <p:cNvSpPr>
            <a:spLocks noGrp="1"/>
          </p:cNvSpPr>
          <p:nvPr>
            <p:ph type="sldNum" sz="quarter" idx="12"/>
          </p:nvPr>
        </p:nvSpPr>
        <p:spPr/>
        <p:txBody>
          <a:bodyPr/>
          <a:lstStyle/>
          <a:p>
            <a:pPr>
              <a:defRPr/>
            </a:pPr>
            <a:fld id="{799C83C6-4F87-48B4-8CF0-6A2F9115491D}" type="slidenum">
              <a:rPr lang="en-IN" smtClean="0"/>
              <a:pPr>
                <a:defRPr/>
              </a:pPr>
              <a:t>9</a:t>
            </a:fld>
            <a:endParaRPr lang="en-IN"/>
          </a:p>
        </p:txBody>
      </p:sp>
    </p:spTree>
    <p:extLst>
      <p:ext uri="{BB962C8B-B14F-4D97-AF65-F5344CB8AC3E}">
        <p14:creationId xmlns:p14="http://schemas.microsoft.com/office/powerpoint/2010/main" val="253529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E8253-0FE6-8795-ED1C-CD572A8BCC1D}"/>
              </a:ext>
            </a:extLst>
          </p:cNvPr>
          <p:cNvSpPr>
            <a:spLocks noGrp="1"/>
          </p:cNvSpPr>
          <p:nvPr>
            <p:ph type="title" idx="4294967295"/>
          </p:nvPr>
        </p:nvSpPr>
        <p:spPr>
          <a:xfrm>
            <a:off x="0" y="49237"/>
            <a:ext cx="8161338" cy="850900"/>
          </a:xfrm>
        </p:spPr>
        <p:txBody>
          <a:bodyPr/>
          <a:lstStyle/>
          <a:p>
            <a:pPr algn="l"/>
            <a:r>
              <a:rPr lang="en-US" sz="4000" b="1" dirty="0">
                <a:solidFill>
                  <a:srgbClr val="00B050"/>
                </a:solidFill>
                <a:ea typeface="Calibri" panose="020F0502020204030204" pitchFamily="34" charset="0"/>
                <a:cs typeface="Calibri" panose="020F0502020204030204" pitchFamily="34" charset="0"/>
              </a:rPr>
              <a:t>Problem 2 - Solution</a:t>
            </a:r>
            <a:endParaRPr lang="en-IN" sz="4000" dirty="0"/>
          </a:p>
        </p:txBody>
      </p:sp>
      <p:pic>
        <p:nvPicPr>
          <p:cNvPr id="7" name="Picture 6">
            <a:extLst>
              <a:ext uri="{FF2B5EF4-FFF2-40B4-BE49-F238E27FC236}">
                <a16:creationId xmlns:a16="http://schemas.microsoft.com/office/drawing/2014/main" id="{0EAFFC8C-4AEA-38F5-E29A-E9B595306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27" y="808405"/>
            <a:ext cx="6192947" cy="5547945"/>
          </a:xfrm>
          <a:prstGeom prst="rect">
            <a:avLst/>
          </a:prstGeom>
        </p:spPr>
      </p:pic>
      <p:pic>
        <p:nvPicPr>
          <p:cNvPr id="10" name="Picture 9">
            <a:extLst>
              <a:ext uri="{FF2B5EF4-FFF2-40B4-BE49-F238E27FC236}">
                <a16:creationId xmlns:a16="http://schemas.microsoft.com/office/drawing/2014/main" id="{38958C31-2A80-51C9-85DE-D8EB7160BD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65726" y="595308"/>
            <a:ext cx="5930974" cy="5640421"/>
          </a:xfrm>
          <a:prstGeom prst="rect">
            <a:avLst/>
          </a:prstGeom>
        </p:spPr>
      </p:pic>
      <p:sp>
        <p:nvSpPr>
          <p:cNvPr id="5" name="Footer Placeholder 4">
            <a:extLst>
              <a:ext uri="{FF2B5EF4-FFF2-40B4-BE49-F238E27FC236}">
                <a16:creationId xmlns:a16="http://schemas.microsoft.com/office/drawing/2014/main" id="{8ECF0D07-4697-D676-A7D1-D10CA7FC3D45}"/>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3EFFF6E6-BB0A-A1B5-D66F-2CC4512781DD}"/>
              </a:ext>
            </a:extLst>
          </p:cNvPr>
          <p:cNvSpPr>
            <a:spLocks noGrp="1"/>
          </p:cNvSpPr>
          <p:nvPr>
            <p:ph type="sldNum" sz="quarter" idx="12"/>
          </p:nvPr>
        </p:nvSpPr>
        <p:spPr>
          <a:xfrm>
            <a:off x="8639175" y="6356350"/>
            <a:ext cx="2743200" cy="365125"/>
          </a:xfrm>
        </p:spPr>
        <p:txBody>
          <a:bodyPr/>
          <a:lstStyle/>
          <a:p>
            <a:pPr>
              <a:defRPr/>
            </a:pPr>
            <a:fld id="{799C83C6-4F87-48B4-8CF0-6A2F9115491D}" type="slidenum">
              <a:rPr lang="en-IN" smtClean="0"/>
              <a:pPr>
                <a:defRPr/>
              </a:pPr>
              <a:t>10</a:t>
            </a:fld>
            <a:endParaRPr lang="en-IN"/>
          </a:p>
        </p:txBody>
      </p:sp>
    </p:spTree>
    <p:extLst>
      <p:ext uri="{BB962C8B-B14F-4D97-AF65-F5344CB8AC3E}">
        <p14:creationId xmlns:p14="http://schemas.microsoft.com/office/powerpoint/2010/main" val="1538834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9A8AC70-2EB4-229A-6807-0B9665761B67}"/>
                  </a:ext>
                </a:extLst>
              </p:cNvPr>
              <p:cNvSpPr txBox="1"/>
              <p:nvPr/>
            </p:nvSpPr>
            <p:spPr>
              <a:xfrm>
                <a:off x="542925" y="269051"/>
                <a:ext cx="5353050" cy="3403624"/>
              </a:xfrm>
              <a:prstGeom prst="rect">
                <a:avLst/>
              </a:prstGeom>
              <a:noFill/>
            </p:spPr>
            <p:txBody>
              <a:bodyPr wrap="square">
                <a:spAutoFit/>
              </a:bodyPr>
              <a:lstStyle/>
              <a:p>
                <a:pPr>
                  <a:buNone/>
                </a:pPr>
                <a:r>
                  <a:rPr lang="en-IN" b="1" dirty="0">
                    <a:cs typeface="Times New Roman" panose="02020603050405020304" pitchFamily="18" charset="0"/>
                  </a:rPr>
                  <a:t> </a:t>
                </a:r>
                <a:r>
                  <a:rPr lang="en-IN" dirty="0">
                    <a:cs typeface="Times New Roman" panose="02020603050405020304" pitchFamily="18" charset="0"/>
                  </a:rPr>
                  <a:t>By the Law of Total Probability</a:t>
                </a:r>
              </a:p>
              <a:p>
                <a:pPr>
                  <a:buNone/>
                </a:pPr>
                <a:r>
                  <a:rPr lang="en-IN" dirty="0">
                    <a:cs typeface="Times New Roman" panose="02020603050405020304" pitchFamily="18" charset="0"/>
                  </a:rPr>
                  <a:t>The probability that a randomly selected item is non-defective (ND) is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cs typeface="Times New Roman" panose="02020603050405020304" pitchFamily="18" charset="0"/>
                            </a:rPr>
                            <m:t>ND</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𝐴</m:t>
                          </m:r>
                          <m:r>
                            <a:rPr lang="en-IN" b="0" i="0">
                              <a:latin typeface="Cambria Math" panose="02040503050406030204" pitchFamily="18" charset="0"/>
                            </a:rPr>
                            <m:t>∩</m:t>
                          </m:r>
                          <m:r>
                            <m:rPr>
                              <m:nor/>
                            </m:rPr>
                            <a:rPr lang="en-IN" b="0" i="0">
                              <a:cs typeface="Times New Roman" panose="02020603050405020304" pitchFamily="18" charset="0"/>
                            </a:rPr>
                            <m:t>ND</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𝐵</m:t>
                          </m:r>
                          <m:r>
                            <a:rPr lang="en-IN" b="0" i="0">
                              <a:latin typeface="Cambria Math" panose="02040503050406030204" pitchFamily="18" charset="0"/>
                            </a:rPr>
                            <m:t>∩</m:t>
                          </m:r>
                          <m:r>
                            <m:rPr>
                              <m:nor/>
                            </m:rPr>
                            <a:rPr lang="en-IN" b="0" i="0">
                              <a:cs typeface="Times New Roman" panose="02020603050405020304" pitchFamily="18" charset="0"/>
                            </a:rPr>
                            <m:t>ND</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𝐶</m:t>
                          </m:r>
                          <m:r>
                            <a:rPr lang="en-IN" b="0" i="0">
                              <a:latin typeface="Cambria Math" panose="02040503050406030204" pitchFamily="18" charset="0"/>
                            </a:rPr>
                            <m:t>∩</m:t>
                          </m:r>
                          <m:r>
                            <m:rPr>
                              <m:nor/>
                            </m:rPr>
                            <a:rPr lang="en-IN" b="0" i="0">
                              <a:cs typeface="Times New Roman" panose="02020603050405020304" pitchFamily="18" charset="0"/>
                            </a:rPr>
                            <m:t>ND</m:t>
                          </m:r>
                        </m:e>
                      </m:d>
                    </m:oMath>
                  </m:oMathPara>
                </a14:m>
                <a:endParaRPr lang="en-IN" b="0" dirty="0">
                  <a:cs typeface="Times New Roman" panose="02020603050405020304" pitchFamily="18" charset="0"/>
                </a:endParaRPr>
              </a:p>
              <a:p>
                <a:pPr>
                  <a:buNone/>
                </a:pPr>
                <a:r>
                  <a:rPr lang="en-IN" dirty="0">
                    <a:cs typeface="Times New Roman" panose="02020603050405020304" pitchFamily="18" charset="0"/>
                  </a:rPr>
                  <a:t>Using the multiplication rule,</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cs typeface="Times New Roman" panose="02020603050405020304" pitchFamily="18" charset="0"/>
                            </a:rPr>
                            <m:t>ND</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𝐴</m:t>
                          </m:r>
                        </m:e>
                      </m:d>
                      <m:r>
                        <a:rPr lang="en-IN" b="0"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cs typeface="Times New Roman" panose="02020603050405020304" pitchFamily="18" charset="0"/>
                            </a:rPr>
                            <m:t>ND</m:t>
                          </m:r>
                          <m:r>
                            <a:rPr lang="en-IN" b="0" i="0">
                              <a:latin typeface="Cambria Math" panose="02040503050406030204" pitchFamily="18" charset="0"/>
                            </a:rPr>
                            <m:t>∣</m:t>
                          </m:r>
                          <m:r>
                            <a:rPr lang="en-IN" b="0" i="1">
                              <a:latin typeface="Cambria Math" panose="02040503050406030204" pitchFamily="18" charset="0"/>
                            </a:rPr>
                            <m:t>𝐴</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𝐵</m:t>
                          </m:r>
                        </m:e>
                      </m:d>
                      <m:r>
                        <a:rPr lang="en-IN" b="0"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cs typeface="Times New Roman" panose="02020603050405020304" pitchFamily="18" charset="0"/>
                            </a:rPr>
                            <m:t>ND</m:t>
                          </m:r>
                          <m:r>
                            <a:rPr lang="en-IN" b="0" i="0">
                              <a:latin typeface="Cambria Math" panose="02040503050406030204" pitchFamily="18" charset="0"/>
                            </a:rPr>
                            <m:t>∣</m:t>
                          </m:r>
                          <m:r>
                            <a:rPr lang="en-IN" b="0" i="1">
                              <a:latin typeface="Cambria Math" panose="02040503050406030204" pitchFamily="18" charset="0"/>
                            </a:rPr>
                            <m:t>𝐵</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𝐶</m:t>
                          </m:r>
                        </m:e>
                      </m:d>
                      <m:r>
                        <a:rPr lang="en-IN" b="0"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cs typeface="Times New Roman" panose="02020603050405020304" pitchFamily="18" charset="0"/>
                            </a:rPr>
                            <m:t>ND</m:t>
                          </m:r>
                          <m:r>
                            <a:rPr lang="en-IN" b="0" i="0">
                              <a:latin typeface="Cambria Math" panose="02040503050406030204" pitchFamily="18" charset="0"/>
                            </a:rPr>
                            <m:t>∣</m:t>
                          </m:r>
                          <m:r>
                            <a:rPr lang="en-IN" b="0" i="1">
                              <a:latin typeface="Cambria Math" panose="02040503050406030204" pitchFamily="18" charset="0"/>
                            </a:rPr>
                            <m:t>𝐶</m:t>
                          </m:r>
                        </m:e>
                      </m:d>
                    </m:oMath>
                  </m:oMathPara>
                </a14:m>
                <a:endParaRPr lang="en-IN" b="0" dirty="0">
                  <a:cs typeface="Times New Roman" panose="02020603050405020304" pitchFamily="18" charset="0"/>
                </a:endParaRPr>
              </a:p>
              <a:p>
                <a:pPr>
                  <a:buNone/>
                </a:pPr>
                <a:r>
                  <a:rPr lang="en-IN" dirty="0">
                    <a:cs typeface="Times New Roman" panose="02020603050405020304" pitchFamily="18" charset="0"/>
                  </a:rPr>
                  <a:t>Substituting the given values,</a:t>
                </a: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50</m:t>
                          </m:r>
                        </m:e>
                      </m:d>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97</m:t>
                          </m:r>
                        </m:e>
                      </m:d>
                      <m:r>
                        <a:rPr lang="en-IN" i="0">
                          <a:latin typeface="Cambria Math" panose="02040503050406030204" pitchFamily="18" charset="0"/>
                        </a:rPr>
                        <m:t>+</m:t>
                      </m:r>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30</m:t>
                          </m:r>
                        </m:e>
                      </m:d>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95</m:t>
                          </m:r>
                        </m:e>
                      </m:d>
                      <m:r>
                        <a:rPr lang="en-IN" i="0">
                          <a:latin typeface="Cambria Math" panose="02040503050406030204" pitchFamily="18" charset="0"/>
                        </a:rPr>
                        <m:t>+</m:t>
                      </m:r>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20</m:t>
                          </m:r>
                        </m:e>
                      </m:d>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98</m:t>
                          </m:r>
                        </m:e>
                      </m:d>
                    </m:oMath>
                  </m:oMathPara>
                </a14:m>
                <a:endParaRPr lang="en-IN" dirty="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485</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285</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196</m:t>
                      </m:r>
                    </m:oMath>
                  </m:oMathPara>
                </a14:m>
                <a:endParaRPr lang="en-IN" dirty="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966</m:t>
                      </m:r>
                    </m:oMath>
                  </m:oMathPara>
                </a14:m>
                <a:endParaRPr lang="en-IN" dirty="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19A8AC70-2EB4-229A-6807-0B9665761B67}"/>
                  </a:ext>
                </a:extLst>
              </p:cNvPr>
              <p:cNvSpPr txBox="1">
                <a:spLocks noRot="1" noChangeAspect="1" noMove="1" noResize="1" noEditPoints="1" noAdjustHandles="1" noChangeArrowheads="1" noChangeShapeType="1" noTextEdit="1"/>
              </p:cNvSpPr>
              <p:nvPr/>
            </p:nvSpPr>
            <p:spPr>
              <a:xfrm>
                <a:off x="542925" y="269051"/>
                <a:ext cx="5353050" cy="3403624"/>
              </a:xfrm>
              <a:prstGeom prst="rect">
                <a:avLst/>
              </a:prstGeom>
              <a:blipFill>
                <a:blip r:embed="rId2"/>
                <a:stretch>
                  <a:fillRect l="-911" t="-89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A004528-7286-FD2A-1DB9-2D012C8AD935}"/>
                  </a:ext>
                </a:extLst>
              </p:cNvPr>
              <p:cNvSpPr txBox="1"/>
              <p:nvPr/>
            </p:nvSpPr>
            <p:spPr>
              <a:xfrm>
                <a:off x="381000" y="3532759"/>
                <a:ext cx="5715000" cy="2668016"/>
              </a:xfrm>
              <a:prstGeom prst="rect">
                <a:avLst/>
              </a:prstGeom>
              <a:noFill/>
            </p:spPr>
            <p:txBody>
              <a:bodyPr wrap="square">
                <a:spAutoFit/>
              </a:bodyPr>
              <a:lstStyle/>
              <a:p>
                <a:pPr>
                  <a:buNone/>
                </a:pPr>
                <a:r>
                  <a:rPr lang="en-IN" b="1" dirty="0">
                    <a:cs typeface="Times New Roman" panose="02020603050405020304" pitchFamily="18" charset="0"/>
                  </a:rPr>
                  <a:t>Probability that the defective item was produced by Machine B or Machine C</a:t>
                </a:r>
              </a:p>
              <a:p>
                <a:pPr>
                  <a:buNone/>
                </a:pPr>
                <a:r>
                  <a:rPr lang="en-IN" dirty="0">
                    <a:cs typeface="Times New Roman" panose="02020603050405020304" pitchFamily="18" charset="0"/>
                  </a:rPr>
                  <a:t>Using Bayes' theorem,</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𝐵</m:t>
                          </m:r>
                          <m:r>
                            <a:rPr lang="en-IN" i="0">
                              <a:latin typeface="Cambria Math" panose="02040503050406030204" pitchFamily="18" charset="0"/>
                            </a:rPr>
                            <m:t>∪</m:t>
                          </m:r>
                          <m:r>
                            <a:rPr lang="en-IN" i="1">
                              <a:latin typeface="Cambria Math" panose="02040503050406030204" pitchFamily="18" charset="0"/>
                            </a:rPr>
                            <m:t>𝐶</m:t>
                          </m:r>
                          <m:r>
                            <a:rPr lang="en-IN" i="0">
                              <a:latin typeface="Cambria Math" panose="02040503050406030204" pitchFamily="18" charset="0"/>
                            </a:rPr>
                            <m:t>∣</m:t>
                          </m:r>
                          <m:r>
                            <a:rPr lang="en-IN" i="1">
                              <a:latin typeface="Cambria Math" panose="02040503050406030204" pitchFamily="18" charset="0"/>
                            </a:rPr>
                            <m:t>𝐷</m:t>
                          </m:r>
                        </m:e>
                      </m:d>
                      <m:r>
                        <a:rPr lang="en-IN" i="0">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𝐵</m:t>
                          </m:r>
                          <m:r>
                            <a:rPr lang="en-IN" i="0">
                              <a:latin typeface="Cambria Math" panose="02040503050406030204" pitchFamily="18" charset="0"/>
                            </a:rPr>
                            <m:t>∣</m:t>
                          </m:r>
                          <m:r>
                            <a:rPr lang="en-IN" i="1">
                              <a:latin typeface="Cambria Math" panose="02040503050406030204" pitchFamily="18" charset="0"/>
                            </a:rPr>
                            <m:t>𝐷</m:t>
                          </m:r>
                        </m:e>
                      </m:d>
                      <m:r>
                        <a:rPr lang="en-IN" i="0">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𝐶</m:t>
                          </m:r>
                          <m:r>
                            <a:rPr lang="en-IN" i="0">
                              <a:latin typeface="Cambria Math" panose="02040503050406030204" pitchFamily="18" charset="0"/>
                            </a:rPr>
                            <m:t>∣</m:t>
                          </m:r>
                          <m:r>
                            <a:rPr lang="en-IN" i="1">
                              <a:latin typeface="Cambria Math" panose="02040503050406030204" pitchFamily="18" charset="0"/>
                            </a:rPr>
                            <m:t>𝐷</m:t>
                          </m:r>
                        </m:e>
                      </m:d>
                    </m:oMath>
                  </m:oMathPara>
                </a14:m>
                <a:endParaRPr lang="en-IN" dirty="0">
                  <a:cs typeface="Times New Roman" panose="02020603050405020304" pitchFamily="18" charset="0"/>
                </a:endParaRPr>
              </a:p>
              <a:p>
                <a:pPr>
                  <a:buNone/>
                </a:pPr>
                <a:r>
                  <a:rPr lang="en-IN" dirty="0">
                    <a:cs typeface="Times New Roman" panose="02020603050405020304" pitchFamily="18" charset="0"/>
                  </a:rPr>
                  <a:t>since Machines </a:t>
                </a:r>
                <a14:m>
                  <m:oMath xmlns:m="http://schemas.openxmlformats.org/officeDocument/2006/math">
                    <m:r>
                      <a:rPr lang="en-IN" i="1">
                        <a:latin typeface="Cambria Math" panose="02040503050406030204" pitchFamily="18" charset="0"/>
                      </a:rPr>
                      <m:t>𝐵</m:t>
                    </m:r>
                  </m:oMath>
                </a14:m>
                <a:r>
                  <a:rPr lang="en-IN" dirty="0">
                    <a:cs typeface="Times New Roman" panose="02020603050405020304" pitchFamily="18" charset="0"/>
                  </a:rPr>
                  <a:t>and </a:t>
                </a:r>
                <a14:m>
                  <m:oMath xmlns:m="http://schemas.openxmlformats.org/officeDocument/2006/math">
                    <m:r>
                      <a:rPr lang="en-IN" i="1">
                        <a:latin typeface="Cambria Math" panose="02040503050406030204" pitchFamily="18" charset="0"/>
                      </a:rPr>
                      <m:t>𝐶</m:t>
                    </m:r>
                  </m:oMath>
                </a14:m>
                <a:r>
                  <a:rPr lang="en-IN" dirty="0">
                    <a:cs typeface="Times New Roman" panose="02020603050405020304" pitchFamily="18" charset="0"/>
                  </a:rPr>
                  <a:t>are mutually exclusive.</a:t>
                </a:r>
              </a:p>
              <a:p>
                <a:pPr>
                  <a:buNone/>
                </a:pPr>
                <a:r>
                  <a:rPr lang="en-IN" dirty="0">
                    <a:cs typeface="Times New Roman" panose="02020603050405020304" pitchFamily="18" charset="0"/>
                  </a:rPr>
                  <a:t>First,</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𝐷</m:t>
                          </m:r>
                        </m:e>
                      </m:d>
                      <m:r>
                        <a:rPr lang="en-IN" i="0">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𝐴</m:t>
                          </m:r>
                        </m:e>
                      </m:d>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𝐷</m:t>
                          </m:r>
                          <m:r>
                            <a:rPr lang="en-IN" i="0">
                              <a:latin typeface="Cambria Math" panose="02040503050406030204" pitchFamily="18" charset="0"/>
                            </a:rPr>
                            <m:t>∣</m:t>
                          </m:r>
                          <m:r>
                            <a:rPr lang="en-IN" i="1">
                              <a:latin typeface="Cambria Math" panose="02040503050406030204" pitchFamily="18" charset="0"/>
                            </a:rPr>
                            <m:t>𝐴</m:t>
                          </m:r>
                        </m:e>
                      </m:d>
                      <m:r>
                        <a:rPr lang="en-IN" i="0">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𝐵</m:t>
                          </m:r>
                        </m:e>
                      </m:d>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𝐷</m:t>
                          </m:r>
                          <m:r>
                            <a:rPr lang="en-IN" i="0">
                              <a:latin typeface="Cambria Math" panose="02040503050406030204" pitchFamily="18" charset="0"/>
                            </a:rPr>
                            <m:t>∣</m:t>
                          </m:r>
                          <m:r>
                            <a:rPr lang="en-IN" i="1">
                              <a:latin typeface="Cambria Math" panose="02040503050406030204" pitchFamily="18" charset="0"/>
                            </a:rPr>
                            <m:t>𝐵</m:t>
                          </m:r>
                        </m:e>
                      </m:d>
                      <m:r>
                        <a:rPr lang="en-IN" i="0">
                          <a:latin typeface="Cambria Math" panose="02040503050406030204" pitchFamily="18" charset="0"/>
                        </a:rPr>
                        <m:t>+</m:t>
                      </m:r>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𝐶</m:t>
                          </m:r>
                        </m:e>
                      </m:d>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𝐷</m:t>
                          </m:r>
                          <m:r>
                            <a:rPr lang="en-IN" i="0">
                              <a:latin typeface="Cambria Math" panose="02040503050406030204" pitchFamily="18" charset="0"/>
                            </a:rPr>
                            <m:t>∣</m:t>
                          </m:r>
                          <m:r>
                            <a:rPr lang="en-IN" i="1">
                              <a:latin typeface="Cambria Math" panose="02040503050406030204" pitchFamily="18" charset="0"/>
                            </a:rPr>
                            <m:t>𝐶</m:t>
                          </m:r>
                        </m:e>
                      </m:d>
                    </m:oMath>
                  </m:oMathPara>
                </a14:m>
                <a:endParaRPr lang="en-IN" dirty="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50</m:t>
                          </m:r>
                        </m:e>
                      </m:d>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03</m:t>
                          </m:r>
                        </m:e>
                      </m:d>
                      <m:r>
                        <a:rPr lang="en-IN" i="0">
                          <a:latin typeface="Cambria Math" panose="02040503050406030204" pitchFamily="18" charset="0"/>
                        </a:rPr>
                        <m:t>+</m:t>
                      </m:r>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30</m:t>
                          </m:r>
                        </m:e>
                      </m:d>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05</m:t>
                          </m:r>
                        </m:e>
                      </m:d>
                      <m:r>
                        <a:rPr lang="en-IN" i="0">
                          <a:latin typeface="Cambria Math" panose="02040503050406030204" pitchFamily="18" charset="0"/>
                        </a:rPr>
                        <m:t>+</m:t>
                      </m:r>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20</m:t>
                          </m:r>
                        </m:e>
                      </m:d>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02</m:t>
                          </m:r>
                        </m:e>
                      </m:d>
                    </m:oMath>
                  </m:oMathPara>
                </a14:m>
                <a:endParaRPr lang="en-IN" dirty="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015</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015</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004</m:t>
                      </m:r>
                      <m:r>
                        <a:rPr lang="en-IN" i="0">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034</m:t>
                      </m:r>
                    </m:oMath>
                  </m:oMathPara>
                </a14:m>
                <a:endParaRPr lang="en-IN" dirty="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DA004528-7286-FD2A-1DB9-2D012C8AD935}"/>
                  </a:ext>
                </a:extLst>
              </p:cNvPr>
              <p:cNvSpPr txBox="1">
                <a:spLocks noRot="1" noChangeAspect="1" noMove="1" noResize="1" noEditPoints="1" noAdjustHandles="1" noChangeArrowheads="1" noChangeShapeType="1" noTextEdit="1"/>
              </p:cNvSpPr>
              <p:nvPr/>
            </p:nvSpPr>
            <p:spPr>
              <a:xfrm>
                <a:off x="381000" y="3532759"/>
                <a:ext cx="5715000" cy="2668016"/>
              </a:xfrm>
              <a:prstGeom prst="rect">
                <a:avLst/>
              </a:prstGeom>
              <a:blipFill>
                <a:blip r:embed="rId3"/>
                <a:stretch>
                  <a:fillRect l="-961" t="-137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704A11A-7250-5E21-B938-903BD57DCC82}"/>
                  </a:ext>
                </a:extLst>
              </p:cNvPr>
              <p:cNvSpPr txBox="1"/>
              <p:nvPr/>
            </p:nvSpPr>
            <p:spPr>
              <a:xfrm>
                <a:off x="6781800" y="366770"/>
                <a:ext cx="5029200" cy="3428887"/>
              </a:xfrm>
              <a:prstGeom prst="rect">
                <a:avLst/>
              </a:prstGeom>
              <a:noFill/>
            </p:spPr>
            <p:txBody>
              <a:bodyPr wrap="square">
                <a:spAutoFit/>
              </a:bodyPr>
              <a:lstStyle/>
              <a:p>
                <a:pPr>
                  <a:buNone/>
                </a:pPr>
                <a:r>
                  <a:rPr lang="en-IN" sz="1800" dirty="0">
                    <a:cs typeface="Times New Roman" panose="02020603050405020304" pitchFamily="18" charset="0"/>
                  </a:rPr>
                  <a:t>Now,</a:t>
                </a:r>
              </a:p>
              <a:p>
                <a:pPr>
                  <a:buNone/>
                </a:pPr>
                <a14:m>
                  <m:oMathPara xmlns:m="http://schemas.openxmlformats.org/officeDocument/2006/math">
                    <m:oMathParaPr>
                      <m:jc m:val="centerGroup"/>
                    </m:oMathParaPr>
                    <m:oMath xmlns:m="http://schemas.openxmlformats.org/officeDocument/2006/math">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𝐵</m:t>
                          </m:r>
                          <m:r>
                            <a:rPr lang="en-IN" sz="1800" i="0">
                              <a:latin typeface="Cambria Math" panose="02040503050406030204" pitchFamily="18" charset="0"/>
                            </a:rPr>
                            <m:t>∣</m:t>
                          </m:r>
                          <m:r>
                            <a:rPr lang="en-IN" sz="1800" i="1">
                              <a:latin typeface="Cambria Math" panose="02040503050406030204" pitchFamily="18" charset="0"/>
                            </a:rPr>
                            <m:t>𝐷</m:t>
                          </m:r>
                        </m:e>
                      </m:d>
                      <m:r>
                        <a:rPr lang="en-IN" sz="1800" i="0">
                          <a:latin typeface="Cambria Math" panose="02040503050406030204" pitchFamily="18" charset="0"/>
                        </a:rPr>
                        <m:t>=</m:t>
                      </m:r>
                      <m:f>
                        <m:fPr>
                          <m:ctrlPr>
                            <a:rPr lang="en-IN" sz="1800" i="1">
                              <a:latin typeface="Cambria Math" panose="02040503050406030204" pitchFamily="18" charset="0"/>
                            </a:rPr>
                          </m:ctrlPr>
                        </m:fPr>
                        <m:num>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𝐵</m:t>
                              </m:r>
                              <m:r>
                                <a:rPr lang="en-IN" sz="1800" i="0">
                                  <a:latin typeface="Cambria Math" panose="02040503050406030204" pitchFamily="18" charset="0"/>
                                </a:rPr>
                                <m:t>∩</m:t>
                              </m:r>
                              <m:r>
                                <a:rPr lang="en-IN" sz="1800" i="1">
                                  <a:latin typeface="Cambria Math" panose="02040503050406030204" pitchFamily="18" charset="0"/>
                                </a:rPr>
                                <m:t>𝐷</m:t>
                              </m:r>
                            </m:e>
                          </m:d>
                        </m:num>
                        <m:den>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𝐷</m:t>
                              </m:r>
                            </m:e>
                          </m:d>
                        </m:den>
                      </m:f>
                      <m:r>
                        <a:rPr lang="en-IN" sz="1800" i="0">
                          <a:latin typeface="Cambria Math" panose="02040503050406030204" pitchFamily="18" charset="0"/>
                        </a:rPr>
                        <m:t>=</m:t>
                      </m:r>
                      <m:f>
                        <m:fPr>
                          <m:ctrlPr>
                            <a:rPr lang="en-IN" sz="1800" i="1">
                              <a:latin typeface="Cambria Math" panose="02040503050406030204" pitchFamily="18" charset="0"/>
                            </a:rPr>
                          </m:ctrlPr>
                        </m:fPr>
                        <m:num>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𝐵</m:t>
                              </m:r>
                            </m:e>
                          </m:d>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𝐷</m:t>
                              </m:r>
                              <m:r>
                                <a:rPr lang="en-IN" sz="1800" i="0">
                                  <a:latin typeface="Cambria Math" panose="02040503050406030204" pitchFamily="18" charset="0"/>
                                </a:rPr>
                                <m:t>∣</m:t>
                              </m:r>
                              <m:r>
                                <a:rPr lang="en-IN" sz="1800" i="1">
                                  <a:latin typeface="Cambria Math" panose="02040503050406030204" pitchFamily="18" charset="0"/>
                                </a:rPr>
                                <m:t>𝐵</m:t>
                              </m:r>
                            </m:e>
                          </m:d>
                        </m:num>
                        <m:den>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𝐷</m:t>
                              </m:r>
                            </m:e>
                          </m:d>
                        </m:den>
                      </m:f>
                    </m:oMath>
                  </m:oMathPara>
                </a14:m>
                <a:endParaRPr lang="en-IN" sz="1800" dirty="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sz="1800">
                          <a:latin typeface="Cambria Math" panose="02040503050406030204" pitchFamily="18" charset="0"/>
                        </a:rPr>
                        <m:t>=</m:t>
                      </m:r>
                      <m:f>
                        <m:fPr>
                          <m:ctrlPr>
                            <a:rPr lang="en-IN" sz="1800" i="1">
                              <a:latin typeface="Cambria Math" panose="02040503050406030204" pitchFamily="18" charset="0"/>
                            </a:rPr>
                          </m:ctrlPr>
                        </m:fPr>
                        <m:num>
                          <m:d>
                            <m:dPr>
                              <m:ctrlPr>
                                <a:rPr lang="en-IN" sz="1800" i="1">
                                  <a:latin typeface="Cambria Math" panose="02040503050406030204" pitchFamily="18" charset="0"/>
                                </a:rPr>
                              </m:ctrlPr>
                            </m:dPr>
                            <m:e>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30</m:t>
                              </m:r>
                            </m:e>
                          </m:d>
                          <m:d>
                            <m:dPr>
                              <m:ctrlPr>
                                <a:rPr lang="en-IN" sz="1800" i="1">
                                  <a:latin typeface="Cambria Math" panose="02040503050406030204" pitchFamily="18" charset="0"/>
                                </a:rPr>
                              </m:ctrlPr>
                            </m:dPr>
                            <m:e>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05</m:t>
                              </m:r>
                            </m:e>
                          </m:d>
                        </m:num>
                        <m:den>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034</m:t>
                          </m:r>
                        </m:den>
                      </m:f>
                      <m:r>
                        <a:rPr lang="en-IN" sz="1800" i="0">
                          <a:latin typeface="Cambria Math" panose="02040503050406030204" pitchFamily="18" charset="0"/>
                        </a:rPr>
                        <m:t>=</m:t>
                      </m:r>
                      <m:f>
                        <m:fPr>
                          <m:ctrlPr>
                            <a:rPr lang="en-IN" sz="1800" i="1">
                              <a:latin typeface="Cambria Math" panose="02040503050406030204" pitchFamily="18" charset="0"/>
                            </a:rPr>
                          </m:ctrlPr>
                        </m:fPr>
                        <m:num>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015</m:t>
                          </m:r>
                        </m:num>
                        <m:den>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034</m:t>
                          </m:r>
                        </m:den>
                      </m:f>
                      <m:r>
                        <a:rPr lang="en-IN" sz="1800" i="0">
                          <a:latin typeface="Cambria Math" panose="02040503050406030204" pitchFamily="18" charset="0"/>
                        </a:rPr>
                        <m:t>≈</m:t>
                      </m:r>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4412</m:t>
                      </m:r>
                    </m:oMath>
                  </m:oMathPara>
                </a14:m>
                <a:endParaRPr lang="en-IN" sz="1800" dirty="0">
                  <a:cs typeface="Times New Roman" panose="02020603050405020304" pitchFamily="18" charset="0"/>
                </a:endParaRPr>
              </a:p>
              <a:p>
                <a:pPr>
                  <a:buNone/>
                </a:pPr>
                <a:r>
                  <a:rPr lang="en-IN" sz="1800" dirty="0">
                    <a:cs typeface="Times New Roman" panose="02020603050405020304" pitchFamily="18" charset="0"/>
                  </a:rPr>
                  <a:t>Similarly,</a:t>
                </a:r>
              </a:p>
              <a:p>
                <a:pPr>
                  <a:buNone/>
                </a:pPr>
                <a14:m>
                  <m:oMathPara xmlns:m="http://schemas.openxmlformats.org/officeDocument/2006/math">
                    <m:oMathParaPr>
                      <m:jc m:val="centerGroup"/>
                    </m:oMathParaPr>
                    <m:oMath xmlns:m="http://schemas.openxmlformats.org/officeDocument/2006/math">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𝐶</m:t>
                          </m:r>
                          <m:r>
                            <a:rPr lang="en-IN" sz="1800" i="0">
                              <a:latin typeface="Cambria Math" panose="02040503050406030204" pitchFamily="18" charset="0"/>
                            </a:rPr>
                            <m:t>∣</m:t>
                          </m:r>
                          <m:r>
                            <a:rPr lang="en-IN" sz="1800" i="1">
                              <a:latin typeface="Cambria Math" panose="02040503050406030204" pitchFamily="18" charset="0"/>
                            </a:rPr>
                            <m:t>𝐷</m:t>
                          </m:r>
                        </m:e>
                      </m:d>
                      <m:r>
                        <a:rPr lang="en-IN" sz="1800" i="0">
                          <a:latin typeface="Cambria Math" panose="02040503050406030204" pitchFamily="18" charset="0"/>
                        </a:rPr>
                        <m:t>=</m:t>
                      </m:r>
                      <m:f>
                        <m:fPr>
                          <m:ctrlPr>
                            <a:rPr lang="en-IN" sz="1800" i="1">
                              <a:latin typeface="Cambria Math" panose="02040503050406030204" pitchFamily="18" charset="0"/>
                            </a:rPr>
                          </m:ctrlPr>
                        </m:fPr>
                        <m:num>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𝐶</m:t>
                              </m:r>
                            </m:e>
                          </m:d>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𝐷</m:t>
                              </m:r>
                              <m:r>
                                <a:rPr lang="en-IN" sz="1800" i="0">
                                  <a:latin typeface="Cambria Math" panose="02040503050406030204" pitchFamily="18" charset="0"/>
                                </a:rPr>
                                <m:t>∣</m:t>
                              </m:r>
                              <m:r>
                                <a:rPr lang="en-IN" sz="1800" i="1">
                                  <a:latin typeface="Cambria Math" panose="02040503050406030204" pitchFamily="18" charset="0"/>
                                </a:rPr>
                                <m:t>𝐶</m:t>
                              </m:r>
                            </m:e>
                          </m:d>
                        </m:num>
                        <m:den>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𝐷</m:t>
                              </m:r>
                            </m:e>
                          </m:d>
                        </m:den>
                      </m:f>
                    </m:oMath>
                  </m:oMathPara>
                </a14:m>
                <a:endParaRPr lang="en-IN" sz="1800" dirty="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sz="1800">
                          <a:latin typeface="Cambria Math" panose="02040503050406030204" pitchFamily="18" charset="0"/>
                        </a:rPr>
                        <m:t>=</m:t>
                      </m:r>
                      <m:f>
                        <m:fPr>
                          <m:ctrlPr>
                            <a:rPr lang="en-IN" sz="1800" i="1">
                              <a:latin typeface="Cambria Math" panose="02040503050406030204" pitchFamily="18" charset="0"/>
                            </a:rPr>
                          </m:ctrlPr>
                        </m:fPr>
                        <m:num>
                          <m:d>
                            <m:dPr>
                              <m:ctrlPr>
                                <a:rPr lang="en-IN" sz="1800" i="1">
                                  <a:latin typeface="Cambria Math" panose="02040503050406030204" pitchFamily="18" charset="0"/>
                                </a:rPr>
                              </m:ctrlPr>
                            </m:dPr>
                            <m:e>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20</m:t>
                              </m:r>
                            </m:e>
                          </m:d>
                          <m:d>
                            <m:dPr>
                              <m:ctrlPr>
                                <a:rPr lang="en-IN" sz="1800" i="1">
                                  <a:latin typeface="Cambria Math" panose="02040503050406030204" pitchFamily="18" charset="0"/>
                                </a:rPr>
                              </m:ctrlPr>
                            </m:dPr>
                            <m:e>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02</m:t>
                              </m:r>
                            </m:e>
                          </m:d>
                        </m:num>
                        <m:den>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034</m:t>
                          </m:r>
                        </m:den>
                      </m:f>
                      <m:r>
                        <a:rPr lang="en-IN" sz="1800" i="0">
                          <a:latin typeface="Cambria Math" panose="02040503050406030204" pitchFamily="18" charset="0"/>
                        </a:rPr>
                        <m:t>=</m:t>
                      </m:r>
                      <m:f>
                        <m:fPr>
                          <m:ctrlPr>
                            <a:rPr lang="en-IN" sz="1800" i="1">
                              <a:latin typeface="Cambria Math" panose="02040503050406030204" pitchFamily="18" charset="0"/>
                            </a:rPr>
                          </m:ctrlPr>
                        </m:fPr>
                        <m:num>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004</m:t>
                          </m:r>
                        </m:num>
                        <m:den>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034</m:t>
                          </m:r>
                        </m:den>
                      </m:f>
                      <m:r>
                        <a:rPr lang="en-IN" sz="1800" b="0" i="0" smtClean="0">
                          <a:latin typeface="Cambria Math" panose="02040503050406030204" pitchFamily="18" charset="0"/>
                        </a:rPr>
                        <m:t>=</m:t>
                      </m:r>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1176</m:t>
                      </m:r>
                    </m:oMath>
                  </m:oMathPara>
                </a14:m>
                <a:endParaRPr lang="en-IN" sz="1800" dirty="0">
                  <a:cs typeface="Times New Roman" panose="02020603050405020304" pitchFamily="18" charset="0"/>
                </a:endParaRPr>
              </a:p>
              <a:p>
                <a:pPr>
                  <a:buNone/>
                </a:pPr>
                <a:r>
                  <a:rPr lang="en-IN" sz="1800" dirty="0">
                    <a:cs typeface="Times New Roman" panose="02020603050405020304" pitchFamily="18" charset="0"/>
                  </a:rPr>
                  <a:t>Therefore,</a:t>
                </a:r>
              </a:p>
              <a:p>
                <a:pPr>
                  <a:buNone/>
                </a:pPr>
                <a14:m>
                  <m:oMathPara xmlns:m="http://schemas.openxmlformats.org/officeDocument/2006/math">
                    <m:oMathParaPr>
                      <m:jc m:val="centerGroup"/>
                    </m:oMathParaPr>
                    <m:oMath xmlns:m="http://schemas.openxmlformats.org/officeDocument/2006/math">
                      <m:r>
                        <a:rPr lang="en-IN" sz="1800" i="1">
                          <a:latin typeface="Cambria Math" panose="02040503050406030204" pitchFamily="18" charset="0"/>
                        </a:rPr>
                        <m:t>𝑃</m:t>
                      </m:r>
                      <m:d>
                        <m:dPr>
                          <m:ctrlPr>
                            <a:rPr lang="en-IN" sz="1800" i="1">
                              <a:latin typeface="Cambria Math" panose="02040503050406030204" pitchFamily="18" charset="0"/>
                            </a:rPr>
                          </m:ctrlPr>
                        </m:dPr>
                        <m:e>
                          <m:r>
                            <a:rPr lang="en-IN" sz="1800" i="1">
                              <a:latin typeface="Cambria Math" panose="02040503050406030204" pitchFamily="18" charset="0"/>
                            </a:rPr>
                            <m:t>𝐵</m:t>
                          </m:r>
                          <m:r>
                            <a:rPr lang="en-IN" sz="1800" i="0">
                              <a:latin typeface="Cambria Math" panose="02040503050406030204" pitchFamily="18" charset="0"/>
                            </a:rPr>
                            <m:t>∪</m:t>
                          </m:r>
                          <m:r>
                            <a:rPr lang="en-IN" sz="1800" i="1">
                              <a:latin typeface="Cambria Math" panose="02040503050406030204" pitchFamily="18" charset="0"/>
                            </a:rPr>
                            <m:t>𝐶</m:t>
                          </m:r>
                          <m:r>
                            <a:rPr lang="en-IN" sz="1800" i="0">
                              <a:latin typeface="Cambria Math" panose="02040503050406030204" pitchFamily="18" charset="0"/>
                            </a:rPr>
                            <m:t>∣</m:t>
                          </m:r>
                          <m:r>
                            <a:rPr lang="en-IN" sz="1800" i="1">
                              <a:latin typeface="Cambria Math" panose="02040503050406030204" pitchFamily="18" charset="0"/>
                            </a:rPr>
                            <m:t>𝐷</m:t>
                          </m:r>
                        </m:e>
                      </m:d>
                      <m:r>
                        <a:rPr lang="en-IN" sz="1800" i="0">
                          <a:latin typeface="Cambria Math" panose="02040503050406030204" pitchFamily="18" charset="0"/>
                        </a:rPr>
                        <m:t>=</m:t>
                      </m:r>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4412</m:t>
                      </m:r>
                      <m:r>
                        <a:rPr lang="en-IN" sz="1800" i="0">
                          <a:latin typeface="Cambria Math" panose="02040503050406030204" pitchFamily="18" charset="0"/>
                        </a:rPr>
                        <m:t>+</m:t>
                      </m:r>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1176</m:t>
                      </m:r>
                      <m:r>
                        <a:rPr lang="en-IN" sz="1800" i="0">
                          <a:latin typeface="Cambria Math" panose="02040503050406030204" pitchFamily="18" charset="0"/>
                        </a:rPr>
                        <m:t>=</m:t>
                      </m:r>
                      <m:r>
                        <a:rPr lang="en-IN" sz="1800" i="0">
                          <a:latin typeface="Cambria Math" panose="02040503050406030204" pitchFamily="18" charset="0"/>
                        </a:rPr>
                        <m:t>0</m:t>
                      </m:r>
                      <m:r>
                        <a:rPr lang="en-IN" sz="1800" i="0">
                          <a:latin typeface="Cambria Math" panose="02040503050406030204" pitchFamily="18" charset="0"/>
                        </a:rPr>
                        <m:t>.</m:t>
                      </m:r>
                      <m:r>
                        <a:rPr lang="en-IN" sz="1800" i="0">
                          <a:latin typeface="Cambria Math" panose="02040503050406030204" pitchFamily="18" charset="0"/>
                        </a:rPr>
                        <m:t>5588</m:t>
                      </m:r>
                    </m:oMath>
                  </m:oMathPara>
                </a14:m>
                <a:endParaRPr lang="en-IN" sz="1800" dirty="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2704A11A-7250-5E21-B938-903BD57DCC82}"/>
                  </a:ext>
                </a:extLst>
              </p:cNvPr>
              <p:cNvSpPr txBox="1">
                <a:spLocks noRot="1" noChangeAspect="1" noMove="1" noResize="1" noEditPoints="1" noAdjustHandles="1" noChangeArrowheads="1" noChangeShapeType="1" noTextEdit="1"/>
              </p:cNvSpPr>
              <p:nvPr/>
            </p:nvSpPr>
            <p:spPr>
              <a:xfrm>
                <a:off x="6781800" y="366770"/>
                <a:ext cx="5029200" cy="3428887"/>
              </a:xfrm>
              <a:prstGeom prst="rect">
                <a:avLst/>
              </a:prstGeom>
              <a:blipFill>
                <a:blip r:embed="rId4"/>
                <a:stretch>
                  <a:fillRect l="-1091" t="-888"/>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2779716-79B8-A9BC-7181-E1AB17725F07}"/>
                  </a:ext>
                </a:extLst>
              </p:cNvPr>
              <p:cNvSpPr txBox="1"/>
              <p:nvPr/>
            </p:nvSpPr>
            <p:spPr>
              <a:xfrm>
                <a:off x="6853237" y="3809889"/>
                <a:ext cx="4886325" cy="2591607"/>
              </a:xfrm>
              <a:prstGeom prst="rect">
                <a:avLst/>
              </a:prstGeom>
              <a:noFill/>
            </p:spPr>
            <p:txBody>
              <a:bodyPr wrap="square">
                <a:spAutoFit/>
              </a:bodyPr>
              <a:lstStyle/>
              <a:p>
                <a:pPr>
                  <a:buNone/>
                </a:pPr>
                <a:r>
                  <a:rPr lang="en-IN" b="1" dirty="0">
                    <a:cs typeface="Times New Roman" panose="02020603050405020304" pitchFamily="18" charset="0"/>
                  </a:rPr>
                  <a:t>Probability that a non-defective item was produced by Machine A</a:t>
                </a:r>
              </a:p>
              <a:p>
                <a:pPr>
                  <a:buNone/>
                </a:pPr>
                <a:r>
                  <a:rPr lang="en-IN" dirty="0">
                    <a:cs typeface="Times New Roman" panose="02020603050405020304" pitchFamily="18" charset="0"/>
                  </a:rPr>
                  <a:t>Using Bayes' theorem,</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i="1">
                              <a:latin typeface="Cambria Math" panose="02040503050406030204" pitchFamily="18" charset="0"/>
                            </a:rPr>
                          </m:ctrlPr>
                        </m:dPr>
                        <m:e>
                          <m:r>
                            <a:rPr lang="en-IN" i="1">
                              <a:latin typeface="Cambria Math" panose="02040503050406030204" pitchFamily="18" charset="0"/>
                            </a:rPr>
                            <m:t>𝐴</m:t>
                          </m:r>
                          <m:r>
                            <a:rPr lang="en-IN" i="0">
                              <a:latin typeface="Cambria Math" panose="02040503050406030204" pitchFamily="18" charset="0"/>
                            </a:rPr>
                            <m:t>∣</m:t>
                          </m:r>
                          <m:r>
                            <m:rPr>
                              <m:nor/>
                            </m:rPr>
                            <a:rPr lang="en-IN" b="0" i="0">
                              <a:cs typeface="Times New Roman" panose="02020603050405020304" pitchFamily="18" charset="0"/>
                            </a:rPr>
                            <m:t>ND</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𝐴</m:t>
                              </m:r>
                              <m:r>
                                <a:rPr lang="en-IN" b="0" i="0">
                                  <a:latin typeface="Cambria Math" panose="02040503050406030204" pitchFamily="18" charset="0"/>
                                </a:rPr>
                                <m:t>∩</m:t>
                              </m:r>
                              <m:r>
                                <m:rPr>
                                  <m:nor/>
                                </m:rPr>
                                <a:rPr lang="en-IN" b="0" i="0">
                                  <a:cs typeface="Times New Roman" panose="02020603050405020304" pitchFamily="18" charset="0"/>
                                </a:rPr>
                                <m:t>ND</m:t>
                              </m:r>
                            </m:e>
                          </m:d>
                        </m:num>
                        <m:den>
                          <m:r>
                            <a:rPr lang="en-IN" b="0"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cs typeface="Times New Roman" panose="02020603050405020304" pitchFamily="18" charset="0"/>
                                </a:rPr>
                                <m:t>ND</m:t>
                              </m:r>
                            </m:e>
                          </m:d>
                        </m:den>
                      </m:f>
                      <m:r>
                        <a:rPr lang="en-IN" b="0" i="0">
                          <a:latin typeface="Cambria Math" panose="02040503050406030204" pitchFamily="18" charset="0"/>
                        </a:rPr>
                        <m:t>=</m:t>
                      </m:r>
                      <m:f>
                        <m:fPr>
                          <m:ctrlPr>
                            <a:rPr lang="en-IN" b="0" i="1">
                              <a:latin typeface="Cambria Math" panose="02040503050406030204" pitchFamily="18" charset="0"/>
                            </a:rPr>
                          </m:ctrlPr>
                        </m:fPr>
                        <m:num>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𝐴</m:t>
                              </m:r>
                            </m:e>
                          </m:d>
                          <m:r>
                            <a:rPr lang="en-IN" b="0"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cs typeface="Times New Roman" panose="02020603050405020304" pitchFamily="18" charset="0"/>
                                </a:rPr>
                                <m:t>ND</m:t>
                              </m:r>
                              <m:r>
                                <a:rPr lang="en-IN" b="0" i="0">
                                  <a:latin typeface="Cambria Math" panose="02040503050406030204" pitchFamily="18" charset="0"/>
                                </a:rPr>
                                <m:t>∣</m:t>
                              </m:r>
                              <m:r>
                                <a:rPr lang="en-IN" b="0" i="1">
                                  <a:latin typeface="Cambria Math" panose="02040503050406030204" pitchFamily="18" charset="0"/>
                                </a:rPr>
                                <m:t>𝐴</m:t>
                              </m:r>
                            </m:e>
                          </m:d>
                        </m:num>
                        <m:den>
                          <m:r>
                            <a:rPr lang="en-IN" b="0"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cs typeface="Times New Roman" panose="02020603050405020304" pitchFamily="18" charset="0"/>
                                </a:rPr>
                                <m:t>ND</m:t>
                              </m:r>
                            </m:e>
                          </m:d>
                        </m:den>
                      </m:f>
                    </m:oMath>
                  </m:oMathPara>
                </a14:m>
                <a:endParaRPr lang="en-IN" b="0" dirty="0">
                  <a:cs typeface="Times New Roman" panose="02020603050405020304" pitchFamily="18" charset="0"/>
                </a:endParaRPr>
              </a:p>
              <a:p>
                <a:pPr>
                  <a:buNone/>
                </a:pPr>
                <a:r>
                  <a:rPr lang="en-IN" dirty="0">
                    <a:cs typeface="Times New Roman" panose="02020603050405020304" pitchFamily="18" charset="0"/>
                  </a:rPr>
                  <a:t>Substituting the values,</a:t>
                </a: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f>
                        <m:fPr>
                          <m:ctrlPr>
                            <a:rPr lang="en-IN" i="1">
                              <a:latin typeface="Cambria Math" panose="02040503050406030204" pitchFamily="18" charset="0"/>
                            </a:rPr>
                          </m:ctrlPr>
                        </m:fPr>
                        <m:num>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50</m:t>
                              </m:r>
                            </m:e>
                          </m:d>
                          <m:d>
                            <m:dPr>
                              <m:ctrlPr>
                                <a:rPr lang="en-IN" i="1">
                                  <a:latin typeface="Cambria Math" panose="02040503050406030204" pitchFamily="18" charset="0"/>
                                </a:rPr>
                              </m:ctrlPr>
                            </m:dPr>
                            <m:e>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97</m:t>
                              </m:r>
                            </m:e>
                          </m:d>
                        </m:num>
                        <m:den>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966</m:t>
                          </m:r>
                        </m:den>
                      </m:f>
                      <m:r>
                        <a:rPr lang="en-IN"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485</m:t>
                          </m:r>
                        </m:num>
                        <m:den>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966</m:t>
                          </m:r>
                        </m:den>
                      </m:f>
                    </m:oMath>
                  </m:oMathPara>
                </a14:m>
                <a:endParaRPr lang="en-IN" dirty="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502</m:t>
                      </m:r>
                    </m:oMath>
                  </m:oMathPara>
                </a14:m>
                <a:endParaRPr lang="en-IN" dirty="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52779716-79B8-A9BC-7181-E1AB17725F07}"/>
                  </a:ext>
                </a:extLst>
              </p:cNvPr>
              <p:cNvSpPr txBox="1">
                <a:spLocks noRot="1" noChangeAspect="1" noMove="1" noResize="1" noEditPoints="1" noAdjustHandles="1" noChangeArrowheads="1" noChangeShapeType="1" noTextEdit="1"/>
              </p:cNvSpPr>
              <p:nvPr/>
            </p:nvSpPr>
            <p:spPr>
              <a:xfrm>
                <a:off x="6853237" y="3809889"/>
                <a:ext cx="4886325" cy="2591607"/>
              </a:xfrm>
              <a:prstGeom prst="rect">
                <a:avLst/>
              </a:prstGeom>
              <a:blipFill>
                <a:blip r:embed="rId5"/>
                <a:stretch>
                  <a:fillRect l="-998" t="-1412"/>
                </a:stretch>
              </a:blipFill>
            </p:spPr>
            <p:txBody>
              <a:bodyPr/>
              <a:lstStyle/>
              <a:p>
                <a:r>
                  <a:rPr lang="en-IN">
                    <a:noFill/>
                  </a:rPr>
                  <a:t> </a:t>
                </a:r>
              </a:p>
            </p:txBody>
          </p:sp>
        </mc:Fallback>
      </mc:AlternateContent>
      <p:sp>
        <p:nvSpPr>
          <p:cNvPr id="5" name="Footer Placeholder 4">
            <a:extLst>
              <a:ext uri="{FF2B5EF4-FFF2-40B4-BE49-F238E27FC236}">
                <a16:creationId xmlns:a16="http://schemas.microsoft.com/office/drawing/2014/main" id="{049C3F13-821F-097F-B9A6-BBDC3B51833A}"/>
              </a:ext>
            </a:extLst>
          </p:cNvPr>
          <p:cNvSpPr>
            <a:spLocks noGrp="1"/>
          </p:cNvSpPr>
          <p:nvPr>
            <p:ph type="ftr" sz="quarter" idx="11"/>
          </p:nvPr>
        </p:nvSpPr>
        <p:spPr/>
        <p:txBody>
          <a:bodyPr/>
          <a:lstStyle/>
          <a:p>
            <a:r>
              <a:rPr lang="en-IN"/>
              <a:t>W-2</a:t>
            </a:r>
          </a:p>
        </p:txBody>
      </p:sp>
      <p:sp>
        <p:nvSpPr>
          <p:cNvPr id="9" name="Slide Number Placeholder 8">
            <a:extLst>
              <a:ext uri="{FF2B5EF4-FFF2-40B4-BE49-F238E27FC236}">
                <a16:creationId xmlns:a16="http://schemas.microsoft.com/office/drawing/2014/main" id="{1E8D3208-74C4-F8B2-D853-107A79A5FD2C}"/>
              </a:ext>
            </a:extLst>
          </p:cNvPr>
          <p:cNvSpPr>
            <a:spLocks noGrp="1"/>
          </p:cNvSpPr>
          <p:nvPr>
            <p:ph type="sldNum" sz="quarter" idx="12"/>
          </p:nvPr>
        </p:nvSpPr>
        <p:spPr/>
        <p:txBody>
          <a:bodyPr/>
          <a:lstStyle/>
          <a:p>
            <a:pPr>
              <a:defRPr/>
            </a:pPr>
            <a:fld id="{799C83C6-4F87-48B4-8CF0-6A2F9115491D}" type="slidenum">
              <a:rPr lang="en-IN" smtClean="0"/>
              <a:pPr>
                <a:defRPr/>
              </a:pPr>
              <a:t>11</a:t>
            </a:fld>
            <a:endParaRPr lang="en-IN"/>
          </a:p>
        </p:txBody>
      </p:sp>
    </p:spTree>
    <p:extLst>
      <p:ext uri="{BB962C8B-B14F-4D97-AF65-F5344CB8AC3E}">
        <p14:creationId xmlns:p14="http://schemas.microsoft.com/office/powerpoint/2010/main" val="361143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0FE0-A4C1-00CD-3CD1-CE9296A61255}"/>
              </a:ext>
            </a:extLst>
          </p:cNvPr>
          <p:cNvSpPr>
            <a:spLocks noGrp="1"/>
          </p:cNvSpPr>
          <p:nvPr>
            <p:ph type="title" idx="4294967295"/>
          </p:nvPr>
        </p:nvSpPr>
        <p:spPr>
          <a:xfrm>
            <a:off x="0" y="274638"/>
            <a:ext cx="8161338" cy="849312"/>
          </a:xfrm>
        </p:spPr>
        <p:txBody>
          <a:bodyPr/>
          <a:lstStyle/>
          <a:p>
            <a:pPr algn="l"/>
            <a:r>
              <a:rPr lang="en-US" sz="4400" b="1" dirty="0">
                <a:solidFill>
                  <a:srgbClr val="FF0000"/>
                </a:solidFill>
                <a:ea typeface="Calibri" panose="020F0502020204030204" pitchFamily="34" charset="0"/>
                <a:cs typeface="Calibri" panose="020F0502020204030204" pitchFamily="34" charset="0"/>
              </a:rPr>
              <a:t>Problem 3                           </a:t>
            </a:r>
            <a:endParaRPr lang="en-IN" dirty="0"/>
          </a:p>
        </p:txBody>
      </p:sp>
      <p:sp>
        <p:nvSpPr>
          <p:cNvPr id="3" name="Text Placeholder 2">
            <a:extLst>
              <a:ext uri="{FF2B5EF4-FFF2-40B4-BE49-F238E27FC236}">
                <a16:creationId xmlns:a16="http://schemas.microsoft.com/office/drawing/2014/main" id="{9084E200-0ED8-9D78-1BE3-758537F188B5}"/>
              </a:ext>
            </a:extLst>
          </p:cNvPr>
          <p:cNvSpPr>
            <a:spLocks noGrp="1"/>
          </p:cNvSpPr>
          <p:nvPr>
            <p:ph type="body" idx="4294967295"/>
          </p:nvPr>
        </p:nvSpPr>
        <p:spPr>
          <a:xfrm>
            <a:off x="340518" y="1462415"/>
            <a:ext cx="11510963" cy="4921250"/>
          </a:xfrm>
        </p:spPr>
        <p:txBody>
          <a:bodyPr/>
          <a:lstStyle/>
          <a:p>
            <a:pPr marL="107950" indent="0" algn="l">
              <a:buNone/>
            </a:pPr>
            <a:r>
              <a:rPr lang="en-US" sz="2800" b="0" i="0" u="none" strike="noStrike" baseline="0" dirty="0">
                <a:solidFill>
                  <a:srgbClr val="000000"/>
                </a:solidFill>
              </a:rPr>
              <a:t>Hardik Pandya, Rishabh Pant and Surya Kumar Yadav are in the race of leading Indian cricket team in the next world cup with probabilities 0.2, 0.5 and 0.3 respectively. The probabilities of getting an increase in the match fee by Hardik, Rishabh and Surya are 0.3, 0.6 and 0.5 respectively if they become the Captain. </a:t>
            </a:r>
          </a:p>
          <a:p>
            <a:pPr marL="107950" indent="0" algn="l">
              <a:buNone/>
            </a:pPr>
            <a:r>
              <a:rPr lang="en-US" sz="2800" b="0" i="0" u="none" strike="noStrike" baseline="0" dirty="0">
                <a:solidFill>
                  <a:srgbClr val="000000"/>
                </a:solidFill>
              </a:rPr>
              <a:t>If there is an increase in match fee then find the probability </a:t>
            </a:r>
          </a:p>
          <a:p>
            <a:pPr marL="622300" indent="-514350" algn="l">
              <a:buFont typeface="+mj-lt"/>
              <a:buAutoNum type="romanUcPeriod"/>
            </a:pPr>
            <a:r>
              <a:rPr lang="en-US" sz="2800" b="0" i="0" u="none" strike="noStrike" baseline="0" dirty="0">
                <a:solidFill>
                  <a:srgbClr val="000000"/>
                </a:solidFill>
              </a:rPr>
              <a:t>that it is because of Hardik </a:t>
            </a:r>
          </a:p>
          <a:p>
            <a:pPr marL="622300" indent="-514350" algn="l">
              <a:buFont typeface="+mj-lt"/>
              <a:buAutoNum type="romanUcPeriod"/>
            </a:pPr>
            <a:r>
              <a:rPr lang="en-US" sz="2800" b="0" i="0" u="none" strike="noStrike" baseline="0" dirty="0">
                <a:solidFill>
                  <a:srgbClr val="000000"/>
                </a:solidFill>
              </a:rPr>
              <a:t>that it is because of Rishabh </a:t>
            </a:r>
          </a:p>
          <a:p>
            <a:pPr marL="622300" indent="-514350" algn="l">
              <a:buFont typeface="+mj-lt"/>
              <a:buAutoNum type="romanUcPeriod"/>
            </a:pPr>
            <a:r>
              <a:rPr lang="en-US" sz="2800" b="0" i="0" u="none" strike="noStrike" baseline="0" dirty="0">
                <a:solidFill>
                  <a:srgbClr val="000000"/>
                </a:solidFill>
              </a:rPr>
              <a:t>that it is because of Surya Kumar</a:t>
            </a:r>
          </a:p>
          <a:p>
            <a:pPr marL="107950" indent="0" algn="l">
              <a:buNone/>
            </a:pPr>
            <a:r>
              <a:rPr lang="en-IN" sz="2800" b="0" i="0" u="none" strike="noStrike" baseline="0" dirty="0">
                <a:solidFill>
                  <a:srgbClr val="000000"/>
                </a:solidFill>
              </a:rPr>
              <a:t>	</a:t>
            </a:r>
          </a:p>
          <a:p>
            <a:pPr marL="107950" indent="0">
              <a:buNone/>
            </a:pPr>
            <a:endParaRPr lang="en-IN" sz="2800" dirty="0"/>
          </a:p>
        </p:txBody>
      </p:sp>
      <p:sp>
        <p:nvSpPr>
          <p:cNvPr id="5" name="Star: 5 Points 4">
            <a:extLst>
              <a:ext uri="{FF2B5EF4-FFF2-40B4-BE49-F238E27FC236}">
                <a16:creationId xmlns:a16="http://schemas.microsoft.com/office/drawing/2014/main" id="{F6F174EE-4240-D71C-0AC4-4F0B230F9326}"/>
              </a:ext>
            </a:extLst>
          </p:cNvPr>
          <p:cNvSpPr/>
          <p:nvPr/>
        </p:nvSpPr>
        <p:spPr>
          <a:xfrm>
            <a:off x="4637987" y="56558"/>
            <a:ext cx="4128940" cy="1187777"/>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EC2R </a:t>
            </a:r>
          </a:p>
          <a:p>
            <a:pPr algn="ctr"/>
            <a:r>
              <a:rPr lang="en-US" b="1" dirty="0"/>
              <a:t>JULY 2024</a:t>
            </a:r>
            <a:endParaRPr lang="en-IN" b="1" dirty="0"/>
          </a:p>
        </p:txBody>
      </p:sp>
      <p:sp>
        <p:nvSpPr>
          <p:cNvPr id="4" name="Footer Placeholder 3">
            <a:extLst>
              <a:ext uri="{FF2B5EF4-FFF2-40B4-BE49-F238E27FC236}">
                <a16:creationId xmlns:a16="http://schemas.microsoft.com/office/drawing/2014/main" id="{28B5C25A-28C9-FB12-BF45-CA74E2AD7C40}"/>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4EB29601-9B04-52FD-0DC4-1ECC0AF20DC0}"/>
              </a:ext>
            </a:extLst>
          </p:cNvPr>
          <p:cNvSpPr>
            <a:spLocks noGrp="1"/>
          </p:cNvSpPr>
          <p:nvPr>
            <p:ph type="sldNum" sz="quarter" idx="12"/>
          </p:nvPr>
        </p:nvSpPr>
        <p:spPr/>
        <p:txBody>
          <a:bodyPr/>
          <a:lstStyle/>
          <a:p>
            <a:pPr>
              <a:defRPr/>
            </a:pPr>
            <a:fld id="{799C83C6-4F87-48B4-8CF0-6A2F9115491D}" type="slidenum">
              <a:rPr lang="en-IN" smtClean="0"/>
              <a:pPr>
                <a:defRPr/>
              </a:pPr>
              <a:t>12</a:t>
            </a:fld>
            <a:endParaRPr lang="en-IN"/>
          </a:p>
        </p:txBody>
      </p:sp>
    </p:spTree>
    <p:extLst>
      <p:ext uri="{BB962C8B-B14F-4D97-AF65-F5344CB8AC3E}">
        <p14:creationId xmlns:p14="http://schemas.microsoft.com/office/powerpoint/2010/main" val="1187204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E536-5B0C-85D5-600F-9F3784375B8D}"/>
              </a:ext>
            </a:extLst>
          </p:cNvPr>
          <p:cNvSpPr>
            <a:spLocks noGrp="1"/>
          </p:cNvSpPr>
          <p:nvPr>
            <p:ph type="title" idx="4294967295"/>
          </p:nvPr>
        </p:nvSpPr>
        <p:spPr>
          <a:xfrm>
            <a:off x="0" y="-200025"/>
            <a:ext cx="8161338" cy="850900"/>
          </a:xfrm>
        </p:spPr>
        <p:txBody>
          <a:bodyPr/>
          <a:lstStyle/>
          <a:p>
            <a:pPr algn="l"/>
            <a:r>
              <a:rPr lang="en-US" sz="4000" b="1" dirty="0">
                <a:solidFill>
                  <a:srgbClr val="00B050"/>
                </a:solidFill>
                <a:latin typeface="Calibri" panose="020F0502020204030204" pitchFamily="34" charset="0"/>
                <a:ea typeface="Calibri" panose="020F0502020204030204" pitchFamily="34" charset="0"/>
                <a:cs typeface="Calibri" panose="020F0502020204030204" pitchFamily="34" charset="0"/>
              </a:rPr>
              <a:t>Problem 3 - Solution</a:t>
            </a:r>
            <a:endParaRPr lang="en-IN" sz="4000" dirty="0"/>
          </a:p>
        </p:txBody>
      </p:sp>
      <p:sp>
        <p:nvSpPr>
          <p:cNvPr id="5" name="TextBox 4">
            <a:extLst>
              <a:ext uri="{FF2B5EF4-FFF2-40B4-BE49-F238E27FC236}">
                <a16:creationId xmlns:a16="http://schemas.microsoft.com/office/drawing/2014/main" id="{8A70E4D8-B3BB-C938-A0AC-91C78F9F5106}"/>
              </a:ext>
            </a:extLst>
          </p:cNvPr>
          <p:cNvSpPr txBox="1"/>
          <p:nvPr/>
        </p:nvSpPr>
        <p:spPr>
          <a:xfrm>
            <a:off x="3009167" y="3261918"/>
            <a:ext cx="6123842" cy="369332"/>
          </a:xfrm>
          <a:prstGeom prst="rect">
            <a:avLst/>
          </a:prstGeom>
          <a:noFill/>
        </p:spPr>
        <p:txBody>
          <a:bodyPr wrap="square">
            <a:spAutoFit/>
          </a:bodyPr>
          <a:lstStyle/>
          <a:p>
            <a:endParaRPr lang="en-IN" dirty="0"/>
          </a:p>
        </p:txBody>
      </p:sp>
      <p:sp>
        <p:nvSpPr>
          <p:cNvPr id="8" name="TextBox 7">
            <a:extLst>
              <a:ext uri="{FF2B5EF4-FFF2-40B4-BE49-F238E27FC236}">
                <a16:creationId xmlns:a16="http://schemas.microsoft.com/office/drawing/2014/main" id="{D61878B9-6CEA-43BE-5CD3-45B4B3F8191E}"/>
              </a:ext>
            </a:extLst>
          </p:cNvPr>
          <p:cNvSpPr txBox="1"/>
          <p:nvPr/>
        </p:nvSpPr>
        <p:spPr>
          <a:xfrm>
            <a:off x="3009167" y="3261918"/>
            <a:ext cx="6123842" cy="369332"/>
          </a:xfrm>
          <a:prstGeom prst="rect">
            <a:avLst/>
          </a:prstGeom>
          <a:noFill/>
        </p:spPr>
        <p:txBody>
          <a:bodyPr wrap="square">
            <a:spAutoFit/>
          </a:bodyPr>
          <a:lstStyle/>
          <a:p>
            <a:endParaRPr lang="en-IN" dirty="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9430F89-6623-4A13-44BC-80397C73BC4A}"/>
                  </a:ext>
                </a:extLst>
              </p:cNvPr>
              <p:cNvSpPr txBox="1"/>
              <p:nvPr/>
            </p:nvSpPr>
            <p:spPr>
              <a:xfrm>
                <a:off x="7226644" y="225559"/>
                <a:ext cx="4574832" cy="6129883"/>
              </a:xfrm>
              <a:prstGeom prst="rect">
                <a:avLst/>
              </a:prstGeom>
              <a:noFill/>
            </p:spPr>
            <p:txBody>
              <a:bodyPr wrap="square">
                <a:spAutoFit/>
              </a:bodyPr>
              <a:lstStyle/>
              <a:p>
                <a:pPr>
                  <a:buNone/>
                </a:pPr>
                <a:r>
                  <a:rPr lang="en-IN" dirty="0">
                    <a:latin typeface="Times New Roman" panose="02020603050405020304" pitchFamily="18" charset="0"/>
                    <a:cs typeface="Times New Roman" panose="02020603050405020304" pitchFamily="18" charset="0"/>
                  </a:rPr>
                  <a:t>(I) To find the probability that it is because of</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Hardik:</a:t>
                </a:r>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𝐻</m:t>
                          </m:r>
                          <m:r>
                            <a:rPr lang="ar-AE" i="0">
                              <a:latin typeface="Cambria Math" panose="02040503050406030204" pitchFamily="18" charset="0"/>
                            </a:rPr>
                            <m:t>∣</m:t>
                          </m:r>
                          <m:r>
                            <a:rPr lang="ar-AE" i="1">
                              <a:latin typeface="Cambria Math" panose="02040503050406030204" pitchFamily="18" charset="0"/>
                            </a:rPr>
                            <m:t>𝐹</m:t>
                          </m:r>
                        </m:e>
                      </m:d>
                      <m:r>
                        <a:rPr lang="ar-AE" i="0">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𝐻</m:t>
                              </m:r>
                            </m:e>
                          </m:d>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𝐹</m:t>
                              </m:r>
                              <m:r>
                                <a:rPr lang="ar-AE" i="0">
                                  <a:latin typeface="Cambria Math" panose="02040503050406030204" pitchFamily="18" charset="0"/>
                                </a:rPr>
                                <m:t>∣</m:t>
                              </m:r>
                              <m:r>
                                <a:rPr lang="ar-AE" i="1">
                                  <a:latin typeface="Cambria Math" panose="02040503050406030204" pitchFamily="18" charset="0"/>
                                </a:rPr>
                                <m:t>𝐻</m:t>
                              </m:r>
                            </m:e>
                          </m:d>
                        </m:num>
                        <m:den>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𝐹</m:t>
                              </m:r>
                            </m:e>
                          </m:d>
                        </m:den>
                      </m:f>
                    </m:oMath>
                  </m:oMathPara>
                </a14:m>
                <a:endParaRPr lang="ar-AE"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2</m:t>
                              </m:r>
                            </m:e>
                          </m:d>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3</m:t>
                              </m:r>
                            </m:e>
                          </m:d>
                        </m:num>
                        <m:den>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51</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06</m:t>
                          </m:r>
                        </m:num>
                        <m:den>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51</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6</m:t>
                          </m:r>
                        </m:num>
                        <m:den>
                          <m:r>
                            <a:rPr lang="ar-AE" i="0">
                              <a:latin typeface="Cambria Math" panose="02040503050406030204" pitchFamily="18" charset="0"/>
                            </a:rPr>
                            <m:t>51</m:t>
                          </m:r>
                        </m:den>
                      </m:f>
                    </m:oMath>
                  </m:oMathPara>
                </a14:m>
                <a:endParaRPr lang="ar-AE"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2</m:t>
                          </m:r>
                        </m:num>
                        <m:den>
                          <m:r>
                            <a:rPr lang="ar-AE" i="0">
                              <a:latin typeface="Cambria Math" panose="02040503050406030204" pitchFamily="18" charset="0"/>
                            </a:rPr>
                            <m:t>17</m:t>
                          </m:r>
                        </m:den>
                      </m:f>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1176</m:t>
                      </m:r>
                    </m:oMath>
                  </m:oMathPara>
                </a14:m>
                <a:endParaRPr lang="ar-AE"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𝐻</m:t>
                          </m:r>
                          <m:r>
                            <a:rPr lang="ar-AE" i="0">
                              <a:latin typeface="Cambria Math" panose="02040503050406030204" pitchFamily="18" charset="0"/>
                            </a:rPr>
                            <m:t>/</m:t>
                          </m:r>
                          <m:r>
                            <a:rPr lang="ar-AE" i="1">
                              <a:latin typeface="Cambria Math" panose="02040503050406030204" pitchFamily="18" charset="0"/>
                            </a:rPr>
                            <m:t>𝐹</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1176</m:t>
                      </m:r>
                    </m:oMath>
                  </m:oMathPara>
                </a14:m>
                <a:endParaRPr lang="ar-AE" dirty="0">
                  <a:latin typeface="Times New Roman" panose="02020603050405020304" pitchFamily="18" charset="0"/>
                  <a:cs typeface="Times New Roman" panose="02020603050405020304" pitchFamily="18" charset="0"/>
                </a:endParaRPr>
              </a:p>
              <a:p>
                <a:pPr>
                  <a:buNone/>
                </a:pPr>
                <a:r>
                  <a:rPr lang="ar-AE"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The probability that increase in </a:t>
                </a:r>
                <a:r>
                  <a:rPr lang="en-IN" dirty="0" err="1">
                    <a:latin typeface="Times New Roman" panose="02020603050405020304" pitchFamily="18" charset="0"/>
                    <a:cs typeface="Times New Roman" panose="02020603050405020304" pitchFamily="18" charset="0"/>
                  </a:rPr>
                  <a:t>matchfee</a:t>
                </a:r>
                <a:r>
                  <a:rPr lang="en-IN" dirty="0">
                    <a:latin typeface="Times New Roman" panose="02020603050405020304" pitchFamily="18" charset="0"/>
                    <a:cs typeface="Times New Roman" panose="02020603050405020304" pitchFamily="18" charset="0"/>
                  </a:rPr>
                  <a:t> is because of Hardik </a:t>
                </a:r>
                <a14:m>
                  <m:oMath xmlns:m="http://schemas.openxmlformats.org/officeDocument/2006/math">
                    <m:r>
                      <a:rPr lang="en-IN">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1176</m:t>
                    </m:r>
                  </m:oMath>
                </a14:m>
                <a:r>
                  <a:rPr lang="en-IN" dirty="0">
                    <a:latin typeface="Times New Roman" panose="02020603050405020304" pitchFamily="18" charset="0"/>
                    <a:cs typeface="Times New Roman" panose="02020603050405020304" pitchFamily="18" charset="0"/>
                  </a:rPr>
                  <a:t>or </a:t>
                </a:r>
                <a14:m>
                  <m:oMath xmlns:m="http://schemas.openxmlformats.org/officeDocument/2006/math">
                    <m:r>
                      <a:rPr lang="en-IN">
                        <a:latin typeface="Cambria Math" panose="02040503050406030204" pitchFamily="18" charset="0"/>
                      </a:rPr>
                      <m:t>11</m:t>
                    </m:r>
                    <m:r>
                      <a:rPr lang="en-IN">
                        <a:latin typeface="Cambria Math" panose="02040503050406030204" pitchFamily="18" charset="0"/>
                      </a:rPr>
                      <m:t>.</m:t>
                    </m:r>
                    <m:r>
                      <a:rPr lang="en-IN">
                        <a:latin typeface="Cambria Math" panose="02040503050406030204" pitchFamily="18" charset="0"/>
                      </a:rPr>
                      <m:t>76</m:t>
                    </m:r>
                    <m:r>
                      <a:rPr lang="en-IN" i="0">
                        <a:latin typeface="Cambria Math" panose="02040503050406030204" pitchFamily="18" charset="0"/>
                      </a:rPr>
                      <m:t>%</m:t>
                    </m:r>
                  </m:oMath>
                </a14:m>
                <a:endParaRPr lang="en-IN"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(II) To find the probability that it is because of</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Rishabh:</a:t>
                </a:r>
                <a:endParaRPr lang="ar-AE"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𝑅</m:t>
                          </m:r>
                          <m:r>
                            <a:rPr lang="ar-AE" i="0">
                              <a:latin typeface="Cambria Math" panose="02040503050406030204" pitchFamily="18" charset="0"/>
                            </a:rPr>
                            <m:t>∣</m:t>
                          </m:r>
                          <m:r>
                            <a:rPr lang="ar-AE" i="1">
                              <a:latin typeface="Cambria Math" panose="02040503050406030204" pitchFamily="18" charset="0"/>
                            </a:rPr>
                            <m:t>𝐹</m:t>
                          </m:r>
                        </m:e>
                      </m:d>
                      <m:r>
                        <a:rPr lang="ar-AE" i="0">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𝑅</m:t>
                              </m:r>
                            </m:e>
                          </m:d>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𝐹</m:t>
                              </m:r>
                              <m:r>
                                <a:rPr lang="ar-AE" i="0">
                                  <a:latin typeface="Cambria Math" panose="02040503050406030204" pitchFamily="18" charset="0"/>
                                </a:rPr>
                                <m:t>∣</m:t>
                              </m:r>
                              <m:r>
                                <a:rPr lang="ar-AE" i="1">
                                  <a:latin typeface="Cambria Math" panose="02040503050406030204" pitchFamily="18" charset="0"/>
                                </a:rPr>
                                <m:t>𝑅</m:t>
                              </m:r>
                            </m:e>
                          </m:d>
                        </m:num>
                        <m:den>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𝐹</m:t>
                              </m:r>
                            </m:e>
                          </m:d>
                        </m:den>
                      </m:f>
                    </m:oMath>
                  </m:oMathPara>
                </a14:m>
                <a:endParaRPr lang="ar-AE"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m:t>
                              </m:r>
                            </m:e>
                          </m:d>
                          <m:d>
                            <m:dPr>
                              <m:ctrlPr>
                                <a:rPr lang="ar-AE" i="1">
                                  <a:latin typeface="Cambria Math" panose="02040503050406030204" pitchFamily="18" charset="0"/>
                                </a:rPr>
                              </m:ctrlPr>
                            </m:dPr>
                            <m:e>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6</m:t>
                              </m:r>
                            </m:e>
                          </m:d>
                        </m:num>
                        <m:den>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51</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30</m:t>
                          </m:r>
                        </m:num>
                        <m:den>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51</m:t>
                          </m:r>
                        </m:den>
                      </m:f>
                      <m:r>
                        <a:rPr lang="ar-AE" i="0">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30</m:t>
                          </m:r>
                        </m:num>
                        <m:den>
                          <m:r>
                            <a:rPr lang="ar-AE" i="0">
                              <a:latin typeface="Cambria Math" panose="02040503050406030204" pitchFamily="18" charset="0"/>
                            </a:rPr>
                            <m:t>51</m:t>
                          </m:r>
                        </m:den>
                      </m:f>
                    </m:oMath>
                  </m:oMathPara>
                </a14:m>
                <a:endParaRPr lang="ar-AE"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f>
                        <m:fPr>
                          <m:ctrlPr>
                            <a:rPr lang="ar-AE" i="1">
                              <a:latin typeface="Cambria Math" panose="02040503050406030204" pitchFamily="18" charset="0"/>
                            </a:rPr>
                          </m:ctrlPr>
                        </m:fPr>
                        <m:num>
                          <m:r>
                            <a:rPr lang="ar-AE" i="0">
                              <a:latin typeface="Cambria Math" panose="02040503050406030204" pitchFamily="18" charset="0"/>
                            </a:rPr>
                            <m:t>10</m:t>
                          </m:r>
                        </m:num>
                        <m:den>
                          <m:r>
                            <a:rPr lang="ar-AE" i="0">
                              <a:latin typeface="Cambria Math" panose="02040503050406030204" pitchFamily="18" charset="0"/>
                            </a:rPr>
                            <m:t>17</m:t>
                          </m:r>
                        </m:den>
                      </m:f>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5882</m:t>
                      </m:r>
                    </m:oMath>
                  </m:oMathPara>
                </a14:m>
                <a:endParaRPr lang="ar-AE"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𝑃</m:t>
                      </m:r>
                      <m:d>
                        <m:dPr>
                          <m:ctrlPr>
                            <a:rPr lang="ar-AE" i="1">
                              <a:latin typeface="Cambria Math" panose="02040503050406030204" pitchFamily="18" charset="0"/>
                            </a:rPr>
                          </m:ctrlPr>
                        </m:dPr>
                        <m:e>
                          <m:r>
                            <a:rPr lang="ar-AE" i="1">
                              <a:latin typeface="Cambria Math" panose="02040503050406030204" pitchFamily="18" charset="0"/>
                            </a:rPr>
                            <m:t>𝑅</m:t>
                          </m:r>
                          <m:r>
                            <a:rPr lang="ar-AE" i="0">
                              <a:latin typeface="Cambria Math" panose="02040503050406030204" pitchFamily="18" charset="0"/>
                            </a:rPr>
                            <m:t>/</m:t>
                          </m:r>
                          <m:r>
                            <a:rPr lang="ar-AE" i="1">
                              <a:latin typeface="Cambria Math" panose="02040503050406030204" pitchFamily="18" charset="0"/>
                            </a:rPr>
                            <m:t>𝐹</m:t>
                          </m:r>
                        </m:e>
                      </m:d>
                      <m:r>
                        <a:rPr lang="ar-AE" i="0">
                          <a:latin typeface="Cambria Math" panose="02040503050406030204" pitchFamily="18" charset="0"/>
                        </a:rPr>
                        <m:t>=</m:t>
                      </m:r>
                      <m:r>
                        <a:rPr lang="ar-AE" i="0">
                          <a:latin typeface="Cambria Math" panose="02040503050406030204" pitchFamily="18" charset="0"/>
                        </a:rPr>
                        <m:t>0</m:t>
                      </m:r>
                      <m:r>
                        <a:rPr lang="ar-AE" i="0">
                          <a:latin typeface="Cambria Math" panose="02040503050406030204" pitchFamily="18" charset="0"/>
                        </a:rPr>
                        <m:t>.</m:t>
                      </m:r>
                      <m:r>
                        <a:rPr lang="ar-AE" i="0">
                          <a:latin typeface="Cambria Math" panose="02040503050406030204" pitchFamily="18" charset="0"/>
                        </a:rPr>
                        <m:t>5882</m:t>
                      </m:r>
                    </m:oMath>
                  </m:oMathPara>
                </a14:m>
                <a:endParaRPr lang="ar-AE" dirty="0">
                  <a:latin typeface="Times New Roman" panose="02020603050405020304" pitchFamily="18" charset="0"/>
                  <a:cs typeface="Times New Roman" panose="02020603050405020304" pitchFamily="18" charset="0"/>
                </a:endParaRPr>
              </a:p>
              <a:p>
                <a:pPr>
                  <a:buNone/>
                </a:pPr>
                <a:r>
                  <a:rPr lang="ar-AE"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The probability that increase in </a:t>
                </a:r>
                <a:r>
                  <a:rPr lang="en-IN" dirty="0" err="1">
                    <a:latin typeface="Times New Roman" panose="02020603050405020304" pitchFamily="18" charset="0"/>
                    <a:cs typeface="Times New Roman" panose="02020603050405020304" pitchFamily="18" charset="0"/>
                  </a:rPr>
                  <a:t>matchfee</a:t>
                </a:r>
                <a:r>
                  <a:rPr lang="en-IN" dirty="0">
                    <a:latin typeface="Times New Roman" panose="02020603050405020304" pitchFamily="18" charset="0"/>
                    <a:cs typeface="Times New Roman" panose="02020603050405020304" pitchFamily="18" charset="0"/>
                  </a:rPr>
                  <a:t> 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because of Rishabh </a:t>
                </a:r>
                <a14:m>
                  <m:oMath xmlns:m="http://schemas.openxmlformats.org/officeDocument/2006/math">
                    <m:r>
                      <a:rPr lang="en-IN">
                        <a:latin typeface="Cambria Math" panose="02040503050406030204" pitchFamily="18" charset="0"/>
                      </a:rPr>
                      <m:t>=</m:t>
                    </m:r>
                    <m:r>
                      <a:rPr lang="en-IN" i="0">
                        <a:latin typeface="Cambria Math" panose="02040503050406030204" pitchFamily="18" charset="0"/>
                      </a:rPr>
                      <m:t>0</m:t>
                    </m:r>
                    <m:r>
                      <a:rPr lang="en-IN" i="0">
                        <a:latin typeface="Cambria Math" panose="02040503050406030204" pitchFamily="18" charset="0"/>
                      </a:rPr>
                      <m:t>.</m:t>
                    </m:r>
                    <m:r>
                      <a:rPr lang="en-IN" i="0">
                        <a:latin typeface="Cambria Math" panose="02040503050406030204" pitchFamily="18" charset="0"/>
                      </a:rPr>
                      <m:t>5882</m:t>
                    </m:r>
                  </m:oMath>
                </a14:m>
                <a:r>
                  <a:rPr lang="en-IN" dirty="0">
                    <a:latin typeface="Times New Roman" panose="02020603050405020304" pitchFamily="18" charset="0"/>
                    <a:cs typeface="Times New Roman" panose="02020603050405020304" pitchFamily="18" charset="0"/>
                  </a:rPr>
                  <a:t>or </a:t>
                </a:r>
                <a14:m>
                  <m:oMath xmlns:m="http://schemas.openxmlformats.org/officeDocument/2006/math">
                    <m:r>
                      <a:rPr lang="en-IN">
                        <a:latin typeface="Cambria Math" panose="02040503050406030204" pitchFamily="18" charset="0"/>
                      </a:rPr>
                      <m:t>58</m:t>
                    </m:r>
                    <m:r>
                      <a:rPr lang="en-IN">
                        <a:latin typeface="Cambria Math" panose="02040503050406030204" pitchFamily="18" charset="0"/>
                      </a:rPr>
                      <m:t>.</m:t>
                    </m:r>
                    <m:r>
                      <a:rPr lang="en-IN">
                        <a:latin typeface="Cambria Math" panose="02040503050406030204" pitchFamily="18" charset="0"/>
                      </a:rPr>
                      <m:t>82</m:t>
                    </m:r>
                    <m:r>
                      <a:rPr lang="en-IN" i="0">
                        <a:latin typeface="Cambria Math" panose="02040503050406030204" pitchFamily="18" charset="0"/>
                      </a:rPr>
                      <m:t>%</m:t>
                    </m:r>
                  </m:oMath>
                </a14:m>
                <a:endParaRPr lang="en-IN"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79430F89-6623-4A13-44BC-80397C73BC4A}"/>
                  </a:ext>
                </a:extLst>
              </p:cNvPr>
              <p:cNvSpPr txBox="1">
                <a:spLocks noRot="1" noChangeAspect="1" noMove="1" noResize="1" noEditPoints="1" noAdjustHandles="1" noChangeArrowheads="1" noChangeShapeType="1" noTextEdit="1"/>
              </p:cNvSpPr>
              <p:nvPr/>
            </p:nvSpPr>
            <p:spPr>
              <a:xfrm>
                <a:off x="7226644" y="225559"/>
                <a:ext cx="4574832" cy="6129883"/>
              </a:xfrm>
              <a:prstGeom prst="rect">
                <a:avLst/>
              </a:prstGeom>
              <a:blipFill>
                <a:blip r:embed="rId2"/>
                <a:stretch>
                  <a:fillRect l="-1198" t="-497" b="-596"/>
                </a:stretch>
              </a:blipFill>
            </p:spPr>
            <p:txBody>
              <a:bodyPr/>
              <a:lstStyle/>
              <a:p>
                <a:r>
                  <a:rPr lang="en-IN">
                    <a:noFill/>
                  </a:rPr>
                  <a:t> </a:t>
                </a:r>
              </a:p>
            </p:txBody>
          </p:sp>
        </mc:Fallback>
      </mc:AlternateContent>
      <p:pic>
        <p:nvPicPr>
          <p:cNvPr id="16" name="Picture 15">
            <a:extLst>
              <a:ext uri="{FF2B5EF4-FFF2-40B4-BE49-F238E27FC236}">
                <a16:creationId xmlns:a16="http://schemas.microsoft.com/office/drawing/2014/main" id="{6C883EBE-32DF-3004-3DA3-8DE59673D6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463" y="450240"/>
            <a:ext cx="5653220" cy="5905202"/>
          </a:xfrm>
          <a:prstGeom prst="rect">
            <a:avLst/>
          </a:prstGeom>
        </p:spPr>
      </p:pic>
      <p:sp>
        <p:nvSpPr>
          <p:cNvPr id="7" name="Footer Placeholder 6">
            <a:extLst>
              <a:ext uri="{FF2B5EF4-FFF2-40B4-BE49-F238E27FC236}">
                <a16:creationId xmlns:a16="http://schemas.microsoft.com/office/drawing/2014/main" id="{BEC80C73-3A6A-9117-D302-9406443C1900}"/>
              </a:ext>
            </a:extLst>
          </p:cNvPr>
          <p:cNvSpPr>
            <a:spLocks noGrp="1"/>
          </p:cNvSpPr>
          <p:nvPr>
            <p:ph type="ftr" sz="quarter" idx="11"/>
          </p:nvPr>
        </p:nvSpPr>
        <p:spPr/>
        <p:txBody>
          <a:bodyPr/>
          <a:lstStyle/>
          <a:p>
            <a:r>
              <a:rPr lang="en-IN"/>
              <a:t>W-2</a:t>
            </a:r>
          </a:p>
        </p:txBody>
      </p:sp>
      <p:sp>
        <p:nvSpPr>
          <p:cNvPr id="9" name="Slide Number Placeholder 8">
            <a:extLst>
              <a:ext uri="{FF2B5EF4-FFF2-40B4-BE49-F238E27FC236}">
                <a16:creationId xmlns:a16="http://schemas.microsoft.com/office/drawing/2014/main" id="{48BF4522-CD69-8B1C-340B-37446F29225D}"/>
              </a:ext>
            </a:extLst>
          </p:cNvPr>
          <p:cNvSpPr>
            <a:spLocks noGrp="1"/>
          </p:cNvSpPr>
          <p:nvPr>
            <p:ph type="sldNum" sz="quarter" idx="12"/>
          </p:nvPr>
        </p:nvSpPr>
        <p:spPr/>
        <p:txBody>
          <a:bodyPr/>
          <a:lstStyle/>
          <a:p>
            <a:pPr>
              <a:defRPr/>
            </a:pPr>
            <a:fld id="{799C83C6-4F87-48B4-8CF0-6A2F9115491D}" type="slidenum">
              <a:rPr lang="en-IN" smtClean="0"/>
              <a:pPr>
                <a:defRPr/>
              </a:pPr>
              <a:t>13</a:t>
            </a:fld>
            <a:endParaRPr lang="en-IN"/>
          </a:p>
        </p:txBody>
      </p:sp>
    </p:spTree>
    <p:extLst>
      <p:ext uri="{BB962C8B-B14F-4D97-AF65-F5344CB8AC3E}">
        <p14:creationId xmlns:p14="http://schemas.microsoft.com/office/powerpoint/2010/main" val="1492400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19CD4-A4CC-CD32-6F35-CA48EA9B4557}"/>
              </a:ext>
            </a:extLst>
          </p:cNvPr>
          <p:cNvSpPr>
            <a:spLocks noGrp="1"/>
          </p:cNvSpPr>
          <p:nvPr>
            <p:ph type="title" idx="4294967295"/>
          </p:nvPr>
        </p:nvSpPr>
        <p:spPr>
          <a:xfrm>
            <a:off x="246856" y="279401"/>
            <a:ext cx="8161338" cy="849312"/>
          </a:xfrm>
        </p:spPr>
        <p:txBody>
          <a:bodyPr>
            <a:normAutofit/>
          </a:bodyPr>
          <a:lstStyle/>
          <a:p>
            <a:pPr algn="l"/>
            <a:r>
              <a:rPr lang="en-US" sz="4000" b="1" dirty="0">
                <a:solidFill>
                  <a:srgbClr val="FF0000"/>
                </a:solidFill>
                <a:ea typeface="Calibri" panose="020F0502020204030204" pitchFamily="34" charset="0"/>
                <a:cs typeface="Calibri" panose="020F0502020204030204" pitchFamily="34" charset="0"/>
              </a:rPr>
              <a:t>Problem 4</a:t>
            </a:r>
            <a:endParaRPr lang="en-IN" sz="4000" dirty="0"/>
          </a:p>
        </p:txBody>
      </p:sp>
      <p:sp>
        <p:nvSpPr>
          <p:cNvPr id="3" name="Text Placeholder 2">
            <a:extLst>
              <a:ext uri="{FF2B5EF4-FFF2-40B4-BE49-F238E27FC236}">
                <a16:creationId xmlns:a16="http://schemas.microsoft.com/office/drawing/2014/main" id="{6F10EAFF-4C32-AF8D-1A71-7D9D93FBC42E}"/>
              </a:ext>
            </a:extLst>
          </p:cNvPr>
          <p:cNvSpPr>
            <a:spLocks noGrp="1"/>
          </p:cNvSpPr>
          <p:nvPr>
            <p:ph type="body" idx="4294967295"/>
          </p:nvPr>
        </p:nvSpPr>
        <p:spPr>
          <a:xfrm>
            <a:off x="246856" y="1316038"/>
            <a:ext cx="11698288" cy="5040312"/>
          </a:xfrm>
        </p:spPr>
        <p:txBody>
          <a:bodyPr>
            <a:noAutofit/>
          </a:bodyPr>
          <a:lstStyle/>
          <a:p>
            <a:pPr marL="107950" indent="0" algn="l">
              <a:buNone/>
            </a:pPr>
            <a:r>
              <a:rPr lang="en-US" b="0" i="0" u="none" strike="noStrike" baseline="0" dirty="0">
                <a:solidFill>
                  <a:schemeClr val="tx1"/>
                </a:solidFill>
              </a:rPr>
              <a:t>In a manufacturing company Machine 1 produces 40% of the items</a:t>
            </a:r>
          </a:p>
          <a:p>
            <a:pPr marL="107950" indent="0" algn="l">
              <a:buNone/>
            </a:pPr>
            <a:r>
              <a:rPr lang="en-US" b="0" i="0" u="none" strike="noStrike" baseline="0" dirty="0">
                <a:solidFill>
                  <a:schemeClr val="tx1"/>
                </a:solidFill>
              </a:rPr>
              <a:t>and Machine 2 and Machine 3 produces 25% and 35% of the items respectively.</a:t>
            </a:r>
          </a:p>
          <a:p>
            <a:pPr marL="107950" indent="0" algn="l">
              <a:buNone/>
            </a:pPr>
            <a:r>
              <a:rPr lang="en-US" b="0" i="0" u="none" strike="noStrike" baseline="0" dirty="0">
                <a:solidFill>
                  <a:schemeClr val="tx1"/>
                </a:solidFill>
              </a:rPr>
              <a:t>But from the past records it is found that 15%, 20% and 25% of the items they produce </a:t>
            </a:r>
            <a:r>
              <a:rPr lang="en-IN" b="0" i="0" u="none" strike="noStrike" baseline="0" dirty="0">
                <a:solidFill>
                  <a:schemeClr val="tx1"/>
                </a:solidFill>
              </a:rPr>
              <a:t>are defective. </a:t>
            </a:r>
            <a:endParaRPr lang="en-US" b="0" i="0" u="none" strike="noStrike" baseline="0" dirty="0">
              <a:solidFill>
                <a:schemeClr val="tx1"/>
              </a:solidFill>
            </a:endParaRPr>
          </a:p>
          <a:p>
            <a:pPr marL="107950" indent="0" algn="l">
              <a:buNone/>
            </a:pPr>
            <a:r>
              <a:rPr lang="en-IN" b="0" i="0" u="none" strike="noStrike" baseline="0" dirty="0">
                <a:solidFill>
                  <a:schemeClr val="tx1"/>
                </a:solidFill>
              </a:rPr>
              <a:t>Then find</a:t>
            </a:r>
          </a:p>
          <a:p>
            <a:pPr marL="107950" indent="0" algn="l">
              <a:buNone/>
            </a:pPr>
            <a:r>
              <a:rPr lang="en-US" b="0" i="0" u="none" strike="noStrike" baseline="0" dirty="0" err="1">
                <a:solidFill>
                  <a:schemeClr val="tx1"/>
                </a:solidFill>
              </a:rPr>
              <a:t>i</a:t>
            </a:r>
            <a:r>
              <a:rPr lang="en-US" b="0" i="0" u="none" strike="noStrike" baseline="0" dirty="0">
                <a:solidFill>
                  <a:schemeClr val="tx1"/>
                </a:solidFill>
              </a:rPr>
              <a:t>) Total percentage of defective items produced</a:t>
            </a:r>
          </a:p>
          <a:p>
            <a:pPr marL="107950" indent="0" algn="l">
              <a:buNone/>
            </a:pPr>
            <a:r>
              <a:rPr lang="en-US" b="0" i="0" u="none" strike="noStrike" baseline="0" dirty="0">
                <a:solidFill>
                  <a:schemeClr val="tx1"/>
                </a:solidFill>
              </a:rPr>
              <a:t>ii) If a defective item is selected randomly, then find the probability that it is</a:t>
            </a:r>
          </a:p>
          <a:p>
            <a:pPr marL="107950" indent="0" algn="l">
              <a:buNone/>
            </a:pPr>
            <a:r>
              <a:rPr lang="en-IN" b="0" i="0" u="none" strike="noStrike" baseline="0" dirty="0">
                <a:solidFill>
                  <a:schemeClr val="tx1"/>
                </a:solidFill>
              </a:rPr>
              <a:t>produced by Machine 1</a:t>
            </a:r>
          </a:p>
          <a:p>
            <a:pPr marL="107950" indent="0" algn="l">
              <a:buNone/>
            </a:pPr>
            <a:r>
              <a:rPr lang="en-US" i="0" u="none" strike="noStrike" baseline="0" dirty="0">
                <a:solidFill>
                  <a:schemeClr val="tx1"/>
                </a:solidFill>
              </a:rPr>
              <a:t>iii)</a:t>
            </a:r>
            <a:r>
              <a:rPr lang="en-US" b="1" i="0" u="none" strike="noStrike" baseline="0" dirty="0">
                <a:solidFill>
                  <a:schemeClr val="tx1"/>
                </a:solidFill>
              </a:rPr>
              <a:t> </a:t>
            </a:r>
            <a:r>
              <a:rPr lang="en-US" b="0" i="0" u="none" strike="noStrike" baseline="0" dirty="0">
                <a:solidFill>
                  <a:schemeClr val="tx1"/>
                </a:solidFill>
              </a:rPr>
              <a:t>If a defective item is selected randomly, then find the probability that it is</a:t>
            </a:r>
          </a:p>
          <a:p>
            <a:pPr marL="107950" indent="0" algn="l">
              <a:buNone/>
            </a:pPr>
            <a:r>
              <a:rPr lang="en-US" b="0" i="0" u="none" strike="noStrike" baseline="0" dirty="0">
                <a:solidFill>
                  <a:schemeClr val="tx1"/>
                </a:solidFill>
              </a:rPr>
              <a:t>not produced by Machine 2</a:t>
            </a:r>
          </a:p>
          <a:p>
            <a:pPr marL="107950" indent="0" algn="l">
              <a:buNone/>
            </a:pPr>
            <a:endParaRPr lang="en-IN" b="1" i="0" u="none" strike="noStrike" baseline="0" dirty="0"/>
          </a:p>
          <a:p>
            <a:pPr marL="107950" indent="0" algn="l">
              <a:buNone/>
            </a:pPr>
            <a:endParaRPr lang="en-IN" dirty="0"/>
          </a:p>
        </p:txBody>
      </p:sp>
      <p:sp>
        <p:nvSpPr>
          <p:cNvPr id="6" name="Star: 5 Points 5">
            <a:extLst>
              <a:ext uri="{FF2B5EF4-FFF2-40B4-BE49-F238E27FC236}">
                <a16:creationId xmlns:a16="http://schemas.microsoft.com/office/drawing/2014/main" id="{A85B8BBF-77C5-6388-9D49-48715B40349B}"/>
              </a:ext>
            </a:extLst>
          </p:cNvPr>
          <p:cNvSpPr/>
          <p:nvPr/>
        </p:nvSpPr>
        <p:spPr>
          <a:xfrm>
            <a:off x="4411744" y="-28281"/>
            <a:ext cx="4242061" cy="124433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EC2R</a:t>
            </a:r>
          </a:p>
          <a:p>
            <a:pPr algn="ctr"/>
            <a:r>
              <a:rPr lang="en-US" b="1" dirty="0"/>
              <a:t>JAN 2024</a:t>
            </a:r>
            <a:endParaRPr lang="en-IN" b="1" dirty="0"/>
          </a:p>
        </p:txBody>
      </p:sp>
      <p:sp>
        <p:nvSpPr>
          <p:cNvPr id="4" name="Footer Placeholder 3">
            <a:extLst>
              <a:ext uri="{FF2B5EF4-FFF2-40B4-BE49-F238E27FC236}">
                <a16:creationId xmlns:a16="http://schemas.microsoft.com/office/drawing/2014/main" id="{2C331AE7-F45F-B4F9-D305-00F52E793F6B}"/>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C61CFB53-97AF-F4CC-DAC2-22BB4F89548C}"/>
              </a:ext>
            </a:extLst>
          </p:cNvPr>
          <p:cNvSpPr>
            <a:spLocks noGrp="1"/>
          </p:cNvSpPr>
          <p:nvPr>
            <p:ph type="sldNum" sz="quarter" idx="12"/>
          </p:nvPr>
        </p:nvSpPr>
        <p:spPr/>
        <p:txBody>
          <a:bodyPr/>
          <a:lstStyle/>
          <a:p>
            <a:pPr>
              <a:defRPr/>
            </a:pPr>
            <a:fld id="{799C83C6-4F87-48B4-8CF0-6A2F9115491D}" type="slidenum">
              <a:rPr lang="en-IN" smtClean="0"/>
              <a:pPr>
                <a:defRPr/>
              </a:pPr>
              <a:t>14</a:t>
            </a:fld>
            <a:endParaRPr lang="en-IN"/>
          </a:p>
        </p:txBody>
      </p:sp>
    </p:spTree>
    <p:extLst>
      <p:ext uri="{BB962C8B-B14F-4D97-AF65-F5344CB8AC3E}">
        <p14:creationId xmlns:p14="http://schemas.microsoft.com/office/powerpoint/2010/main" val="4273270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C5415C-4F80-C656-CE7B-31EF8E285330}"/>
              </a:ext>
            </a:extLst>
          </p:cNvPr>
          <p:cNvSpPr>
            <a:spLocks noGrp="1"/>
          </p:cNvSpPr>
          <p:nvPr>
            <p:ph type="title" idx="4294967295"/>
          </p:nvPr>
        </p:nvSpPr>
        <p:spPr>
          <a:xfrm>
            <a:off x="0" y="241300"/>
            <a:ext cx="10515600" cy="315913"/>
          </a:xfrm>
        </p:spPr>
        <p:txBody>
          <a:bodyPr>
            <a:noAutofit/>
          </a:bodyPr>
          <a:lstStyle/>
          <a:p>
            <a:r>
              <a:rPr lang="en-IN" sz="3600" b="1" dirty="0">
                <a:latin typeface="Arial" panose="020B0604020202020204" pitchFamily="34" charset="0"/>
                <a:cs typeface="Arial" panose="020B0604020202020204" pitchFamily="34" charset="0"/>
              </a:rPr>
              <a:t>Solution</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4E17838-736D-69E8-7A81-702593B9DAC6}"/>
                  </a:ext>
                </a:extLst>
              </p:cNvPr>
              <p:cNvSpPr>
                <a:spLocks noGrp="1"/>
              </p:cNvSpPr>
              <p:nvPr>
                <p:ph sz="half" idx="4294967295"/>
              </p:nvPr>
            </p:nvSpPr>
            <p:spPr>
              <a:xfrm>
                <a:off x="242888" y="736600"/>
                <a:ext cx="6086475" cy="5495925"/>
              </a:xfrm>
            </p:spPr>
            <p:txBody>
              <a:bodyPr>
                <a:normAutofit fontScale="85000" lnSpcReduction="10000"/>
              </a:bodyPr>
              <a:lstStyle/>
              <a:p>
                <a:pPr marL="0" indent="0">
                  <a:buNone/>
                </a:pPr>
                <a:r>
                  <a:rPr lang="en-IN" sz="2000" b="1" dirty="0">
                    <a:latin typeface="Times New Roman" panose="02020603050405020304" pitchFamily="18" charset="0"/>
                    <a:cs typeface="Times New Roman" panose="02020603050405020304" pitchFamily="18" charset="0"/>
                  </a:rPr>
                  <a:t>Let</a:t>
                </a:r>
              </a:p>
              <a:p>
                <a:pPr marL="0" lvl="0" indent="0">
                  <a:buNone/>
                </a:pPr>
                <a:r>
                  <a:rPr lang="en-IN" sz="2000" b="1" dirty="0">
                    <a:latin typeface="Times New Roman" panose="02020603050405020304" pitchFamily="18" charset="0"/>
                    <a:cs typeface="Times New Roman" panose="02020603050405020304" pitchFamily="18" charset="0"/>
                  </a:rPr>
                  <a:t>Event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1</m:t>
                        </m:r>
                      </m:sub>
                    </m:sSub>
                  </m:oMath>
                </a14:m>
                <a:r>
                  <a:rPr lang="en-IN" sz="2000" dirty="0">
                    <a:latin typeface="Times New Roman" panose="02020603050405020304" pitchFamily="18" charset="0"/>
                    <a:cs typeface="Times New Roman" panose="02020603050405020304" pitchFamily="18" charset="0"/>
                  </a:rPr>
                  <a:t>: Item is produced by Machine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1</m:t>
                        </m:r>
                      </m:sub>
                    </m:sSub>
                  </m:oMath>
                </a14:m>
                <a:endParaRPr lang="en-IN" sz="2000" dirty="0">
                  <a:latin typeface="Times New Roman" panose="02020603050405020304" pitchFamily="18" charset="0"/>
                  <a:cs typeface="Times New Roman" panose="02020603050405020304" pitchFamily="18" charset="0"/>
                </a:endParaRPr>
              </a:p>
              <a:p>
                <a:pPr marL="0" lvl="0" indent="0">
                  <a:buNone/>
                </a:pPr>
                <a:r>
                  <a:rPr lang="en-IN" sz="2000" b="1" dirty="0">
                    <a:latin typeface="Times New Roman" panose="02020603050405020304" pitchFamily="18" charset="0"/>
                    <a:cs typeface="Times New Roman" panose="02020603050405020304" pitchFamily="18" charset="0"/>
                  </a:rPr>
                  <a:t>Event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2</m:t>
                        </m:r>
                      </m:sub>
                    </m:sSub>
                  </m:oMath>
                </a14:m>
                <a:r>
                  <a:rPr lang="en-IN" sz="2000" dirty="0">
                    <a:latin typeface="Times New Roman" panose="02020603050405020304" pitchFamily="18" charset="0"/>
                    <a:cs typeface="Times New Roman" panose="02020603050405020304" pitchFamily="18" charset="0"/>
                  </a:rPr>
                  <a:t>: Item is produced by Machine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2</m:t>
                        </m:r>
                      </m:sub>
                    </m:sSub>
                  </m:oMath>
                </a14:m>
                <a:endParaRPr lang="en-IN" sz="2000" dirty="0">
                  <a:latin typeface="Times New Roman" panose="02020603050405020304" pitchFamily="18" charset="0"/>
                  <a:cs typeface="Times New Roman" panose="02020603050405020304" pitchFamily="18" charset="0"/>
                </a:endParaRPr>
              </a:p>
              <a:p>
                <a:pPr marL="0" lvl="0" indent="0">
                  <a:buNone/>
                </a:pPr>
                <a:r>
                  <a:rPr lang="en-IN" sz="2000" b="1" dirty="0">
                    <a:latin typeface="Times New Roman" panose="02020603050405020304" pitchFamily="18" charset="0"/>
                    <a:cs typeface="Times New Roman" panose="02020603050405020304" pitchFamily="18" charset="0"/>
                  </a:rPr>
                  <a:t>Event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3</m:t>
                        </m:r>
                      </m:sub>
                    </m:sSub>
                  </m:oMath>
                </a14:m>
                <a:r>
                  <a:rPr lang="en-IN" sz="2000" dirty="0">
                    <a:latin typeface="Times New Roman" panose="02020603050405020304" pitchFamily="18" charset="0"/>
                    <a:cs typeface="Times New Roman" panose="02020603050405020304" pitchFamily="18" charset="0"/>
                  </a:rPr>
                  <a:t>: Item is produced by Machine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3</m:t>
                        </m:r>
                      </m:sub>
                    </m:sSub>
                  </m:oMath>
                </a14:m>
                <a:endParaRPr lang="en-IN" sz="2000" dirty="0">
                  <a:latin typeface="Times New Roman" panose="02020603050405020304" pitchFamily="18" charset="0"/>
                  <a:cs typeface="Times New Roman" panose="02020603050405020304" pitchFamily="18" charset="0"/>
                </a:endParaRPr>
              </a:p>
              <a:p>
                <a:pPr marL="0" lvl="0" indent="0">
                  <a:buNone/>
                </a:pPr>
                <a:r>
                  <a:rPr lang="en-IN" sz="2000" b="1" dirty="0">
                    <a:latin typeface="Times New Roman" panose="02020603050405020304" pitchFamily="18" charset="0"/>
                    <a:cs typeface="Times New Roman" panose="02020603050405020304" pitchFamily="18" charset="0"/>
                  </a:rPr>
                  <a:t>Event </a:t>
                </a:r>
                <a14:m>
                  <m:oMath xmlns:m="http://schemas.openxmlformats.org/officeDocument/2006/math">
                    <m:r>
                      <a:rPr lang="en-IN" sz="2000" i="1">
                        <a:latin typeface="Cambria Math" panose="02040503050406030204" pitchFamily="18" charset="0"/>
                      </a:rPr>
                      <m:t>𝐷</m:t>
                    </m:r>
                  </m:oMath>
                </a14:m>
                <a:r>
                  <a:rPr lang="en-IN" sz="2000" dirty="0">
                    <a:latin typeface="Times New Roman" panose="02020603050405020304" pitchFamily="18" charset="0"/>
                    <a:cs typeface="Times New Roman" panose="02020603050405020304" pitchFamily="18" charset="0"/>
                  </a:rPr>
                  <a:t>: Item is defective </a:t>
                </a:r>
              </a:p>
              <a:p>
                <a:pPr marL="0" indent="0">
                  <a:lnSpc>
                    <a:spcPct val="160000"/>
                  </a:lnSpc>
                  <a:buNone/>
                </a:pPr>
                <a:r>
                  <a:rPr lang="en-IN" sz="2000" dirty="0">
                    <a:latin typeface="Times New Roman" panose="02020603050405020304" pitchFamily="18" charset="0"/>
                    <a:cs typeface="Times New Roman" panose="02020603050405020304" pitchFamily="18" charset="0"/>
                  </a:rPr>
                  <a:t>Given,</a:t>
                </a:r>
              </a:p>
              <a:p>
                <a:pPr marL="0" indent="0">
                  <a:lnSpc>
                    <a:spcPct val="160000"/>
                  </a:lnSpc>
                  <a:buNone/>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𝑃</m:t>
                      </m:r>
                      <m:d>
                        <m:dPr>
                          <m:ctrlPr>
                            <a:rPr lang="en-IN" sz="2000" i="1">
                              <a:latin typeface="Cambria Math" panose="02040503050406030204" pitchFamily="18" charset="0"/>
                            </a:rPr>
                          </m:ctrlPr>
                        </m:dPr>
                        <m:e>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1</m:t>
                              </m:r>
                            </m:sub>
                          </m:sSub>
                        </m:e>
                      </m:d>
                      <m:r>
                        <a:rPr lang="en-IN" sz="2000">
                          <a:latin typeface="Cambria Math" panose="02040503050406030204" pitchFamily="18" charset="0"/>
                        </a:rPr>
                        <m:t>=0.40, </m:t>
                      </m:r>
                      <m:r>
                        <a:rPr lang="en-IN" sz="2000" i="1">
                          <a:latin typeface="Cambria Math" panose="02040503050406030204" pitchFamily="18" charset="0"/>
                        </a:rPr>
                        <m:t>𝑃</m:t>
                      </m:r>
                      <m:d>
                        <m:dPr>
                          <m:ctrlPr>
                            <a:rPr lang="en-IN" sz="2000" i="1">
                              <a:latin typeface="Cambria Math" panose="02040503050406030204" pitchFamily="18" charset="0"/>
                            </a:rPr>
                          </m:ctrlPr>
                        </m:dPr>
                        <m:e>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2</m:t>
                              </m:r>
                            </m:sub>
                          </m:sSub>
                        </m:e>
                      </m:d>
                      <m:r>
                        <a:rPr lang="en-IN" sz="2000">
                          <a:latin typeface="Cambria Math" panose="02040503050406030204" pitchFamily="18" charset="0"/>
                        </a:rPr>
                        <m:t>=0.25, </m:t>
                      </m:r>
                      <m:r>
                        <a:rPr lang="en-IN" sz="2000" i="1">
                          <a:latin typeface="Cambria Math" panose="02040503050406030204" pitchFamily="18" charset="0"/>
                        </a:rPr>
                        <m:t>𝑃</m:t>
                      </m:r>
                      <m:d>
                        <m:dPr>
                          <m:ctrlPr>
                            <a:rPr lang="en-IN" sz="2000" i="1">
                              <a:latin typeface="Cambria Math" panose="02040503050406030204" pitchFamily="18" charset="0"/>
                            </a:rPr>
                          </m:ctrlPr>
                        </m:dPr>
                        <m:e>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3</m:t>
                              </m:r>
                            </m:sub>
                          </m:sSub>
                        </m:e>
                      </m:d>
                      <m:r>
                        <a:rPr lang="en-IN" sz="2000">
                          <a:latin typeface="Cambria Math" panose="02040503050406030204" pitchFamily="18" charset="0"/>
                        </a:rPr>
                        <m:t>=0.35</m:t>
                      </m:r>
                    </m:oMath>
                  </m:oMathPara>
                </a14:m>
                <a:endParaRPr lang="en-IN" sz="2000" dirty="0">
                  <a:latin typeface="Times New Roman" panose="02020603050405020304" pitchFamily="18" charset="0"/>
                  <a:cs typeface="Times New Roman" panose="02020603050405020304" pitchFamily="18" charset="0"/>
                </a:endParaRPr>
              </a:p>
              <a:p>
                <a:pPr marL="0" indent="0">
                  <a:lnSpc>
                    <a:spcPct val="160000"/>
                  </a:lnSpc>
                  <a:buNone/>
                </a:pPr>
                <a14:m>
                  <m:oMathPara xmlns:m="http://schemas.openxmlformats.org/officeDocument/2006/math">
                    <m:oMathParaPr>
                      <m:jc m:val="left"/>
                    </m:oMathParaPr>
                    <m:oMath xmlns:m="http://schemas.openxmlformats.org/officeDocument/2006/math">
                      <m:r>
                        <a:rPr lang="en-IN" sz="2000" i="1">
                          <a:latin typeface="Cambria Math" panose="02040503050406030204" pitchFamily="18" charset="0"/>
                        </a:rPr>
                        <m:t>𝑃</m:t>
                      </m:r>
                      <m:d>
                        <m:dPr>
                          <m:ctrlPr>
                            <a:rPr lang="en-IN" sz="2000" i="1">
                              <a:latin typeface="Cambria Math" panose="02040503050406030204" pitchFamily="18" charset="0"/>
                            </a:rPr>
                          </m:ctrlPr>
                        </m:dPr>
                        <m:e>
                          <m:r>
                            <a:rPr lang="en-IN" sz="2000" i="1">
                              <a:latin typeface="Cambria Math" panose="02040503050406030204" pitchFamily="18" charset="0"/>
                            </a:rPr>
                            <m:t>𝐷</m:t>
                          </m:r>
                          <m:r>
                            <a:rPr lang="en-IN" sz="200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1</m:t>
                              </m:r>
                            </m:sub>
                          </m:sSub>
                        </m:e>
                      </m:d>
                      <m:r>
                        <a:rPr lang="en-IN" sz="2000">
                          <a:latin typeface="Cambria Math" panose="02040503050406030204" pitchFamily="18" charset="0"/>
                        </a:rPr>
                        <m:t>=0.15,</m:t>
                      </m:r>
                      <m:r>
                        <a:rPr lang="en-IN" sz="2000" i="1">
                          <a:latin typeface="Cambria Math" panose="02040503050406030204" pitchFamily="18" charset="0"/>
                        </a:rPr>
                        <m:t>𝑃</m:t>
                      </m:r>
                      <m:d>
                        <m:dPr>
                          <m:ctrlPr>
                            <a:rPr lang="en-IN" sz="2000" i="1">
                              <a:latin typeface="Cambria Math" panose="02040503050406030204" pitchFamily="18" charset="0"/>
                            </a:rPr>
                          </m:ctrlPr>
                        </m:dPr>
                        <m:e>
                          <m:r>
                            <a:rPr lang="en-IN" sz="2000" i="1">
                              <a:latin typeface="Cambria Math" panose="02040503050406030204" pitchFamily="18" charset="0"/>
                            </a:rPr>
                            <m:t>𝐷</m:t>
                          </m:r>
                          <m:r>
                            <a:rPr lang="en-IN" sz="200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2</m:t>
                              </m:r>
                            </m:sub>
                          </m:sSub>
                        </m:e>
                      </m:d>
                      <m:r>
                        <a:rPr lang="en-IN" sz="2000">
                          <a:latin typeface="Cambria Math" panose="02040503050406030204" pitchFamily="18" charset="0"/>
                        </a:rPr>
                        <m:t>=0.20</m:t>
                      </m:r>
                      <m:r>
                        <a:rPr lang="en-IN" sz="2000" b="0" i="0" smtClean="0">
                          <a:latin typeface="Cambria Math" panose="02040503050406030204" pitchFamily="18" charset="0"/>
                        </a:rPr>
                        <m:t>,</m:t>
                      </m:r>
                      <m:r>
                        <a:rPr lang="en-IN" sz="2000" b="0" i="1" smtClean="0">
                          <a:latin typeface="Cambria Math" panose="02040503050406030204" pitchFamily="18" charset="0"/>
                        </a:rPr>
                        <m:t> </m:t>
                      </m:r>
                      <m:r>
                        <a:rPr lang="en-IN" sz="2000" i="1">
                          <a:latin typeface="Cambria Math" panose="02040503050406030204" pitchFamily="18" charset="0"/>
                        </a:rPr>
                        <m:t>𝑃</m:t>
                      </m:r>
                      <m:d>
                        <m:dPr>
                          <m:ctrlPr>
                            <a:rPr lang="en-IN" sz="2000" i="1">
                              <a:latin typeface="Cambria Math" panose="02040503050406030204" pitchFamily="18" charset="0"/>
                            </a:rPr>
                          </m:ctrlPr>
                        </m:dPr>
                        <m:e>
                          <m:r>
                            <a:rPr lang="en-IN" sz="2000" i="1">
                              <a:latin typeface="Cambria Math" panose="02040503050406030204" pitchFamily="18" charset="0"/>
                            </a:rPr>
                            <m:t>𝐷</m:t>
                          </m:r>
                          <m:r>
                            <a:rPr lang="en-IN" sz="2000">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𝑀</m:t>
                              </m:r>
                            </m:e>
                            <m:sub>
                              <m:r>
                                <a:rPr lang="en-IN" sz="2000">
                                  <a:latin typeface="Cambria Math" panose="02040503050406030204" pitchFamily="18" charset="0"/>
                                </a:rPr>
                                <m:t>3</m:t>
                              </m:r>
                            </m:sub>
                          </m:sSub>
                        </m:e>
                      </m:d>
                      <m:r>
                        <a:rPr lang="en-IN" sz="2000">
                          <a:latin typeface="Cambria Math" panose="02040503050406030204" pitchFamily="18" charset="0"/>
                        </a:rPr>
                        <m:t>=0.25</m:t>
                      </m:r>
                    </m:oMath>
                  </m:oMathPara>
                </a14:m>
                <a:endParaRPr lang="en-IN" sz="2000" dirty="0">
                  <a:latin typeface="Times New Roman" panose="02020603050405020304" pitchFamily="18" charset="0"/>
                  <a:cs typeface="Times New Roman" panose="02020603050405020304" pitchFamily="18" charset="0"/>
                </a:endParaRPr>
              </a:p>
              <a:p>
                <a:pPr marL="0" indent="0">
                  <a:lnSpc>
                    <a:spcPct val="160000"/>
                  </a:lnSpc>
                  <a:buNone/>
                </a:pPr>
                <a:r>
                  <a:rPr lang="en-IN" sz="2000" b="1" dirty="0">
                    <a:latin typeface="Times New Roman" panose="02020603050405020304" pitchFamily="18" charset="0"/>
                    <a:cs typeface="Times New Roman" panose="02020603050405020304" pitchFamily="18" charset="0"/>
                  </a:rPr>
                  <a:t>(</a:t>
                </a:r>
                <a:r>
                  <a:rPr lang="en-IN" sz="2000" b="1" dirty="0" err="1">
                    <a:latin typeface="Times New Roman" panose="02020603050405020304" pitchFamily="18" charset="0"/>
                    <a:cs typeface="Times New Roman" panose="02020603050405020304" pitchFamily="18" charset="0"/>
                  </a:rPr>
                  <a:t>i</a:t>
                </a:r>
                <a:r>
                  <a:rPr lang="en-IN" sz="2000" b="1" dirty="0">
                    <a:latin typeface="Times New Roman" panose="02020603050405020304" pitchFamily="18" charset="0"/>
                    <a:cs typeface="Times New Roman" panose="02020603050405020304" pitchFamily="18" charset="0"/>
                  </a:rPr>
                  <a:t>) Total probability of defective items produced</a:t>
                </a:r>
              </a:p>
              <a:p>
                <a:pPr marL="0" indent="0">
                  <a:lnSpc>
                    <a:spcPct val="160000"/>
                  </a:lnSpc>
                  <a:buNone/>
                </a:pPr>
                <a:r>
                  <a:rPr lang="en-IN" sz="2000" b="1" dirty="0">
                    <a:latin typeface="Times New Roman" panose="02020603050405020304" pitchFamily="18" charset="0"/>
                    <a:cs typeface="Times New Roman" panose="02020603050405020304" pitchFamily="18" charset="0"/>
                  </a:rPr>
                  <a:t>By the Law of Total Probability,</a:t>
                </a:r>
              </a:p>
              <a:p>
                <a:pPr marL="0" indent="0">
                  <a:lnSpc>
                    <a:spcPct val="160000"/>
                  </a:lnSpc>
                  <a:buNone/>
                </a:pPr>
                <a14:m>
                  <m:oMathPara xmlns:m="http://schemas.openxmlformats.org/officeDocument/2006/math">
                    <m:oMathParaPr>
                      <m:jc m:val="centerGroup"/>
                    </m:oMathParaPr>
                    <m:oMath xmlns:m="http://schemas.openxmlformats.org/officeDocument/2006/math">
                      <m:r>
                        <a:rPr lang="en-IN" sz="2000" b="1">
                          <a:latin typeface="Cambria Math" panose="02040503050406030204" pitchFamily="18" charset="0"/>
                        </a:rPr>
                        <m:t>𝑃</m:t>
                      </m:r>
                      <m:d>
                        <m:dPr>
                          <m:ctrlPr>
                            <a:rPr lang="en-IN" sz="2000" b="1" i="1">
                              <a:latin typeface="Cambria Math" panose="02040503050406030204" pitchFamily="18" charset="0"/>
                            </a:rPr>
                          </m:ctrlPr>
                        </m:dPr>
                        <m:e>
                          <m:r>
                            <a:rPr lang="en-IN" sz="2000" b="1">
                              <a:latin typeface="Cambria Math" panose="02040503050406030204" pitchFamily="18" charset="0"/>
                            </a:rPr>
                            <m:t>𝐷</m:t>
                          </m:r>
                        </m:e>
                      </m:d>
                      <m:r>
                        <a:rPr lang="en-IN" sz="2000" b="1">
                          <a:latin typeface="Cambria Math" panose="02040503050406030204" pitchFamily="18" charset="0"/>
                        </a:rPr>
                        <m:t>=</m:t>
                      </m:r>
                      <m:r>
                        <a:rPr lang="en-IN" sz="2000" b="1">
                          <a:latin typeface="Cambria Math" panose="02040503050406030204" pitchFamily="18" charset="0"/>
                        </a:rPr>
                        <m:t>𝑃</m:t>
                      </m:r>
                      <m:d>
                        <m:dPr>
                          <m:ctrlPr>
                            <a:rPr lang="en-IN" sz="2000" b="1" i="1">
                              <a:latin typeface="Cambria Math" panose="02040503050406030204" pitchFamily="18" charset="0"/>
                            </a:rPr>
                          </m:ctrlPr>
                        </m:dPr>
                        <m:e>
                          <m:sSub>
                            <m:sSubPr>
                              <m:ctrlPr>
                                <a:rPr lang="en-IN" sz="2000" b="1" i="1">
                                  <a:latin typeface="Cambria Math" panose="02040503050406030204" pitchFamily="18" charset="0"/>
                                </a:rPr>
                              </m:ctrlPr>
                            </m:sSubPr>
                            <m:e>
                              <m:r>
                                <a:rPr lang="en-IN" sz="2000" b="1">
                                  <a:latin typeface="Cambria Math" panose="02040503050406030204" pitchFamily="18" charset="0"/>
                                </a:rPr>
                                <m:t>𝑀</m:t>
                              </m:r>
                            </m:e>
                            <m:sub>
                              <m:r>
                                <a:rPr lang="en-IN" sz="2000" b="1">
                                  <a:latin typeface="Cambria Math" panose="02040503050406030204" pitchFamily="18" charset="0"/>
                                </a:rPr>
                                <m:t>1</m:t>
                              </m:r>
                            </m:sub>
                          </m:sSub>
                        </m:e>
                      </m:d>
                      <m:r>
                        <a:rPr lang="en-IN" sz="2000" b="1">
                          <a:latin typeface="Cambria Math" panose="02040503050406030204" pitchFamily="18" charset="0"/>
                        </a:rPr>
                        <m:t>𝑃</m:t>
                      </m:r>
                      <m:d>
                        <m:dPr>
                          <m:ctrlPr>
                            <a:rPr lang="en-IN" sz="2000" b="1" i="1">
                              <a:latin typeface="Cambria Math" panose="02040503050406030204" pitchFamily="18" charset="0"/>
                            </a:rPr>
                          </m:ctrlPr>
                        </m:dPr>
                        <m:e>
                          <m:r>
                            <a:rPr lang="en-IN" sz="2000" b="1">
                              <a:latin typeface="Cambria Math" panose="02040503050406030204" pitchFamily="18" charset="0"/>
                            </a:rPr>
                            <m:t>𝐷</m:t>
                          </m:r>
                          <m:r>
                            <a:rPr lang="en-IN" sz="2000" b="1">
                              <a:latin typeface="Cambria Math" panose="02040503050406030204" pitchFamily="18" charset="0"/>
                            </a:rPr>
                            <m:t>∣</m:t>
                          </m:r>
                          <m:sSub>
                            <m:sSubPr>
                              <m:ctrlPr>
                                <a:rPr lang="en-IN" sz="2000" b="1" i="1">
                                  <a:latin typeface="Cambria Math" panose="02040503050406030204" pitchFamily="18" charset="0"/>
                                </a:rPr>
                              </m:ctrlPr>
                            </m:sSubPr>
                            <m:e>
                              <m:r>
                                <a:rPr lang="en-IN" sz="2000" b="1">
                                  <a:latin typeface="Cambria Math" panose="02040503050406030204" pitchFamily="18" charset="0"/>
                                </a:rPr>
                                <m:t>𝑀</m:t>
                              </m:r>
                            </m:e>
                            <m:sub>
                              <m:r>
                                <a:rPr lang="en-IN" sz="2000" b="1">
                                  <a:latin typeface="Cambria Math" panose="02040503050406030204" pitchFamily="18" charset="0"/>
                                </a:rPr>
                                <m:t>1</m:t>
                              </m:r>
                            </m:sub>
                          </m:sSub>
                        </m:e>
                      </m:d>
                      <m:r>
                        <a:rPr lang="en-IN" sz="2000" b="1">
                          <a:latin typeface="Cambria Math" panose="02040503050406030204" pitchFamily="18" charset="0"/>
                        </a:rPr>
                        <m:t>+</m:t>
                      </m:r>
                      <m:r>
                        <a:rPr lang="en-IN" sz="2000" b="1">
                          <a:latin typeface="Cambria Math" panose="02040503050406030204" pitchFamily="18" charset="0"/>
                        </a:rPr>
                        <m:t>𝑃</m:t>
                      </m:r>
                      <m:d>
                        <m:dPr>
                          <m:ctrlPr>
                            <a:rPr lang="en-IN" sz="2000" b="1" i="1">
                              <a:latin typeface="Cambria Math" panose="02040503050406030204" pitchFamily="18" charset="0"/>
                            </a:rPr>
                          </m:ctrlPr>
                        </m:dPr>
                        <m:e>
                          <m:sSub>
                            <m:sSubPr>
                              <m:ctrlPr>
                                <a:rPr lang="en-IN" sz="2000" b="1" i="1">
                                  <a:latin typeface="Cambria Math" panose="02040503050406030204" pitchFamily="18" charset="0"/>
                                </a:rPr>
                              </m:ctrlPr>
                            </m:sSubPr>
                            <m:e>
                              <m:r>
                                <a:rPr lang="en-IN" sz="2000" b="1">
                                  <a:latin typeface="Cambria Math" panose="02040503050406030204" pitchFamily="18" charset="0"/>
                                </a:rPr>
                                <m:t>𝑀</m:t>
                              </m:r>
                            </m:e>
                            <m:sub>
                              <m:r>
                                <a:rPr lang="en-IN" sz="2000" b="1">
                                  <a:latin typeface="Cambria Math" panose="02040503050406030204" pitchFamily="18" charset="0"/>
                                </a:rPr>
                                <m:t>2</m:t>
                              </m:r>
                            </m:sub>
                          </m:sSub>
                        </m:e>
                      </m:d>
                      <m:r>
                        <a:rPr lang="en-IN" sz="2000" b="1">
                          <a:latin typeface="Cambria Math" panose="02040503050406030204" pitchFamily="18" charset="0"/>
                        </a:rPr>
                        <m:t>𝑃</m:t>
                      </m:r>
                      <m:d>
                        <m:dPr>
                          <m:ctrlPr>
                            <a:rPr lang="en-IN" sz="2000" b="1" i="1">
                              <a:latin typeface="Cambria Math" panose="02040503050406030204" pitchFamily="18" charset="0"/>
                            </a:rPr>
                          </m:ctrlPr>
                        </m:dPr>
                        <m:e>
                          <m:r>
                            <a:rPr lang="en-IN" sz="2000" b="1">
                              <a:latin typeface="Cambria Math" panose="02040503050406030204" pitchFamily="18" charset="0"/>
                            </a:rPr>
                            <m:t>𝐷</m:t>
                          </m:r>
                          <m:r>
                            <a:rPr lang="en-IN" sz="2000" b="1">
                              <a:latin typeface="Cambria Math" panose="02040503050406030204" pitchFamily="18" charset="0"/>
                            </a:rPr>
                            <m:t>∣</m:t>
                          </m:r>
                          <m:sSub>
                            <m:sSubPr>
                              <m:ctrlPr>
                                <a:rPr lang="en-IN" sz="2000" b="1" i="1">
                                  <a:latin typeface="Cambria Math" panose="02040503050406030204" pitchFamily="18" charset="0"/>
                                </a:rPr>
                              </m:ctrlPr>
                            </m:sSubPr>
                            <m:e>
                              <m:r>
                                <a:rPr lang="en-IN" sz="2000" b="1">
                                  <a:latin typeface="Cambria Math" panose="02040503050406030204" pitchFamily="18" charset="0"/>
                                </a:rPr>
                                <m:t>𝑀</m:t>
                              </m:r>
                            </m:e>
                            <m:sub>
                              <m:r>
                                <a:rPr lang="en-IN" sz="2000" b="1">
                                  <a:latin typeface="Cambria Math" panose="02040503050406030204" pitchFamily="18" charset="0"/>
                                </a:rPr>
                                <m:t>2</m:t>
                              </m:r>
                            </m:sub>
                          </m:sSub>
                        </m:e>
                      </m:d>
                      <m:r>
                        <a:rPr lang="en-IN" sz="2000" b="1">
                          <a:latin typeface="Cambria Math" panose="02040503050406030204" pitchFamily="18" charset="0"/>
                        </a:rPr>
                        <m:t>+</m:t>
                      </m:r>
                      <m:r>
                        <a:rPr lang="en-IN" sz="2000" b="1">
                          <a:latin typeface="Cambria Math" panose="02040503050406030204" pitchFamily="18" charset="0"/>
                        </a:rPr>
                        <m:t>𝑃</m:t>
                      </m:r>
                      <m:d>
                        <m:dPr>
                          <m:ctrlPr>
                            <a:rPr lang="en-IN" sz="2000" b="1" i="1">
                              <a:latin typeface="Cambria Math" panose="02040503050406030204" pitchFamily="18" charset="0"/>
                            </a:rPr>
                          </m:ctrlPr>
                        </m:dPr>
                        <m:e>
                          <m:sSub>
                            <m:sSubPr>
                              <m:ctrlPr>
                                <a:rPr lang="en-IN" sz="2000" b="1" i="1">
                                  <a:latin typeface="Cambria Math" panose="02040503050406030204" pitchFamily="18" charset="0"/>
                                </a:rPr>
                              </m:ctrlPr>
                            </m:sSubPr>
                            <m:e>
                              <m:r>
                                <a:rPr lang="en-IN" sz="2000" b="1">
                                  <a:latin typeface="Cambria Math" panose="02040503050406030204" pitchFamily="18" charset="0"/>
                                </a:rPr>
                                <m:t>𝑀</m:t>
                              </m:r>
                            </m:e>
                            <m:sub>
                              <m:r>
                                <a:rPr lang="en-IN" sz="2000" b="1">
                                  <a:latin typeface="Cambria Math" panose="02040503050406030204" pitchFamily="18" charset="0"/>
                                </a:rPr>
                                <m:t>3</m:t>
                              </m:r>
                            </m:sub>
                          </m:sSub>
                        </m:e>
                      </m:d>
                      <m:r>
                        <a:rPr lang="en-IN" sz="2000" b="1">
                          <a:latin typeface="Cambria Math" panose="02040503050406030204" pitchFamily="18" charset="0"/>
                        </a:rPr>
                        <m:t>𝑃</m:t>
                      </m:r>
                      <m:d>
                        <m:dPr>
                          <m:ctrlPr>
                            <a:rPr lang="en-IN" sz="2000" b="1" i="1">
                              <a:latin typeface="Cambria Math" panose="02040503050406030204" pitchFamily="18" charset="0"/>
                            </a:rPr>
                          </m:ctrlPr>
                        </m:dPr>
                        <m:e>
                          <m:r>
                            <a:rPr lang="en-IN" sz="2000" b="1">
                              <a:latin typeface="Cambria Math" panose="02040503050406030204" pitchFamily="18" charset="0"/>
                            </a:rPr>
                            <m:t>𝐷</m:t>
                          </m:r>
                          <m:r>
                            <a:rPr lang="en-IN" sz="2000" b="1">
                              <a:latin typeface="Cambria Math" panose="02040503050406030204" pitchFamily="18" charset="0"/>
                            </a:rPr>
                            <m:t>∣</m:t>
                          </m:r>
                          <m:sSub>
                            <m:sSubPr>
                              <m:ctrlPr>
                                <a:rPr lang="en-IN" sz="2000" b="1" i="1">
                                  <a:latin typeface="Cambria Math" panose="02040503050406030204" pitchFamily="18" charset="0"/>
                                </a:rPr>
                              </m:ctrlPr>
                            </m:sSubPr>
                            <m:e>
                              <m:r>
                                <a:rPr lang="en-IN" sz="2000" b="1">
                                  <a:latin typeface="Cambria Math" panose="02040503050406030204" pitchFamily="18" charset="0"/>
                                </a:rPr>
                                <m:t>𝑀</m:t>
                              </m:r>
                            </m:e>
                            <m:sub>
                              <m:r>
                                <a:rPr lang="en-IN" sz="2000" b="1">
                                  <a:latin typeface="Cambria Math" panose="02040503050406030204" pitchFamily="18" charset="0"/>
                                </a:rPr>
                                <m:t>3</m:t>
                              </m:r>
                            </m:sub>
                          </m:sSub>
                        </m:e>
                      </m:d>
                    </m:oMath>
                  </m:oMathPara>
                </a14:m>
                <a:endParaRPr lang="en-IN" sz="2000" b="1" dirty="0">
                  <a:latin typeface="Times New Roman" panose="02020603050405020304" pitchFamily="18" charset="0"/>
                  <a:cs typeface="Times New Roman" panose="02020603050405020304" pitchFamily="18" charset="0"/>
                </a:endParaRPr>
              </a:p>
              <a:p>
                <a:pPr marL="0" indent="0">
                  <a:lnSpc>
                    <a:spcPct val="160000"/>
                  </a:lnSpc>
                  <a:buNone/>
                </a:pPr>
                <a14:m>
                  <m:oMathPara xmlns:m="http://schemas.openxmlformats.org/officeDocument/2006/math">
                    <m:oMathParaPr>
                      <m:jc m:val="centerGroup"/>
                    </m:oMathParaPr>
                    <m:oMath xmlns:m="http://schemas.openxmlformats.org/officeDocument/2006/math">
                      <m:r>
                        <a:rPr lang="en-IN" sz="2000" b="1">
                          <a:latin typeface="Cambria Math" panose="02040503050406030204" pitchFamily="18" charset="0"/>
                        </a:rPr>
                        <m:t>=</m:t>
                      </m:r>
                      <m:d>
                        <m:dPr>
                          <m:ctrlPr>
                            <a:rPr lang="en-IN" sz="2000" b="1" i="1">
                              <a:latin typeface="Cambria Math" panose="02040503050406030204" pitchFamily="18" charset="0"/>
                            </a:rPr>
                          </m:ctrlPr>
                        </m:dPr>
                        <m:e>
                          <m:r>
                            <a:rPr lang="en-IN" sz="2000" b="1">
                              <a:latin typeface="Cambria Math" panose="02040503050406030204" pitchFamily="18" charset="0"/>
                            </a:rPr>
                            <m:t>0.40</m:t>
                          </m:r>
                        </m:e>
                      </m:d>
                      <m:d>
                        <m:dPr>
                          <m:ctrlPr>
                            <a:rPr lang="en-IN" sz="2000" b="1" i="1">
                              <a:latin typeface="Cambria Math" panose="02040503050406030204" pitchFamily="18" charset="0"/>
                            </a:rPr>
                          </m:ctrlPr>
                        </m:dPr>
                        <m:e>
                          <m:r>
                            <a:rPr lang="en-IN" sz="2000" b="1">
                              <a:latin typeface="Cambria Math" panose="02040503050406030204" pitchFamily="18" charset="0"/>
                            </a:rPr>
                            <m:t>0.15</m:t>
                          </m:r>
                        </m:e>
                      </m:d>
                      <m:r>
                        <a:rPr lang="en-IN" sz="2000" b="1">
                          <a:latin typeface="Cambria Math" panose="02040503050406030204" pitchFamily="18" charset="0"/>
                        </a:rPr>
                        <m:t>+</m:t>
                      </m:r>
                      <m:d>
                        <m:dPr>
                          <m:ctrlPr>
                            <a:rPr lang="en-IN" sz="2000" b="1" i="1">
                              <a:latin typeface="Cambria Math" panose="02040503050406030204" pitchFamily="18" charset="0"/>
                            </a:rPr>
                          </m:ctrlPr>
                        </m:dPr>
                        <m:e>
                          <m:r>
                            <a:rPr lang="en-IN" sz="2000" b="1">
                              <a:latin typeface="Cambria Math" panose="02040503050406030204" pitchFamily="18" charset="0"/>
                            </a:rPr>
                            <m:t>0.25</m:t>
                          </m:r>
                        </m:e>
                      </m:d>
                      <m:d>
                        <m:dPr>
                          <m:ctrlPr>
                            <a:rPr lang="en-IN" sz="2000" b="1" i="1">
                              <a:latin typeface="Cambria Math" panose="02040503050406030204" pitchFamily="18" charset="0"/>
                            </a:rPr>
                          </m:ctrlPr>
                        </m:dPr>
                        <m:e>
                          <m:r>
                            <a:rPr lang="en-IN" sz="2000" b="1">
                              <a:latin typeface="Cambria Math" panose="02040503050406030204" pitchFamily="18" charset="0"/>
                            </a:rPr>
                            <m:t>0.20</m:t>
                          </m:r>
                        </m:e>
                      </m:d>
                      <m:r>
                        <a:rPr lang="en-IN" sz="2000" b="1">
                          <a:latin typeface="Cambria Math" panose="02040503050406030204" pitchFamily="18" charset="0"/>
                        </a:rPr>
                        <m:t>+</m:t>
                      </m:r>
                      <m:d>
                        <m:dPr>
                          <m:ctrlPr>
                            <a:rPr lang="en-IN" sz="2000" b="1" i="1">
                              <a:latin typeface="Cambria Math" panose="02040503050406030204" pitchFamily="18" charset="0"/>
                            </a:rPr>
                          </m:ctrlPr>
                        </m:dPr>
                        <m:e>
                          <m:r>
                            <a:rPr lang="en-IN" sz="2000" b="1">
                              <a:latin typeface="Cambria Math" panose="02040503050406030204" pitchFamily="18" charset="0"/>
                            </a:rPr>
                            <m:t>0.35</m:t>
                          </m:r>
                        </m:e>
                      </m:d>
                      <m:d>
                        <m:dPr>
                          <m:ctrlPr>
                            <a:rPr lang="en-IN" sz="2000" b="1" i="1">
                              <a:latin typeface="Cambria Math" panose="02040503050406030204" pitchFamily="18" charset="0"/>
                            </a:rPr>
                          </m:ctrlPr>
                        </m:dPr>
                        <m:e>
                          <m:r>
                            <a:rPr lang="en-IN" sz="2000" b="1">
                              <a:latin typeface="Cambria Math" panose="02040503050406030204" pitchFamily="18" charset="0"/>
                            </a:rPr>
                            <m:t>0.25</m:t>
                          </m:r>
                        </m:e>
                      </m:d>
                    </m:oMath>
                  </m:oMathPara>
                </a14:m>
                <a:endParaRPr lang="en-IN" sz="2000" b="1" dirty="0">
                  <a:latin typeface="Times New Roman" panose="02020603050405020304" pitchFamily="18" charset="0"/>
                  <a:cs typeface="Times New Roman" panose="02020603050405020304" pitchFamily="18" charset="0"/>
                </a:endParaRPr>
              </a:p>
              <a:p>
                <a:pPr marL="0" indent="0">
                  <a:lnSpc>
                    <a:spcPct val="160000"/>
                  </a:lnSpc>
                  <a:buNone/>
                </a:pPr>
                <a14:m>
                  <m:oMath xmlns:m="http://schemas.openxmlformats.org/officeDocument/2006/math">
                    <m:r>
                      <a:rPr lang="en-IN" sz="2000" b="1">
                        <a:latin typeface="Cambria Math" panose="02040503050406030204" pitchFamily="18" charset="0"/>
                      </a:rPr>
                      <m:t>=0.06+0.05+0.0875</m:t>
                    </m:r>
                  </m:oMath>
                </a14:m>
                <a:r>
                  <a:rPr lang="en-IN" sz="2000" b="1" dirty="0">
                    <a:latin typeface="Times New Roman" panose="02020603050405020304" pitchFamily="18" charset="0"/>
                    <a:cs typeface="Times New Roman" panose="02020603050405020304" pitchFamily="18" charset="0"/>
                  </a:rPr>
                  <a:t>=0.1975=19.75%</a:t>
                </a:r>
              </a:p>
              <a:p>
                <a:pPr marL="0" indent="0">
                  <a:buNone/>
                </a:pPr>
                <a:endParaRPr lang="en-IN" dirty="0">
                  <a:latin typeface="Times New Roman" panose="02020603050405020304" pitchFamily="18" charset="0"/>
                  <a:cs typeface="Times New Roman" panose="02020603050405020304" pitchFamily="18" charset="0"/>
                </a:endParaRPr>
              </a:p>
            </p:txBody>
          </p:sp>
        </mc:Choice>
        <mc:Fallback xmlns="">
          <p:sp>
            <p:nvSpPr>
              <p:cNvPr id="5" name="Content Placeholder 4">
                <a:extLst>
                  <a:ext uri="{FF2B5EF4-FFF2-40B4-BE49-F238E27FC236}">
                    <a16:creationId xmlns:a16="http://schemas.microsoft.com/office/drawing/2014/main" id="{54E17838-736D-69E8-7A81-702593B9DAC6}"/>
                  </a:ext>
                </a:extLst>
              </p:cNvPr>
              <p:cNvSpPr>
                <a:spLocks noGrp="1" noRot="1" noChangeAspect="1" noMove="1" noResize="1" noEditPoints="1" noAdjustHandles="1" noChangeArrowheads="1" noChangeShapeType="1" noTextEdit="1"/>
              </p:cNvSpPr>
              <p:nvPr>
                <p:ph sz="half" idx="4294967295"/>
              </p:nvPr>
            </p:nvSpPr>
            <p:spPr>
              <a:xfrm>
                <a:off x="242888" y="736600"/>
                <a:ext cx="6086475" cy="5495925"/>
              </a:xfrm>
              <a:blipFill>
                <a:blip r:embed="rId2"/>
                <a:stretch>
                  <a:fillRect l="-701" t="-12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F30C09A5-0D72-B0DF-7447-653B98F62718}"/>
                  </a:ext>
                </a:extLst>
              </p:cNvPr>
              <p:cNvSpPr>
                <a:spLocks noGrp="1"/>
              </p:cNvSpPr>
              <p:nvPr>
                <p:ph sz="half" idx="4294967295"/>
              </p:nvPr>
            </p:nvSpPr>
            <p:spPr>
              <a:xfrm>
                <a:off x="6224588" y="244475"/>
                <a:ext cx="5862637" cy="5935663"/>
              </a:xfrm>
            </p:spPr>
            <p:txBody>
              <a:bodyPr>
                <a:normAutofit fontScale="85000" lnSpcReduction="10000"/>
              </a:bodyPr>
              <a:lstStyle/>
              <a:p>
                <a:pPr marL="0" indent="0">
                  <a:buNone/>
                </a:pPr>
                <a:r>
                  <a:rPr lang="en-IN" sz="2000" b="1" dirty="0">
                    <a:latin typeface="Times New Roman" panose="02020603050405020304" pitchFamily="18" charset="0"/>
                    <a:cs typeface="Times New Roman" panose="02020603050405020304" pitchFamily="18" charset="0"/>
                  </a:rPr>
                  <a:t>Probability that a defective item is produced by Machine </a:t>
                </a:r>
                <a14:m>
                  <m:oMath xmlns:m="http://schemas.openxmlformats.org/officeDocument/2006/math">
                    <m:sSub>
                      <m:sSubPr>
                        <m:ctrlPr>
                          <a:rPr lang="en-IN" sz="2000" b="1" i="1">
                            <a:latin typeface="Cambria Math" panose="02040503050406030204" pitchFamily="18" charset="0"/>
                            <a:cs typeface="Times New Roman" panose="02020603050405020304" pitchFamily="18" charset="0"/>
                          </a:rPr>
                        </m:ctrlPr>
                      </m:sSubPr>
                      <m:e>
                        <m:r>
                          <a:rPr lang="en-IN" sz="2000" b="1">
                            <a:latin typeface="Cambria Math" panose="02040503050406030204" pitchFamily="18" charset="0"/>
                            <a:cs typeface="Times New Roman" panose="02020603050405020304" pitchFamily="18" charset="0"/>
                          </a:rPr>
                          <m:t>𝑀</m:t>
                        </m:r>
                      </m:e>
                      <m:sub>
                        <m:r>
                          <a:rPr lang="en-IN" sz="2000" b="1">
                            <a:latin typeface="Cambria Math" panose="02040503050406030204" pitchFamily="18" charset="0"/>
                            <a:cs typeface="Times New Roman" panose="02020603050405020304" pitchFamily="18" charset="0"/>
                          </a:rPr>
                          <m:t>1</m:t>
                        </m:r>
                      </m:sub>
                    </m:sSub>
                  </m:oMath>
                </a14:m>
                <a:endParaRPr lang="en-IN" sz="2000" b="1"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Using Bayes' Theorem,</a:t>
                </a:r>
              </a:p>
              <a:p>
                <a:pPr marL="0" indent="0">
                  <a:buNone/>
                </a:pPr>
                <a14:m>
                  <m:oMathPara xmlns:m="http://schemas.openxmlformats.org/officeDocument/2006/math">
                    <m:oMathParaPr>
                      <m:jc m:val="centerGroup"/>
                    </m:oMathParaPr>
                    <m:oMath xmlns:m="http://schemas.openxmlformats.org/officeDocument/2006/math">
                      <m:r>
                        <m:rPr>
                          <m:sty m:val="p"/>
                        </m:rPr>
                        <a:rPr lang="en-IN" sz="2000" b="0" i="1" smtClean="0">
                          <a:latin typeface="Cambria Math" panose="02040503050406030204" pitchFamily="18" charset="0"/>
                          <a:cs typeface="Times New Roman" panose="02020603050405020304" pitchFamily="18" charset="0"/>
                        </a:rPr>
                        <m:t>P</m:t>
                      </m:r>
                      <m:d>
                        <m:dPr>
                          <m:ctrlPr>
                            <a:rPr lang="en-IN" sz="2000" b="0" i="1" smtClean="0">
                              <a:latin typeface="Cambria Math" panose="02040503050406030204" pitchFamily="18" charset="0"/>
                              <a:cs typeface="Times New Roman" panose="02020603050405020304" pitchFamily="18" charset="0"/>
                            </a:rPr>
                          </m:ctrlPr>
                        </m:dPr>
                        <m:e>
                          <m:sSub>
                            <m:sSubPr>
                              <m:ctrlPr>
                                <a:rPr lang="en-IN" sz="2000" b="0" i="1" smtClean="0">
                                  <a:latin typeface="Cambria Math" panose="02040503050406030204" pitchFamily="18" charset="0"/>
                                  <a:cs typeface="Times New Roman" panose="02020603050405020304" pitchFamily="18" charset="0"/>
                                </a:rPr>
                              </m:ctrlPr>
                            </m:sSubPr>
                            <m:e>
                              <m:r>
                                <m:rPr>
                                  <m:sty m:val="p"/>
                                </m:rPr>
                                <a:rPr lang="en-IN" sz="2000" b="0" i="1" smtClean="0">
                                  <a:latin typeface="Cambria Math" panose="02040503050406030204" pitchFamily="18" charset="0"/>
                                  <a:cs typeface="Times New Roman" panose="02020603050405020304" pitchFamily="18" charset="0"/>
                                </a:rPr>
                                <m:t>M</m:t>
                              </m:r>
                            </m:e>
                            <m:sub>
                              <m:r>
                                <a:rPr lang="en-IN" sz="2000" b="0" smtClean="0">
                                  <a:latin typeface="Cambria Math" panose="02040503050406030204" pitchFamily="18" charset="0"/>
                                  <a:cs typeface="Times New Roman" panose="02020603050405020304" pitchFamily="18" charset="0"/>
                                </a:rPr>
                                <m:t>1</m:t>
                              </m:r>
                            </m:sub>
                          </m:sSub>
                          <m:r>
                            <a:rPr lang="en-IN" sz="2000" b="0" smtClean="0">
                              <a:latin typeface="Cambria Math" panose="02040503050406030204" pitchFamily="18" charset="0"/>
                              <a:cs typeface="Times New Roman" panose="02020603050405020304" pitchFamily="18" charset="0"/>
                            </a:rPr>
                            <m:t>∣</m:t>
                          </m:r>
                          <m:r>
                            <m:rPr>
                              <m:sty m:val="p"/>
                            </m:rPr>
                            <a:rPr lang="en-IN" sz="2000" b="0" i="1">
                              <a:latin typeface="Cambria Math" panose="02040503050406030204" pitchFamily="18" charset="0"/>
                              <a:cs typeface="Times New Roman" panose="02020603050405020304" pitchFamily="18" charset="0"/>
                            </a:rPr>
                            <m:t>D</m:t>
                          </m:r>
                        </m:e>
                      </m:d>
                      <m:r>
                        <a:rPr lang="en-IN" sz="2000" b="0"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r>
                            <m:rPr>
                              <m:sty m:val="p"/>
                            </m:rPr>
                            <a:rPr lang="en-IN" sz="2000" b="0" i="1" smtClean="0">
                              <a:latin typeface="Cambria Math" panose="02040503050406030204" pitchFamily="18" charset="0"/>
                              <a:cs typeface="Times New Roman" panose="02020603050405020304" pitchFamily="18" charset="0"/>
                            </a:rPr>
                            <m:t>P</m:t>
                          </m:r>
                          <m:d>
                            <m:dPr>
                              <m:ctrlPr>
                                <a:rPr lang="en-IN" sz="2000" b="0" i="1" smtClean="0">
                                  <a:latin typeface="Cambria Math" panose="02040503050406030204" pitchFamily="18" charset="0"/>
                                  <a:cs typeface="Times New Roman" panose="02020603050405020304" pitchFamily="18" charset="0"/>
                                </a:rPr>
                              </m:ctrlPr>
                            </m:dPr>
                            <m:e>
                              <m:sSub>
                                <m:sSubPr>
                                  <m:ctrlPr>
                                    <a:rPr lang="en-IN" sz="2000" b="0" i="1" smtClean="0">
                                      <a:latin typeface="Cambria Math" panose="02040503050406030204" pitchFamily="18" charset="0"/>
                                      <a:cs typeface="Times New Roman" panose="02020603050405020304" pitchFamily="18" charset="0"/>
                                    </a:rPr>
                                  </m:ctrlPr>
                                </m:sSubPr>
                                <m:e>
                                  <m:r>
                                    <m:rPr>
                                      <m:sty m:val="p"/>
                                    </m:rPr>
                                    <a:rPr lang="en-IN" sz="2000" b="0" i="1" smtClean="0">
                                      <a:latin typeface="Cambria Math" panose="02040503050406030204" pitchFamily="18" charset="0"/>
                                      <a:cs typeface="Times New Roman" panose="02020603050405020304" pitchFamily="18" charset="0"/>
                                    </a:rPr>
                                    <m:t>M</m:t>
                                  </m:r>
                                </m:e>
                                <m:sub>
                                  <m:r>
                                    <a:rPr lang="en-IN" sz="2000" b="0" smtClean="0">
                                      <a:latin typeface="Cambria Math" panose="02040503050406030204" pitchFamily="18" charset="0"/>
                                      <a:cs typeface="Times New Roman" panose="02020603050405020304" pitchFamily="18" charset="0"/>
                                    </a:rPr>
                                    <m:t>1</m:t>
                                  </m:r>
                                </m:sub>
                              </m:sSub>
                            </m:e>
                          </m:d>
                          <m:r>
                            <m:rPr>
                              <m:sty m:val="p"/>
                            </m:rPr>
                            <a:rPr lang="en-IN" sz="2000" b="0" i="1" smtClean="0">
                              <a:latin typeface="Cambria Math" panose="02040503050406030204" pitchFamily="18" charset="0"/>
                              <a:cs typeface="Times New Roman" panose="02020603050405020304" pitchFamily="18" charset="0"/>
                            </a:rPr>
                            <m:t>P</m:t>
                          </m:r>
                          <m:d>
                            <m:dPr>
                              <m:ctrlPr>
                                <a:rPr lang="en-IN" sz="2000" b="0" i="1" smtClean="0">
                                  <a:latin typeface="Cambria Math" panose="02040503050406030204" pitchFamily="18" charset="0"/>
                                  <a:cs typeface="Times New Roman" panose="02020603050405020304" pitchFamily="18" charset="0"/>
                                </a:rPr>
                              </m:ctrlPr>
                            </m:dPr>
                            <m:e>
                              <m:r>
                                <m:rPr>
                                  <m:sty m:val="p"/>
                                </m:rPr>
                                <a:rPr lang="en-IN" sz="2000" b="0" i="1" smtClean="0">
                                  <a:latin typeface="Cambria Math" panose="02040503050406030204" pitchFamily="18" charset="0"/>
                                  <a:cs typeface="Times New Roman" panose="02020603050405020304" pitchFamily="18" charset="0"/>
                                </a:rPr>
                                <m:t>D</m:t>
                              </m:r>
                              <m:r>
                                <a:rPr lang="en-IN" sz="2000" b="0">
                                  <a:latin typeface="Cambria Math" panose="02040503050406030204" pitchFamily="18" charset="0"/>
                                  <a:cs typeface="Times New Roman" panose="02020603050405020304" pitchFamily="18" charset="0"/>
                                </a:rPr>
                                <m:t>∣</m:t>
                              </m:r>
                              <m:sSub>
                                <m:sSubPr>
                                  <m:ctrlPr>
                                    <a:rPr lang="en-IN" sz="2000" b="0" i="1" smtClean="0">
                                      <a:latin typeface="Cambria Math" panose="02040503050406030204" pitchFamily="18" charset="0"/>
                                      <a:cs typeface="Times New Roman" panose="02020603050405020304" pitchFamily="18" charset="0"/>
                                    </a:rPr>
                                  </m:ctrlPr>
                                </m:sSubPr>
                                <m:e>
                                  <m:r>
                                    <m:rPr>
                                      <m:sty m:val="p"/>
                                    </m:rPr>
                                    <a:rPr lang="en-IN" sz="2000" b="0" i="1" smtClean="0">
                                      <a:latin typeface="Cambria Math" panose="02040503050406030204" pitchFamily="18" charset="0"/>
                                      <a:cs typeface="Times New Roman" panose="02020603050405020304" pitchFamily="18" charset="0"/>
                                    </a:rPr>
                                    <m:t>M</m:t>
                                  </m:r>
                                </m:e>
                                <m:sub>
                                  <m:r>
                                    <a:rPr lang="en-IN" sz="2000" b="0" smtClean="0">
                                      <a:latin typeface="Cambria Math" panose="02040503050406030204" pitchFamily="18" charset="0"/>
                                      <a:cs typeface="Times New Roman" panose="02020603050405020304" pitchFamily="18" charset="0"/>
                                    </a:rPr>
                                    <m:t>1</m:t>
                                  </m:r>
                                </m:sub>
                              </m:sSub>
                            </m:e>
                          </m:d>
                        </m:num>
                        <m:den>
                          <m:r>
                            <m:rPr>
                              <m:sty m:val="p"/>
                            </m:rPr>
                            <a:rPr lang="en-IN" sz="2000" b="0" i="1" smtClean="0">
                              <a:latin typeface="Cambria Math" panose="02040503050406030204" pitchFamily="18" charset="0"/>
                              <a:cs typeface="Times New Roman" panose="02020603050405020304" pitchFamily="18" charset="0"/>
                            </a:rPr>
                            <m:t>P</m:t>
                          </m:r>
                          <m:d>
                            <m:dPr>
                              <m:ctrlPr>
                                <a:rPr lang="en-IN" sz="2000" b="0" i="1" smtClean="0">
                                  <a:latin typeface="Cambria Math" panose="02040503050406030204" pitchFamily="18" charset="0"/>
                                  <a:cs typeface="Times New Roman" panose="02020603050405020304" pitchFamily="18" charset="0"/>
                                </a:rPr>
                              </m:ctrlPr>
                            </m:dPr>
                            <m:e>
                              <m:r>
                                <m:rPr>
                                  <m:sty m:val="p"/>
                                </m:rPr>
                                <a:rPr lang="en-IN" sz="2000" b="0" i="1" smtClean="0">
                                  <a:latin typeface="Cambria Math" panose="02040503050406030204" pitchFamily="18" charset="0"/>
                                  <a:cs typeface="Times New Roman" panose="02020603050405020304" pitchFamily="18" charset="0"/>
                                </a:rPr>
                                <m:t>D</m:t>
                              </m:r>
                            </m:e>
                          </m:d>
                        </m:den>
                      </m:f>
                    </m:oMath>
                  </m:oMathPara>
                </a14:m>
                <a:endParaRPr lang="en-IN" sz="2000"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IN" sz="2000" b="0"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d>
                            <m:dPr>
                              <m:ctrlPr>
                                <a:rPr lang="en-IN" sz="2000" b="0" i="1" smtClean="0">
                                  <a:latin typeface="Cambria Math" panose="02040503050406030204" pitchFamily="18" charset="0"/>
                                  <a:cs typeface="Times New Roman" panose="02020603050405020304" pitchFamily="18" charset="0"/>
                                </a:rPr>
                              </m:ctrlPr>
                            </m:dPr>
                            <m:e>
                              <m:r>
                                <a:rPr lang="en-IN" sz="2000" b="0" smtClean="0">
                                  <a:latin typeface="Cambria Math" panose="02040503050406030204" pitchFamily="18" charset="0"/>
                                  <a:cs typeface="Times New Roman" panose="02020603050405020304" pitchFamily="18" charset="0"/>
                                </a:rPr>
                                <m:t>0.40</m:t>
                              </m:r>
                            </m:e>
                          </m:d>
                          <m:d>
                            <m:dPr>
                              <m:ctrlPr>
                                <a:rPr lang="en-IN" sz="2000" b="0" i="1" smtClean="0">
                                  <a:latin typeface="Cambria Math" panose="02040503050406030204" pitchFamily="18" charset="0"/>
                                  <a:cs typeface="Times New Roman" panose="02020603050405020304" pitchFamily="18" charset="0"/>
                                </a:rPr>
                              </m:ctrlPr>
                            </m:dPr>
                            <m:e>
                              <m:r>
                                <a:rPr lang="en-IN" sz="2000" b="0" smtClean="0">
                                  <a:latin typeface="Cambria Math" panose="02040503050406030204" pitchFamily="18" charset="0"/>
                                  <a:cs typeface="Times New Roman" panose="02020603050405020304" pitchFamily="18" charset="0"/>
                                </a:rPr>
                                <m:t>0.15</m:t>
                              </m:r>
                            </m:e>
                          </m:d>
                        </m:num>
                        <m:den>
                          <m:r>
                            <a:rPr lang="en-IN" sz="2000" b="0" smtClean="0">
                              <a:latin typeface="Cambria Math" panose="02040503050406030204" pitchFamily="18" charset="0"/>
                              <a:cs typeface="Times New Roman" panose="02020603050405020304" pitchFamily="18" charset="0"/>
                            </a:rPr>
                            <m:t>0.1975</m:t>
                          </m:r>
                        </m:den>
                      </m:f>
                    </m:oMath>
                  </m:oMathPara>
                </a14:m>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t>
                </a:r>
                <a14:m>
                  <m:oMath xmlns:m="http://schemas.openxmlformats.org/officeDocument/2006/math">
                    <m:r>
                      <a:rPr lang="en-IN" sz="2000" b="0"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r>
                          <a:rPr lang="en-IN" sz="2000" b="0" smtClean="0">
                            <a:latin typeface="Cambria Math" panose="02040503050406030204" pitchFamily="18" charset="0"/>
                            <a:cs typeface="Times New Roman" panose="02020603050405020304" pitchFamily="18" charset="0"/>
                          </a:rPr>
                          <m:t>0.06</m:t>
                        </m:r>
                      </m:num>
                      <m:den>
                        <m:r>
                          <a:rPr lang="en-IN" sz="2000" b="0" smtClean="0">
                            <a:latin typeface="Cambria Math" panose="02040503050406030204" pitchFamily="18" charset="0"/>
                            <a:cs typeface="Times New Roman" panose="02020603050405020304" pitchFamily="18" charset="0"/>
                          </a:rPr>
                          <m:t>0.1975</m:t>
                        </m:r>
                      </m:den>
                    </m:f>
                  </m:oMath>
                </a14:m>
                <a:r>
                  <a:rPr lang="en-IN" sz="2000" dirty="0">
                    <a:latin typeface="Times New Roman" panose="02020603050405020304" pitchFamily="18" charset="0"/>
                    <a:cs typeface="Times New Roman" panose="02020603050405020304" pitchFamily="18" charset="0"/>
                  </a:rPr>
                  <a:t>=0.3038=30.38%</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100" b="1" dirty="0">
                    <a:latin typeface="Times New Roman" panose="02020603050405020304" pitchFamily="18" charset="0"/>
                    <a:cs typeface="Times New Roman" panose="02020603050405020304" pitchFamily="18" charset="0"/>
                  </a:rPr>
                  <a:t>Probability that a defective item is not produced by Machine </a:t>
                </a:r>
                <a14:m>
                  <m:oMath xmlns:m="http://schemas.openxmlformats.org/officeDocument/2006/math">
                    <m:sSub>
                      <m:sSubPr>
                        <m:ctrlPr>
                          <a:rPr lang="en-IN" sz="2100" b="1" i="1">
                            <a:latin typeface="Cambria Math" panose="02040503050406030204" pitchFamily="18" charset="0"/>
                            <a:cs typeface="Times New Roman" panose="02020603050405020304" pitchFamily="18" charset="0"/>
                          </a:rPr>
                        </m:ctrlPr>
                      </m:sSubPr>
                      <m:e>
                        <m:r>
                          <a:rPr lang="en-IN" sz="2100" b="1">
                            <a:latin typeface="Cambria Math" panose="02040503050406030204" pitchFamily="18" charset="0"/>
                            <a:cs typeface="Times New Roman" panose="02020603050405020304" pitchFamily="18" charset="0"/>
                          </a:rPr>
                          <m:t>𝑀</m:t>
                        </m:r>
                      </m:e>
                      <m:sub>
                        <m:r>
                          <a:rPr lang="en-IN" sz="2100" b="1">
                            <a:latin typeface="Cambria Math" panose="02040503050406030204" pitchFamily="18" charset="0"/>
                            <a:cs typeface="Times New Roman" panose="02020603050405020304" pitchFamily="18" charset="0"/>
                          </a:rPr>
                          <m:t>2</m:t>
                        </m:r>
                      </m:sub>
                    </m:sSub>
                  </m:oMath>
                </a14:m>
                <a:endParaRPr lang="en-IN" sz="2100" b="1" dirty="0">
                  <a:latin typeface="Times New Roman" panose="02020603050405020304" pitchFamily="18" charset="0"/>
                  <a:cs typeface="Times New Roman" panose="02020603050405020304" pitchFamily="18" charset="0"/>
                </a:endParaRPr>
              </a:p>
              <a:p>
                <a:pPr marL="0" indent="0">
                  <a:buNone/>
                </a:pPr>
                <a:r>
                  <a:rPr lang="en-IN" sz="2100" dirty="0">
                    <a:latin typeface="Times New Roman" panose="02020603050405020304" pitchFamily="18" charset="0"/>
                    <a:cs typeface="Times New Roman" panose="02020603050405020304" pitchFamily="18" charset="0"/>
                  </a:rPr>
                  <a:t>Using the complement rule,</a:t>
                </a:r>
              </a:p>
              <a:p>
                <a:pPr marL="0" indent="0">
                  <a:lnSpc>
                    <a:spcPct val="120000"/>
                  </a:lnSpc>
                  <a:buNone/>
                </a:pPr>
                <a14:m>
                  <m:oMathPara xmlns:m="http://schemas.openxmlformats.org/officeDocument/2006/math">
                    <m:oMathParaPr>
                      <m:jc m:val="centerGroup"/>
                    </m:oMathParaPr>
                    <m:oMath xmlns:m="http://schemas.openxmlformats.org/officeDocument/2006/math">
                      <m:r>
                        <m:rPr>
                          <m:sty m:val="p"/>
                        </m:rPr>
                        <a:rPr lang="en-IN" sz="2100" b="0" i="1" smtClean="0">
                          <a:latin typeface="Cambria Math" panose="02040503050406030204" pitchFamily="18" charset="0"/>
                          <a:cs typeface="Times New Roman" panose="02020603050405020304" pitchFamily="18" charset="0"/>
                        </a:rPr>
                        <m:t>P</m:t>
                      </m:r>
                      <m:d>
                        <m:dPr>
                          <m:ctrlPr>
                            <a:rPr lang="en-IN" sz="2100" b="0" i="1" smtClean="0">
                              <a:latin typeface="Cambria Math" panose="02040503050406030204" pitchFamily="18" charset="0"/>
                              <a:cs typeface="Times New Roman" panose="02020603050405020304" pitchFamily="18" charset="0"/>
                            </a:rPr>
                          </m:ctrlPr>
                        </m:dPr>
                        <m:e>
                          <m:sSub>
                            <m:sSubPr>
                              <m:ctrlPr>
                                <a:rPr lang="en-IN" sz="2100" b="0" i="1" smtClean="0">
                                  <a:latin typeface="Cambria Math" panose="02040503050406030204" pitchFamily="18" charset="0"/>
                                  <a:cs typeface="Times New Roman" panose="02020603050405020304" pitchFamily="18" charset="0"/>
                                </a:rPr>
                              </m:ctrlPr>
                            </m:sSubPr>
                            <m:e>
                              <m:r>
                                <m:rPr>
                                  <m:sty m:val="p"/>
                                </m:rPr>
                                <a:rPr lang="en-IN" sz="2100" b="0" i="1" smtClean="0">
                                  <a:latin typeface="Cambria Math" panose="02040503050406030204" pitchFamily="18" charset="0"/>
                                  <a:cs typeface="Times New Roman" panose="02020603050405020304" pitchFamily="18" charset="0"/>
                                </a:rPr>
                                <m:t>M</m:t>
                              </m:r>
                            </m:e>
                            <m:sub>
                              <m:r>
                                <a:rPr lang="en-IN" sz="2100" b="0" smtClean="0">
                                  <a:latin typeface="Cambria Math" panose="02040503050406030204" pitchFamily="18" charset="0"/>
                                  <a:cs typeface="Times New Roman" panose="02020603050405020304" pitchFamily="18" charset="0"/>
                                </a:rPr>
                                <m:t>2</m:t>
                              </m:r>
                            </m:sub>
                          </m:sSub>
                          <m:r>
                            <a:rPr lang="en-IN" sz="2100" b="0" smtClean="0">
                              <a:latin typeface="Cambria Math" panose="02040503050406030204" pitchFamily="18" charset="0"/>
                              <a:cs typeface="Times New Roman" panose="02020603050405020304" pitchFamily="18" charset="0"/>
                            </a:rPr>
                            <m:t>∣</m:t>
                          </m:r>
                          <m:r>
                            <m:rPr>
                              <m:sty m:val="p"/>
                            </m:rPr>
                            <a:rPr lang="en-IN" sz="2100" b="0" i="1">
                              <a:latin typeface="Cambria Math" panose="02040503050406030204" pitchFamily="18" charset="0"/>
                              <a:cs typeface="Times New Roman" panose="02020603050405020304" pitchFamily="18" charset="0"/>
                            </a:rPr>
                            <m:t>D</m:t>
                          </m:r>
                        </m:e>
                      </m:d>
                      <m:r>
                        <a:rPr lang="en-IN" sz="2100" b="0" smtClean="0">
                          <a:latin typeface="Cambria Math" panose="02040503050406030204" pitchFamily="18" charset="0"/>
                          <a:cs typeface="Times New Roman" panose="02020603050405020304" pitchFamily="18" charset="0"/>
                        </a:rPr>
                        <m:t>=</m:t>
                      </m:r>
                      <m:f>
                        <m:fPr>
                          <m:ctrlPr>
                            <a:rPr lang="en-IN" sz="2100" b="0" i="1" smtClean="0">
                              <a:latin typeface="Cambria Math" panose="02040503050406030204" pitchFamily="18" charset="0"/>
                              <a:cs typeface="Times New Roman" panose="02020603050405020304" pitchFamily="18" charset="0"/>
                            </a:rPr>
                          </m:ctrlPr>
                        </m:fPr>
                        <m:num>
                          <m:r>
                            <m:rPr>
                              <m:sty m:val="p"/>
                            </m:rPr>
                            <a:rPr lang="en-IN" sz="2100" b="0" i="1" smtClean="0">
                              <a:latin typeface="Cambria Math" panose="02040503050406030204" pitchFamily="18" charset="0"/>
                              <a:cs typeface="Times New Roman" panose="02020603050405020304" pitchFamily="18" charset="0"/>
                            </a:rPr>
                            <m:t>P</m:t>
                          </m:r>
                          <m:d>
                            <m:dPr>
                              <m:ctrlPr>
                                <a:rPr lang="en-IN" sz="2100" b="0" i="1" smtClean="0">
                                  <a:latin typeface="Cambria Math" panose="02040503050406030204" pitchFamily="18" charset="0"/>
                                  <a:cs typeface="Times New Roman" panose="02020603050405020304" pitchFamily="18" charset="0"/>
                                </a:rPr>
                              </m:ctrlPr>
                            </m:dPr>
                            <m:e>
                              <m:sSub>
                                <m:sSubPr>
                                  <m:ctrlPr>
                                    <a:rPr lang="en-IN" sz="2100" b="0" i="1" smtClean="0">
                                      <a:latin typeface="Cambria Math" panose="02040503050406030204" pitchFamily="18" charset="0"/>
                                      <a:cs typeface="Times New Roman" panose="02020603050405020304" pitchFamily="18" charset="0"/>
                                    </a:rPr>
                                  </m:ctrlPr>
                                </m:sSubPr>
                                <m:e>
                                  <m:r>
                                    <m:rPr>
                                      <m:sty m:val="p"/>
                                    </m:rPr>
                                    <a:rPr lang="en-IN" sz="2100" b="0" i="1" smtClean="0">
                                      <a:latin typeface="Cambria Math" panose="02040503050406030204" pitchFamily="18" charset="0"/>
                                      <a:cs typeface="Times New Roman" panose="02020603050405020304" pitchFamily="18" charset="0"/>
                                    </a:rPr>
                                    <m:t>M</m:t>
                                  </m:r>
                                </m:e>
                                <m:sub>
                                  <m:r>
                                    <a:rPr lang="en-IN" sz="2100" b="0" smtClean="0">
                                      <a:latin typeface="Cambria Math" panose="02040503050406030204" pitchFamily="18" charset="0"/>
                                      <a:cs typeface="Times New Roman" panose="02020603050405020304" pitchFamily="18" charset="0"/>
                                    </a:rPr>
                                    <m:t>2</m:t>
                                  </m:r>
                                </m:sub>
                              </m:sSub>
                            </m:e>
                          </m:d>
                          <m:r>
                            <m:rPr>
                              <m:sty m:val="p"/>
                            </m:rPr>
                            <a:rPr lang="en-IN" sz="2100" b="0" i="1" smtClean="0">
                              <a:latin typeface="Cambria Math" panose="02040503050406030204" pitchFamily="18" charset="0"/>
                              <a:cs typeface="Times New Roman" panose="02020603050405020304" pitchFamily="18" charset="0"/>
                            </a:rPr>
                            <m:t>P</m:t>
                          </m:r>
                          <m:d>
                            <m:dPr>
                              <m:ctrlPr>
                                <a:rPr lang="en-IN" sz="2100" b="0" i="1" smtClean="0">
                                  <a:latin typeface="Cambria Math" panose="02040503050406030204" pitchFamily="18" charset="0"/>
                                  <a:cs typeface="Times New Roman" panose="02020603050405020304" pitchFamily="18" charset="0"/>
                                </a:rPr>
                              </m:ctrlPr>
                            </m:dPr>
                            <m:e>
                              <m:r>
                                <m:rPr>
                                  <m:sty m:val="p"/>
                                </m:rPr>
                                <a:rPr lang="en-IN" sz="2100" b="0" i="1" smtClean="0">
                                  <a:latin typeface="Cambria Math" panose="02040503050406030204" pitchFamily="18" charset="0"/>
                                  <a:cs typeface="Times New Roman" panose="02020603050405020304" pitchFamily="18" charset="0"/>
                                </a:rPr>
                                <m:t>D</m:t>
                              </m:r>
                              <m:r>
                                <a:rPr lang="en-IN" sz="2100" b="0">
                                  <a:latin typeface="Cambria Math" panose="02040503050406030204" pitchFamily="18" charset="0"/>
                                  <a:cs typeface="Times New Roman" panose="02020603050405020304" pitchFamily="18" charset="0"/>
                                </a:rPr>
                                <m:t>∣</m:t>
                              </m:r>
                              <m:sSub>
                                <m:sSubPr>
                                  <m:ctrlPr>
                                    <a:rPr lang="en-IN" sz="2100" b="0" i="1" smtClean="0">
                                      <a:latin typeface="Cambria Math" panose="02040503050406030204" pitchFamily="18" charset="0"/>
                                      <a:cs typeface="Times New Roman" panose="02020603050405020304" pitchFamily="18" charset="0"/>
                                    </a:rPr>
                                  </m:ctrlPr>
                                </m:sSubPr>
                                <m:e>
                                  <m:r>
                                    <m:rPr>
                                      <m:sty m:val="p"/>
                                    </m:rPr>
                                    <a:rPr lang="en-IN" sz="2100" b="0" i="1" smtClean="0">
                                      <a:latin typeface="Cambria Math" panose="02040503050406030204" pitchFamily="18" charset="0"/>
                                      <a:cs typeface="Times New Roman" panose="02020603050405020304" pitchFamily="18" charset="0"/>
                                    </a:rPr>
                                    <m:t>M</m:t>
                                  </m:r>
                                </m:e>
                                <m:sub>
                                  <m:r>
                                    <a:rPr lang="en-IN" sz="2100" b="0" smtClean="0">
                                      <a:latin typeface="Cambria Math" panose="02040503050406030204" pitchFamily="18" charset="0"/>
                                      <a:cs typeface="Times New Roman" panose="02020603050405020304" pitchFamily="18" charset="0"/>
                                    </a:rPr>
                                    <m:t>2</m:t>
                                  </m:r>
                                </m:sub>
                              </m:sSub>
                            </m:e>
                          </m:d>
                        </m:num>
                        <m:den>
                          <m:r>
                            <m:rPr>
                              <m:sty m:val="p"/>
                            </m:rPr>
                            <a:rPr lang="en-IN" sz="2100" b="0" i="1" smtClean="0">
                              <a:latin typeface="Cambria Math" panose="02040503050406030204" pitchFamily="18" charset="0"/>
                              <a:cs typeface="Times New Roman" panose="02020603050405020304" pitchFamily="18" charset="0"/>
                            </a:rPr>
                            <m:t>P</m:t>
                          </m:r>
                          <m:d>
                            <m:dPr>
                              <m:ctrlPr>
                                <a:rPr lang="en-IN" sz="2100" b="0" i="1" smtClean="0">
                                  <a:latin typeface="Cambria Math" panose="02040503050406030204" pitchFamily="18" charset="0"/>
                                  <a:cs typeface="Times New Roman" panose="02020603050405020304" pitchFamily="18" charset="0"/>
                                </a:rPr>
                              </m:ctrlPr>
                            </m:dPr>
                            <m:e>
                              <m:r>
                                <m:rPr>
                                  <m:sty m:val="p"/>
                                </m:rPr>
                                <a:rPr lang="en-IN" sz="2100" b="0" i="1" smtClean="0">
                                  <a:latin typeface="Cambria Math" panose="02040503050406030204" pitchFamily="18" charset="0"/>
                                  <a:cs typeface="Times New Roman" panose="02020603050405020304" pitchFamily="18" charset="0"/>
                                </a:rPr>
                                <m:t>D</m:t>
                              </m:r>
                            </m:e>
                          </m:d>
                        </m:den>
                      </m:f>
                    </m:oMath>
                  </m:oMathPara>
                </a14:m>
                <a:endParaRPr lang="en-IN" sz="21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n-IN" sz="2100" b="0" smtClean="0">
                          <a:latin typeface="Cambria Math" panose="02040503050406030204" pitchFamily="18" charset="0"/>
                          <a:cs typeface="Times New Roman" panose="02020603050405020304" pitchFamily="18" charset="0"/>
                        </a:rPr>
                        <m:t>=</m:t>
                      </m:r>
                      <m:f>
                        <m:fPr>
                          <m:ctrlPr>
                            <a:rPr lang="en-IN" sz="2100" b="0" i="1" smtClean="0">
                              <a:latin typeface="Cambria Math" panose="02040503050406030204" pitchFamily="18" charset="0"/>
                              <a:cs typeface="Times New Roman" panose="02020603050405020304" pitchFamily="18" charset="0"/>
                            </a:rPr>
                          </m:ctrlPr>
                        </m:fPr>
                        <m:num>
                          <m:d>
                            <m:dPr>
                              <m:ctrlPr>
                                <a:rPr lang="en-IN" sz="2100" b="0" i="1" smtClean="0">
                                  <a:latin typeface="Cambria Math" panose="02040503050406030204" pitchFamily="18" charset="0"/>
                                  <a:cs typeface="Times New Roman" panose="02020603050405020304" pitchFamily="18" charset="0"/>
                                </a:rPr>
                              </m:ctrlPr>
                            </m:dPr>
                            <m:e>
                              <m:r>
                                <a:rPr lang="en-IN" sz="2100" b="0" smtClean="0">
                                  <a:latin typeface="Cambria Math" panose="02040503050406030204" pitchFamily="18" charset="0"/>
                                  <a:cs typeface="Times New Roman" panose="02020603050405020304" pitchFamily="18" charset="0"/>
                                </a:rPr>
                                <m:t>0.25</m:t>
                              </m:r>
                            </m:e>
                          </m:d>
                          <m:d>
                            <m:dPr>
                              <m:ctrlPr>
                                <a:rPr lang="en-IN" sz="2100" b="0" i="1" smtClean="0">
                                  <a:latin typeface="Cambria Math" panose="02040503050406030204" pitchFamily="18" charset="0"/>
                                  <a:cs typeface="Times New Roman" panose="02020603050405020304" pitchFamily="18" charset="0"/>
                                </a:rPr>
                              </m:ctrlPr>
                            </m:dPr>
                            <m:e>
                              <m:r>
                                <a:rPr lang="en-IN" sz="2100" b="0" smtClean="0">
                                  <a:latin typeface="Cambria Math" panose="02040503050406030204" pitchFamily="18" charset="0"/>
                                  <a:cs typeface="Times New Roman" panose="02020603050405020304" pitchFamily="18" charset="0"/>
                                </a:rPr>
                                <m:t>0.20</m:t>
                              </m:r>
                            </m:e>
                          </m:d>
                        </m:num>
                        <m:den>
                          <m:r>
                            <a:rPr lang="en-IN" sz="2100" b="0" smtClean="0">
                              <a:latin typeface="Cambria Math" panose="02040503050406030204" pitchFamily="18" charset="0"/>
                              <a:cs typeface="Times New Roman" panose="02020603050405020304" pitchFamily="18" charset="0"/>
                            </a:rPr>
                            <m:t>0.1975</m:t>
                          </m:r>
                        </m:den>
                      </m:f>
                    </m:oMath>
                  </m:oMathPara>
                </a14:m>
                <a:endParaRPr lang="en-IN" sz="2100" dirty="0">
                  <a:latin typeface="Times New Roman" panose="02020603050405020304" pitchFamily="18" charset="0"/>
                  <a:cs typeface="Times New Roman" panose="020206030504050203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n-IN" sz="2100" b="0" smtClean="0">
                          <a:latin typeface="Cambria Math" panose="02040503050406030204" pitchFamily="18" charset="0"/>
                          <a:cs typeface="Times New Roman" panose="02020603050405020304" pitchFamily="18" charset="0"/>
                        </a:rPr>
                        <m:t>=</m:t>
                      </m:r>
                      <m:f>
                        <m:fPr>
                          <m:ctrlPr>
                            <a:rPr lang="en-IN" sz="2100" b="0" i="1" smtClean="0">
                              <a:latin typeface="Cambria Math" panose="02040503050406030204" pitchFamily="18" charset="0"/>
                              <a:cs typeface="Times New Roman" panose="02020603050405020304" pitchFamily="18" charset="0"/>
                            </a:rPr>
                          </m:ctrlPr>
                        </m:fPr>
                        <m:num>
                          <m:r>
                            <a:rPr lang="en-IN" sz="2100" b="0" smtClean="0">
                              <a:latin typeface="Cambria Math" panose="02040503050406030204" pitchFamily="18" charset="0"/>
                              <a:cs typeface="Times New Roman" panose="02020603050405020304" pitchFamily="18" charset="0"/>
                            </a:rPr>
                            <m:t>0.05</m:t>
                          </m:r>
                        </m:num>
                        <m:den>
                          <m:r>
                            <a:rPr lang="en-IN" sz="2100" b="0" smtClean="0">
                              <a:latin typeface="Cambria Math" panose="02040503050406030204" pitchFamily="18" charset="0"/>
                              <a:cs typeface="Times New Roman" panose="02020603050405020304" pitchFamily="18" charset="0"/>
                            </a:rPr>
                            <m:t>0.1975</m:t>
                          </m:r>
                        </m:den>
                      </m:f>
                      <m:r>
                        <a:rPr lang="en-IN" sz="2100" b="0" smtClean="0">
                          <a:latin typeface="Cambria Math" panose="02040503050406030204" pitchFamily="18" charset="0"/>
                          <a:cs typeface="Times New Roman" panose="02020603050405020304" pitchFamily="18" charset="0"/>
                        </a:rPr>
                        <m:t>=0.2532</m:t>
                      </m:r>
                    </m:oMath>
                  </m:oMathPara>
                </a14:m>
                <a:endParaRPr lang="en-IN" sz="2100" dirty="0">
                  <a:latin typeface="Times New Roman" panose="02020603050405020304" pitchFamily="18" charset="0"/>
                  <a:cs typeface="Times New Roman" panose="02020603050405020304" pitchFamily="18" charset="0"/>
                </a:endParaRPr>
              </a:p>
              <a:p>
                <a:pPr marL="0" indent="0">
                  <a:lnSpc>
                    <a:spcPct val="100000"/>
                  </a:lnSpc>
                  <a:buNone/>
                </a:pPr>
                <a:r>
                  <a:rPr lang="en-IN" sz="2100" dirty="0">
                    <a:latin typeface="Times New Roman" panose="02020603050405020304" pitchFamily="18" charset="0"/>
                    <a:cs typeface="Times New Roman" panose="02020603050405020304" pitchFamily="18" charset="0"/>
                  </a:rPr>
                  <a:t>	</a:t>
                </a:r>
                <a:r>
                  <a:rPr lang="en-IN" sz="2100" dirty="0">
                    <a:latin typeface="Times New Roman" panose="02020603050405020304" pitchFamily="18" charset="0"/>
                    <a:cs typeface="Times New Roman" panose="02020603050405020304" pitchFamily="18" charset="0"/>
                    <a:sym typeface="Symbol" panose="05050102010706020507" pitchFamily="18" charset="2"/>
                  </a:rPr>
                  <a:t></a:t>
                </a:r>
                <a:r>
                  <a:rPr lang="en-IN" sz="2100" dirty="0">
                    <a:latin typeface="Times New Roman" panose="02020603050405020304" pitchFamily="18" charset="0"/>
                    <a:cs typeface="Times New Roman" panose="02020603050405020304" pitchFamily="18" charset="0"/>
                  </a:rPr>
                  <a:t>P(M2</a:t>
                </a:r>
                <a:r>
                  <a:rPr lang="en-IN" sz="2100" baseline="30000" dirty="0">
                    <a:latin typeface="Times New Roman" panose="02020603050405020304" pitchFamily="18" charset="0"/>
                    <a:cs typeface="Times New Roman" panose="02020603050405020304" pitchFamily="18" charset="0"/>
                  </a:rPr>
                  <a:t>c</a:t>
                </a:r>
                <a:r>
                  <a:rPr lang="en-IN" sz="2100" dirty="0">
                    <a:latin typeface="Times New Roman" panose="02020603050405020304" pitchFamily="18" charset="0"/>
                    <a:cs typeface="Times New Roman" panose="02020603050405020304" pitchFamily="18" charset="0"/>
                  </a:rPr>
                  <a:t>∣D)=1−P(M2​∣D) </a:t>
                </a:r>
              </a:p>
              <a:p>
                <a:pPr marL="0" indent="0">
                  <a:lnSpc>
                    <a:spcPct val="100000"/>
                  </a:lnSpc>
                  <a:buNone/>
                </a:pPr>
                <a14:m>
                  <m:oMathPara xmlns:m="http://schemas.openxmlformats.org/officeDocument/2006/math">
                    <m:oMathParaPr>
                      <m:jc m:val="centerGroup"/>
                    </m:oMathParaPr>
                    <m:oMath xmlns:m="http://schemas.openxmlformats.org/officeDocument/2006/math">
                      <m:r>
                        <a:rPr lang="en-IN" sz="2100">
                          <a:latin typeface="Cambria Math" panose="02040503050406030204" pitchFamily="18" charset="0"/>
                        </a:rPr>
                        <m:t>=1−0.2532</m:t>
                      </m:r>
                      <m:r>
                        <a:rPr lang="en-IN" sz="2100" b="0" i="0" smtClean="0">
                          <a:latin typeface="Cambria Math" panose="02040503050406030204" pitchFamily="18" charset="0"/>
                        </a:rPr>
                        <m:t>=0.7468=74.68%</m:t>
                      </m:r>
                    </m:oMath>
                  </m:oMathPara>
                </a14:m>
                <a:endParaRPr lang="en-IN" sz="2100" dirty="0">
                  <a:latin typeface="Times New Roman" panose="02020603050405020304" pitchFamily="18" charset="0"/>
                  <a:cs typeface="Times New Roman" panose="02020603050405020304" pitchFamily="18" charset="0"/>
                </a:endParaRPr>
              </a:p>
              <a:p>
                <a:pPr marL="0" indent="0">
                  <a:lnSpc>
                    <a:spcPct val="120000"/>
                  </a:lnSpc>
                  <a:buNone/>
                </a:pPr>
                <a:endParaRPr lang="en-IN" sz="21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mc:Choice>
        <mc:Fallback xmlns="">
          <p:sp>
            <p:nvSpPr>
              <p:cNvPr id="6" name="Content Placeholder 5">
                <a:extLst>
                  <a:ext uri="{FF2B5EF4-FFF2-40B4-BE49-F238E27FC236}">
                    <a16:creationId xmlns:a16="http://schemas.microsoft.com/office/drawing/2014/main" id="{F30C09A5-0D72-B0DF-7447-653B98F62718}"/>
                  </a:ext>
                </a:extLst>
              </p:cNvPr>
              <p:cNvSpPr>
                <a:spLocks noGrp="1" noRot="1" noChangeAspect="1" noMove="1" noResize="1" noEditPoints="1" noAdjustHandles="1" noChangeArrowheads="1" noChangeShapeType="1" noTextEdit="1"/>
              </p:cNvSpPr>
              <p:nvPr>
                <p:ph sz="half" idx="4294967295"/>
              </p:nvPr>
            </p:nvSpPr>
            <p:spPr>
              <a:xfrm>
                <a:off x="6224588" y="244475"/>
                <a:ext cx="5862637" cy="5935663"/>
              </a:xfrm>
              <a:blipFill>
                <a:blip r:embed="rId3"/>
                <a:stretch>
                  <a:fillRect l="-832" t="-1027"/>
                </a:stretch>
              </a:blipFill>
            </p:spPr>
            <p:txBody>
              <a:bodyPr/>
              <a:lstStyle/>
              <a:p>
                <a:r>
                  <a:rPr lang="en-IN">
                    <a:noFill/>
                  </a:rPr>
                  <a:t> </a:t>
                </a:r>
              </a:p>
            </p:txBody>
          </p:sp>
        </mc:Fallback>
      </mc:AlternateContent>
      <p:sp>
        <p:nvSpPr>
          <p:cNvPr id="9" name="Footer Placeholder 8">
            <a:extLst>
              <a:ext uri="{FF2B5EF4-FFF2-40B4-BE49-F238E27FC236}">
                <a16:creationId xmlns:a16="http://schemas.microsoft.com/office/drawing/2014/main" id="{D583C365-7B0E-E003-942E-1E9880C7D0F5}"/>
              </a:ext>
            </a:extLst>
          </p:cNvPr>
          <p:cNvSpPr>
            <a:spLocks noGrp="1"/>
          </p:cNvSpPr>
          <p:nvPr>
            <p:ph type="ftr" sz="quarter" idx="11"/>
          </p:nvPr>
        </p:nvSpPr>
        <p:spPr/>
        <p:txBody>
          <a:bodyPr/>
          <a:lstStyle/>
          <a:p>
            <a:r>
              <a:rPr lang="en-IN"/>
              <a:t>W-2</a:t>
            </a:r>
          </a:p>
        </p:txBody>
      </p:sp>
      <p:sp>
        <p:nvSpPr>
          <p:cNvPr id="10" name="Slide Number Placeholder 9">
            <a:extLst>
              <a:ext uri="{FF2B5EF4-FFF2-40B4-BE49-F238E27FC236}">
                <a16:creationId xmlns:a16="http://schemas.microsoft.com/office/drawing/2014/main" id="{AA2CB45B-1452-36A1-0631-5ED59791A834}"/>
              </a:ext>
            </a:extLst>
          </p:cNvPr>
          <p:cNvSpPr>
            <a:spLocks noGrp="1"/>
          </p:cNvSpPr>
          <p:nvPr>
            <p:ph type="sldNum" sz="quarter" idx="12"/>
          </p:nvPr>
        </p:nvSpPr>
        <p:spPr/>
        <p:txBody>
          <a:bodyPr/>
          <a:lstStyle/>
          <a:p>
            <a:pPr>
              <a:defRPr/>
            </a:pPr>
            <a:fld id="{799C83C6-4F87-48B4-8CF0-6A2F9115491D}" type="slidenum">
              <a:rPr lang="en-IN" smtClean="0"/>
              <a:pPr>
                <a:defRPr/>
              </a:pPr>
              <a:t>15</a:t>
            </a:fld>
            <a:endParaRPr lang="en-IN"/>
          </a:p>
        </p:txBody>
      </p:sp>
    </p:spTree>
    <p:extLst>
      <p:ext uri="{BB962C8B-B14F-4D97-AF65-F5344CB8AC3E}">
        <p14:creationId xmlns:p14="http://schemas.microsoft.com/office/powerpoint/2010/main" val="411922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7D03C-E029-BD25-A5A3-F41BEBF050F2}"/>
              </a:ext>
            </a:extLst>
          </p:cNvPr>
          <p:cNvSpPr>
            <a:spLocks noGrp="1"/>
          </p:cNvSpPr>
          <p:nvPr>
            <p:ph type="title" idx="4294967295"/>
          </p:nvPr>
        </p:nvSpPr>
        <p:spPr>
          <a:xfrm>
            <a:off x="0" y="274638"/>
            <a:ext cx="8161338" cy="849312"/>
          </a:xfrm>
        </p:spPr>
        <p:txBody>
          <a:bodyPr/>
          <a:lstStyle/>
          <a:p>
            <a:pPr algn="l"/>
            <a:r>
              <a:rPr lang="en-US" sz="4400" b="1" dirty="0">
                <a:solidFill>
                  <a:srgbClr val="FF0000"/>
                </a:solidFill>
                <a:ea typeface="Calibri" panose="020F0502020204030204" pitchFamily="34" charset="0"/>
                <a:cs typeface="Calibri" panose="020F0502020204030204" pitchFamily="34" charset="0"/>
              </a:rPr>
              <a:t>Problem 5</a:t>
            </a:r>
            <a:endParaRPr lang="en-IN" dirty="0"/>
          </a:p>
        </p:txBody>
      </p:sp>
      <p:sp>
        <p:nvSpPr>
          <p:cNvPr id="3" name="Text Placeholder 2">
            <a:extLst>
              <a:ext uri="{FF2B5EF4-FFF2-40B4-BE49-F238E27FC236}">
                <a16:creationId xmlns:a16="http://schemas.microsoft.com/office/drawing/2014/main" id="{D193F7C1-3DC4-47A0-C168-C24C28EF0A21}"/>
              </a:ext>
            </a:extLst>
          </p:cNvPr>
          <p:cNvSpPr>
            <a:spLocks noGrp="1"/>
          </p:cNvSpPr>
          <p:nvPr>
            <p:ph type="body" idx="4294967295"/>
          </p:nvPr>
        </p:nvSpPr>
        <p:spPr>
          <a:xfrm>
            <a:off x="219075" y="1461826"/>
            <a:ext cx="11501438" cy="5014912"/>
          </a:xfrm>
        </p:spPr>
        <p:txBody>
          <a:bodyPr>
            <a:normAutofit/>
          </a:bodyPr>
          <a:lstStyle/>
          <a:p>
            <a:pPr marL="107950" indent="0" algn="l">
              <a:buNone/>
            </a:pPr>
            <a:r>
              <a:rPr lang="en-US" sz="2800" b="0" i="0" u="none" strike="noStrike" baseline="0" dirty="0">
                <a:solidFill>
                  <a:srgbClr val="000000"/>
                </a:solidFill>
              </a:rPr>
              <a:t>A product is manufactured by four companies A, B,C and D. They produce 20%, 30%, 40% and 10% of the products released in the market. But it is observed that 30%, 20%, 10% and 25% are defective items manufactured by them respectively. Then find </a:t>
            </a:r>
          </a:p>
          <a:p>
            <a:pPr marL="571500" indent="-571500" algn="l">
              <a:buFont typeface="+mj-lt"/>
              <a:buAutoNum type="romanUcPeriod"/>
            </a:pPr>
            <a:r>
              <a:rPr lang="en-US" sz="2800" b="0" i="0" u="none" strike="noStrike" baseline="0" dirty="0">
                <a:solidFill>
                  <a:srgbClr val="000000"/>
                </a:solidFill>
              </a:rPr>
              <a:t>Total percentage of defective items manufactured </a:t>
            </a:r>
          </a:p>
          <a:p>
            <a:pPr marL="571500" indent="-571500" algn="l">
              <a:buFont typeface="+mj-lt"/>
              <a:buAutoNum type="romanUcPeriod"/>
            </a:pPr>
            <a:r>
              <a:rPr lang="en-US" sz="2800" b="0" i="0" u="none" strike="noStrike" baseline="0" dirty="0">
                <a:solidFill>
                  <a:srgbClr val="000000"/>
                </a:solidFill>
              </a:rPr>
              <a:t>The percentage that the selected defective item is produced by company A </a:t>
            </a:r>
          </a:p>
          <a:p>
            <a:pPr marL="571500" indent="-571500" algn="l">
              <a:buFont typeface="+mj-lt"/>
              <a:buAutoNum type="romanUcPeriod"/>
            </a:pPr>
            <a:r>
              <a:rPr lang="en-US" sz="2800" b="0" i="0" u="none" strike="noStrike" baseline="0" dirty="0">
                <a:solidFill>
                  <a:srgbClr val="000000"/>
                </a:solidFill>
              </a:rPr>
              <a:t>The percentage that the selected defective item is not produced by company B </a:t>
            </a:r>
          </a:p>
          <a:p>
            <a:pPr marL="571500" indent="-571500" algn="l">
              <a:buFont typeface="+mj-lt"/>
              <a:buAutoNum type="romanUcPeriod"/>
            </a:pPr>
            <a:r>
              <a:rPr lang="en-US" sz="2800" b="0" i="0" u="none" strike="noStrike" baseline="0" dirty="0">
                <a:solidFill>
                  <a:srgbClr val="000000"/>
                </a:solidFill>
              </a:rPr>
              <a:t>The percentage that the selected defective item is not produced by company D </a:t>
            </a:r>
          </a:p>
          <a:p>
            <a:pPr marL="107950" algn="l"/>
            <a:r>
              <a:rPr lang="en-IN" sz="2800" b="0" i="0" u="none" strike="noStrike" baseline="0" dirty="0">
                <a:solidFill>
                  <a:srgbClr val="000000"/>
                </a:solidFill>
              </a:rPr>
              <a:t>	</a:t>
            </a:r>
          </a:p>
          <a:p>
            <a:pPr marL="107950" indent="0" algn="l">
              <a:buNone/>
            </a:pPr>
            <a:endParaRPr lang="en-IN" sz="2800" dirty="0"/>
          </a:p>
        </p:txBody>
      </p:sp>
      <p:sp>
        <p:nvSpPr>
          <p:cNvPr id="8" name="Star: 5 Points 7">
            <a:extLst>
              <a:ext uri="{FF2B5EF4-FFF2-40B4-BE49-F238E27FC236}">
                <a16:creationId xmlns:a16="http://schemas.microsoft.com/office/drawing/2014/main" id="{27894408-1DAE-7744-E48F-DC6AB4A2E517}"/>
              </a:ext>
            </a:extLst>
          </p:cNvPr>
          <p:cNvSpPr/>
          <p:nvPr/>
        </p:nvSpPr>
        <p:spPr>
          <a:xfrm>
            <a:off x="5656082" y="75414"/>
            <a:ext cx="3223967" cy="1168924"/>
          </a:xfrm>
          <a:prstGeom prst="star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b="1" dirty="0">
                <a:ln w="0"/>
                <a:solidFill>
                  <a:schemeClr val="tx1"/>
                </a:solidFill>
                <a:effectLst>
                  <a:outerShdw blurRad="38100" dist="19050" dir="2700000" algn="tl" rotWithShape="0">
                    <a:schemeClr val="dk1">
                      <a:alpha val="40000"/>
                    </a:schemeClr>
                  </a:outerShdw>
                </a:effectLst>
              </a:rPr>
              <a:t>EC2M</a:t>
            </a:r>
          </a:p>
          <a:p>
            <a:pPr algn="ctr"/>
            <a:r>
              <a:rPr lang="en-US" b="1" dirty="0">
                <a:ln w="0"/>
                <a:solidFill>
                  <a:schemeClr val="tx1"/>
                </a:solidFill>
                <a:effectLst>
                  <a:outerShdw blurRad="38100" dist="19050" dir="2700000" algn="tl" rotWithShape="0">
                    <a:schemeClr val="dk1">
                      <a:alpha val="40000"/>
                    </a:schemeClr>
                  </a:outerShdw>
                </a:effectLst>
              </a:rPr>
              <a:t>JAN 2024</a:t>
            </a:r>
            <a:endParaRPr lang="en-IN" b="1" dirty="0">
              <a:ln w="0"/>
              <a:solidFill>
                <a:schemeClr val="tx1"/>
              </a:solidFill>
              <a:effectLst>
                <a:outerShdw blurRad="38100" dist="19050" dir="2700000" algn="tl" rotWithShape="0">
                  <a:schemeClr val="dk1">
                    <a:alpha val="40000"/>
                  </a:schemeClr>
                </a:outerShdw>
              </a:effectLst>
            </a:endParaRPr>
          </a:p>
        </p:txBody>
      </p:sp>
      <p:sp>
        <p:nvSpPr>
          <p:cNvPr id="4" name="Footer Placeholder 3">
            <a:extLst>
              <a:ext uri="{FF2B5EF4-FFF2-40B4-BE49-F238E27FC236}">
                <a16:creationId xmlns:a16="http://schemas.microsoft.com/office/drawing/2014/main" id="{AF826412-D8AE-EB8B-6797-3D3D167F634B}"/>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88530143-837D-A2F1-9CBC-6FC1DC3F3FAA}"/>
              </a:ext>
            </a:extLst>
          </p:cNvPr>
          <p:cNvSpPr>
            <a:spLocks noGrp="1"/>
          </p:cNvSpPr>
          <p:nvPr>
            <p:ph type="sldNum" sz="quarter" idx="12"/>
          </p:nvPr>
        </p:nvSpPr>
        <p:spPr/>
        <p:txBody>
          <a:bodyPr/>
          <a:lstStyle/>
          <a:p>
            <a:pPr>
              <a:defRPr/>
            </a:pPr>
            <a:fld id="{799C83C6-4F87-48B4-8CF0-6A2F9115491D}" type="slidenum">
              <a:rPr lang="en-IN" smtClean="0"/>
              <a:pPr>
                <a:defRPr/>
              </a:pPr>
              <a:t>16</a:t>
            </a:fld>
            <a:endParaRPr lang="en-IN"/>
          </a:p>
        </p:txBody>
      </p:sp>
    </p:spTree>
    <p:extLst>
      <p:ext uri="{BB962C8B-B14F-4D97-AF65-F5344CB8AC3E}">
        <p14:creationId xmlns:p14="http://schemas.microsoft.com/office/powerpoint/2010/main" val="256335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621EF-4C23-8A6D-E4C1-F8EF4ABFDF76}"/>
              </a:ext>
            </a:extLst>
          </p:cNvPr>
          <p:cNvSpPr>
            <a:spLocks noGrp="1"/>
          </p:cNvSpPr>
          <p:nvPr>
            <p:ph type="title" idx="4294967295"/>
          </p:nvPr>
        </p:nvSpPr>
        <p:spPr>
          <a:xfrm>
            <a:off x="86129" y="136526"/>
            <a:ext cx="10515600" cy="689950"/>
          </a:xfrm>
        </p:spPr>
        <p:txBody>
          <a:bodyPr/>
          <a:lstStyle/>
          <a:p>
            <a:pPr algn="l"/>
            <a:r>
              <a:rPr lang="en-US" sz="4000" b="1" dirty="0">
                <a:solidFill>
                  <a:srgbClr val="00B050"/>
                </a:solidFill>
                <a:ea typeface="Calibri" panose="020F0502020204030204" pitchFamily="34" charset="0"/>
                <a:cs typeface="Calibri" panose="020F0502020204030204" pitchFamily="34" charset="0"/>
              </a:rPr>
              <a:t>Problem 5 - Solution</a:t>
            </a:r>
            <a:endParaRPr lang="en-IN" sz="4000" dirty="0"/>
          </a:p>
        </p:txBody>
      </p:sp>
      <p:pic>
        <p:nvPicPr>
          <p:cNvPr id="5" name="Picture 4">
            <a:extLst>
              <a:ext uri="{FF2B5EF4-FFF2-40B4-BE49-F238E27FC236}">
                <a16:creationId xmlns:a16="http://schemas.microsoft.com/office/drawing/2014/main" id="{C8FCFF84-4F66-48F1-15BE-ECEFFE2BB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954" y="979409"/>
            <a:ext cx="5590058" cy="5224007"/>
          </a:xfrm>
          <a:prstGeom prst="rect">
            <a:avLst/>
          </a:prstGeom>
        </p:spPr>
      </p:pic>
      <p:pic>
        <p:nvPicPr>
          <p:cNvPr id="8" name="Picture 7">
            <a:extLst>
              <a:ext uri="{FF2B5EF4-FFF2-40B4-BE49-F238E27FC236}">
                <a16:creationId xmlns:a16="http://schemas.microsoft.com/office/drawing/2014/main" id="{12670FF9-9AE8-338D-E763-6081965431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6187" y="826475"/>
            <a:ext cx="6096000" cy="5562388"/>
          </a:xfrm>
          <a:prstGeom prst="rect">
            <a:avLst/>
          </a:prstGeom>
        </p:spPr>
      </p:pic>
      <p:sp>
        <p:nvSpPr>
          <p:cNvPr id="9" name="Footer Placeholder 8">
            <a:extLst>
              <a:ext uri="{FF2B5EF4-FFF2-40B4-BE49-F238E27FC236}">
                <a16:creationId xmlns:a16="http://schemas.microsoft.com/office/drawing/2014/main" id="{6CCA8A6F-458F-2182-A1D5-8473E73D3881}"/>
              </a:ext>
            </a:extLst>
          </p:cNvPr>
          <p:cNvSpPr>
            <a:spLocks noGrp="1"/>
          </p:cNvSpPr>
          <p:nvPr>
            <p:ph type="ftr" sz="quarter" idx="11"/>
          </p:nvPr>
        </p:nvSpPr>
        <p:spPr/>
        <p:txBody>
          <a:bodyPr/>
          <a:lstStyle/>
          <a:p>
            <a:r>
              <a:rPr lang="en-IN"/>
              <a:t>W-2</a:t>
            </a:r>
          </a:p>
        </p:txBody>
      </p:sp>
      <p:sp>
        <p:nvSpPr>
          <p:cNvPr id="10" name="Slide Number Placeholder 9">
            <a:extLst>
              <a:ext uri="{FF2B5EF4-FFF2-40B4-BE49-F238E27FC236}">
                <a16:creationId xmlns:a16="http://schemas.microsoft.com/office/drawing/2014/main" id="{F952349E-154D-7B50-DAA9-15768EC63DBE}"/>
              </a:ext>
            </a:extLst>
          </p:cNvPr>
          <p:cNvSpPr>
            <a:spLocks noGrp="1"/>
          </p:cNvSpPr>
          <p:nvPr>
            <p:ph type="sldNum" sz="quarter" idx="12"/>
          </p:nvPr>
        </p:nvSpPr>
        <p:spPr/>
        <p:txBody>
          <a:bodyPr/>
          <a:lstStyle/>
          <a:p>
            <a:pPr>
              <a:defRPr/>
            </a:pPr>
            <a:fld id="{799C83C6-4F87-48B4-8CF0-6A2F9115491D}" type="slidenum">
              <a:rPr lang="en-IN" smtClean="0"/>
              <a:pPr>
                <a:defRPr/>
              </a:pPr>
              <a:t>17</a:t>
            </a:fld>
            <a:endParaRPr lang="en-IN"/>
          </a:p>
        </p:txBody>
      </p:sp>
    </p:spTree>
    <p:extLst>
      <p:ext uri="{BB962C8B-B14F-4D97-AF65-F5344CB8AC3E}">
        <p14:creationId xmlns:p14="http://schemas.microsoft.com/office/powerpoint/2010/main" val="978270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2857B-55E2-5A4E-532A-C6740D7438B6}"/>
              </a:ext>
            </a:extLst>
          </p:cNvPr>
          <p:cNvSpPr>
            <a:spLocks noGrp="1"/>
          </p:cNvSpPr>
          <p:nvPr>
            <p:ph type="title" idx="4294967295"/>
          </p:nvPr>
        </p:nvSpPr>
        <p:spPr>
          <a:xfrm>
            <a:off x="152400" y="298641"/>
            <a:ext cx="10515600" cy="759515"/>
          </a:xfrm>
        </p:spPr>
        <p:txBody>
          <a:bodyPr/>
          <a:lstStyle/>
          <a:p>
            <a:pPr algn="l"/>
            <a:r>
              <a:rPr lang="en-US" sz="4000" b="1" dirty="0">
                <a:solidFill>
                  <a:srgbClr val="00B050"/>
                </a:solidFill>
                <a:ea typeface="Calibri" panose="020F0502020204030204" pitchFamily="34" charset="0"/>
                <a:cs typeface="Calibri" panose="020F0502020204030204" pitchFamily="34" charset="0"/>
              </a:rPr>
              <a:t>Problem 5 - Solution</a:t>
            </a:r>
            <a:endParaRPr lang="en-IN" sz="4000" dirty="0"/>
          </a:p>
        </p:txBody>
      </p:sp>
      <p:sp>
        <p:nvSpPr>
          <p:cNvPr id="8" name="TextBox 7">
            <a:extLst>
              <a:ext uri="{FF2B5EF4-FFF2-40B4-BE49-F238E27FC236}">
                <a16:creationId xmlns:a16="http://schemas.microsoft.com/office/drawing/2014/main" id="{0074AF2E-A688-9D4D-3CDF-538D938C6783}"/>
              </a:ext>
            </a:extLst>
          </p:cNvPr>
          <p:cNvSpPr txBox="1"/>
          <p:nvPr/>
        </p:nvSpPr>
        <p:spPr>
          <a:xfrm>
            <a:off x="532189" y="1126710"/>
            <a:ext cx="5563811" cy="5078313"/>
          </a:xfrm>
          <a:prstGeom prst="rect">
            <a:avLst/>
          </a:prstGeom>
          <a:noFill/>
        </p:spPr>
        <p:txBody>
          <a:bodyPr wrap="square">
            <a:spAutoFit/>
          </a:bodyPr>
          <a:lstStyle/>
          <a:p>
            <a:r>
              <a:rPr lang="en-US" dirty="0"/>
              <a:t>(iii) To find the percentage that the selected defective item is </a:t>
            </a:r>
            <a:br>
              <a:rPr lang="en-US" dirty="0"/>
            </a:br>
            <a:r>
              <a:rPr lang="en-US" dirty="0"/>
              <a:t>not produced by company B</a:t>
            </a:r>
            <a:br>
              <a:rPr lang="en-US" dirty="0"/>
            </a:br>
            <a:br>
              <a:rPr lang="en-US" dirty="0"/>
            </a:br>
            <a:r>
              <a:rPr lang="en-US" dirty="0"/>
              <a:t>P(Bᶜ|X) = 1 − P(B|X) = 1 − ( P(B) P(X|B) / P(X) )</a:t>
            </a:r>
            <a:br>
              <a:rPr lang="en-US" dirty="0"/>
            </a:br>
            <a:br>
              <a:rPr lang="en-US" dirty="0"/>
            </a:br>
            <a:r>
              <a:rPr lang="en-US" dirty="0"/>
              <a:t>= 1 − ( (0.30)(0.20) / 0.185 )</a:t>
            </a:r>
            <a:br>
              <a:rPr lang="en-US" dirty="0"/>
            </a:br>
            <a:br>
              <a:rPr lang="en-US" dirty="0"/>
            </a:br>
            <a:r>
              <a:rPr lang="en-US" dirty="0"/>
              <a:t>= 1 − ( 0.06 / 0.185 )</a:t>
            </a:r>
            <a:br>
              <a:rPr lang="en-US" dirty="0"/>
            </a:br>
            <a:br>
              <a:rPr lang="en-US" dirty="0"/>
            </a:br>
            <a:r>
              <a:rPr lang="en-US" dirty="0"/>
              <a:t>= 1 − 0.3243</a:t>
            </a:r>
            <a:br>
              <a:rPr lang="en-US" dirty="0"/>
            </a:br>
            <a:br>
              <a:rPr lang="en-US" dirty="0"/>
            </a:br>
            <a:r>
              <a:rPr lang="en-US" dirty="0"/>
              <a:t>= 0.6757</a:t>
            </a:r>
            <a:br>
              <a:rPr lang="en-US" dirty="0"/>
            </a:br>
            <a:br>
              <a:rPr lang="en-US" dirty="0"/>
            </a:br>
            <a:r>
              <a:rPr lang="en-US" dirty="0"/>
              <a:t>∴ P(Bᶜ|X) = 0.6757</a:t>
            </a:r>
            <a:br>
              <a:rPr lang="en-US" dirty="0"/>
            </a:br>
            <a:br>
              <a:rPr lang="en-US" dirty="0"/>
            </a:br>
            <a:r>
              <a:rPr lang="en-US" dirty="0"/>
              <a:t>∴ The percentage that the selected defective item</a:t>
            </a:r>
            <a:br>
              <a:rPr lang="en-US" dirty="0"/>
            </a:br>
            <a:r>
              <a:rPr lang="en-US" dirty="0"/>
              <a:t>is not produced by B = 67.57%.</a:t>
            </a:r>
            <a:endParaRPr lang="en-IN" dirty="0"/>
          </a:p>
        </p:txBody>
      </p:sp>
      <p:sp>
        <p:nvSpPr>
          <p:cNvPr id="10" name="TextBox 9">
            <a:extLst>
              <a:ext uri="{FF2B5EF4-FFF2-40B4-BE49-F238E27FC236}">
                <a16:creationId xmlns:a16="http://schemas.microsoft.com/office/drawing/2014/main" id="{8D27478C-FC2C-C67F-2BFE-9D7D1C36ECD1}"/>
              </a:ext>
            </a:extLst>
          </p:cNvPr>
          <p:cNvSpPr txBox="1"/>
          <p:nvPr/>
        </p:nvSpPr>
        <p:spPr>
          <a:xfrm>
            <a:off x="6170989" y="1134855"/>
            <a:ext cx="5744786" cy="5078313"/>
          </a:xfrm>
          <a:prstGeom prst="rect">
            <a:avLst/>
          </a:prstGeom>
          <a:noFill/>
        </p:spPr>
        <p:txBody>
          <a:bodyPr wrap="square">
            <a:spAutoFit/>
          </a:bodyPr>
          <a:lstStyle/>
          <a:p>
            <a:r>
              <a:rPr lang="en-IN" dirty="0"/>
              <a:t>(iv) To find the percentage that the selected defective item  </a:t>
            </a:r>
          </a:p>
          <a:p>
            <a:r>
              <a:rPr lang="en-IN" dirty="0"/>
              <a:t>     is not produced by company D.</a:t>
            </a:r>
          </a:p>
          <a:p>
            <a:endParaRPr lang="en-IN" dirty="0"/>
          </a:p>
          <a:p>
            <a:r>
              <a:rPr lang="en-IN" dirty="0"/>
              <a:t>     P(Dᶜ|X) = 1 − P(D|X) = 1 − ( P(D) P(X|D) / P(X) )</a:t>
            </a:r>
          </a:p>
          <a:p>
            <a:endParaRPr lang="en-IN" dirty="0"/>
          </a:p>
          <a:p>
            <a:r>
              <a:rPr lang="en-IN" dirty="0"/>
              <a:t>             = 1 − ( (0.10)(0.25) / 0.185 )</a:t>
            </a:r>
          </a:p>
          <a:p>
            <a:endParaRPr lang="en-IN" dirty="0"/>
          </a:p>
          <a:p>
            <a:r>
              <a:rPr lang="en-IN" dirty="0"/>
              <a:t>             = 1 − ( 0.025 / 0.185 )</a:t>
            </a:r>
          </a:p>
          <a:p>
            <a:endParaRPr lang="en-IN" dirty="0"/>
          </a:p>
          <a:p>
            <a:r>
              <a:rPr lang="en-IN" dirty="0"/>
              <a:t>             = 1 − 0.1351</a:t>
            </a:r>
          </a:p>
          <a:p>
            <a:endParaRPr lang="en-IN" dirty="0"/>
          </a:p>
          <a:p>
            <a:r>
              <a:rPr lang="en-IN" dirty="0"/>
              <a:t>             = 0.8649</a:t>
            </a:r>
          </a:p>
          <a:p>
            <a:endParaRPr lang="en-IN" dirty="0"/>
          </a:p>
          <a:p>
            <a:r>
              <a:rPr lang="en-IN" dirty="0"/>
              <a:t>∴  P(Dᶜ|X) = 0.8649</a:t>
            </a:r>
          </a:p>
          <a:p>
            <a:endParaRPr lang="en-IN" dirty="0"/>
          </a:p>
          <a:p>
            <a:r>
              <a:rPr lang="en-IN" dirty="0"/>
              <a:t>∴  The percentage that the selected defective item</a:t>
            </a:r>
          </a:p>
          <a:p>
            <a:r>
              <a:rPr lang="en-IN" dirty="0"/>
              <a:t>   is not produced by company D = 86.49%.</a:t>
            </a:r>
          </a:p>
        </p:txBody>
      </p:sp>
      <p:sp>
        <p:nvSpPr>
          <p:cNvPr id="5" name="Footer Placeholder 4">
            <a:extLst>
              <a:ext uri="{FF2B5EF4-FFF2-40B4-BE49-F238E27FC236}">
                <a16:creationId xmlns:a16="http://schemas.microsoft.com/office/drawing/2014/main" id="{5255B4A9-6A30-9D4A-0E81-826612FEDA97}"/>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250EB515-B2C9-6FF0-A5B5-551C8858195D}"/>
              </a:ext>
            </a:extLst>
          </p:cNvPr>
          <p:cNvSpPr>
            <a:spLocks noGrp="1"/>
          </p:cNvSpPr>
          <p:nvPr>
            <p:ph type="sldNum" sz="quarter" idx="12"/>
          </p:nvPr>
        </p:nvSpPr>
        <p:spPr/>
        <p:txBody>
          <a:bodyPr/>
          <a:lstStyle/>
          <a:p>
            <a:pPr>
              <a:defRPr/>
            </a:pPr>
            <a:fld id="{799C83C6-4F87-48B4-8CF0-6A2F9115491D}" type="slidenum">
              <a:rPr lang="en-IN" smtClean="0"/>
              <a:pPr>
                <a:defRPr/>
              </a:pPr>
              <a:t>18</a:t>
            </a:fld>
            <a:endParaRPr lang="en-IN"/>
          </a:p>
        </p:txBody>
      </p:sp>
    </p:spTree>
    <p:extLst>
      <p:ext uri="{BB962C8B-B14F-4D97-AF65-F5344CB8AC3E}">
        <p14:creationId xmlns:p14="http://schemas.microsoft.com/office/powerpoint/2010/main" val="353702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56BD7-C4C9-E2B6-ECCF-F25679137BCF}"/>
              </a:ext>
            </a:extLst>
          </p:cNvPr>
          <p:cNvSpPr>
            <a:spLocks noGrp="1"/>
          </p:cNvSpPr>
          <p:nvPr>
            <p:ph type="title" idx="4294967295"/>
          </p:nvPr>
        </p:nvSpPr>
        <p:spPr>
          <a:xfrm>
            <a:off x="0" y="274638"/>
            <a:ext cx="8161338" cy="849312"/>
          </a:xfrm>
        </p:spPr>
        <p:txBody>
          <a:bodyPr/>
          <a:lstStyle/>
          <a:p>
            <a:r>
              <a:rPr lang="en-US" sz="4000" b="1" dirty="0">
                <a:solidFill>
                  <a:srgbClr val="FF0000"/>
                </a:solidFill>
                <a:ea typeface="Calibri" panose="020F0502020204030204" pitchFamily="34" charset="0"/>
                <a:cs typeface="Calibri" panose="020F0502020204030204" pitchFamily="34" charset="0"/>
              </a:rPr>
              <a:t>Naïve Bayes Classifier</a:t>
            </a:r>
            <a:endParaRPr lang="en-IN" sz="4000" b="1"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4763A5C9-B470-5D10-E621-7C4468F21446}"/>
              </a:ext>
            </a:extLst>
          </p:cNvPr>
          <p:cNvSpPr>
            <a:spLocks noGrp="1"/>
          </p:cNvSpPr>
          <p:nvPr>
            <p:ph type="body" idx="4294967295"/>
          </p:nvPr>
        </p:nvSpPr>
        <p:spPr>
          <a:xfrm>
            <a:off x="304800" y="1266031"/>
            <a:ext cx="11303000" cy="4948237"/>
          </a:xfrm>
        </p:spPr>
        <p:txBody>
          <a:bodyPr>
            <a:normAutofit fontScale="92500" lnSpcReduction="10000"/>
          </a:bodyPr>
          <a:lstStyle/>
          <a:p>
            <a:pPr algn="l">
              <a:buFont typeface="Wingdings" panose="05000000000000000000" pitchFamily="2" charset="2"/>
              <a:buChar char="Ø"/>
            </a:pPr>
            <a:r>
              <a:rPr lang="en-US" sz="2800" dirty="0">
                <a:solidFill>
                  <a:schemeClr val="tx1"/>
                </a:solidFill>
                <a:ea typeface="Calibri" panose="020F0502020204030204" pitchFamily="34" charset="0"/>
                <a:cs typeface="Calibri" panose="020F0502020204030204" pitchFamily="34" charset="0"/>
              </a:rPr>
              <a:t>Naïve Bayes classifiers are a collection of algorithms based on Bayes’ Theorem. It is not a single algorithm but a family of algorithms where all of them share a common principle, i.e., every pair of features being classified as independent of each other.</a:t>
            </a:r>
          </a:p>
          <a:p>
            <a:pPr algn="l">
              <a:buFont typeface="Wingdings" panose="05000000000000000000" pitchFamily="2" charset="2"/>
              <a:buChar char="Ø"/>
            </a:pPr>
            <a:r>
              <a:rPr lang="en-US" sz="2800" dirty="0">
                <a:solidFill>
                  <a:schemeClr val="tx1"/>
                </a:solidFill>
                <a:ea typeface="Calibri" panose="020F0502020204030204" pitchFamily="34" charset="0"/>
                <a:cs typeface="Calibri" panose="020F0502020204030204" pitchFamily="34" charset="0"/>
              </a:rPr>
              <a:t>Naïve Bayes classifier is one of the most simple and effective classification algorithms, that aids in the rapid development of machine learning models with rapid prediction capabilities.</a:t>
            </a:r>
          </a:p>
          <a:p>
            <a:pPr algn="l">
              <a:buFont typeface="Wingdings" panose="05000000000000000000" pitchFamily="2" charset="2"/>
              <a:buChar char="Ø"/>
            </a:pPr>
            <a:r>
              <a:rPr lang="en-US" sz="2800" dirty="0">
                <a:solidFill>
                  <a:schemeClr val="tx1"/>
                </a:solidFill>
                <a:ea typeface="Calibri" panose="020F0502020204030204" pitchFamily="34" charset="0"/>
                <a:cs typeface="Calibri" panose="020F0502020204030204" pitchFamily="34" charset="0"/>
              </a:rPr>
              <a:t>It is highly used in text classification tasks where data contains high dimension (as each word represent one feature in the data). It is fast and making prediction easy with high dimension data.</a:t>
            </a:r>
          </a:p>
          <a:p>
            <a:pPr algn="l">
              <a:buFont typeface="Wingdings" panose="05000000000000000000" pitchFamily="2" charset="2"/>
              <a:buChar char="Ø"/>
            </a:pPr>
            <a:r>
              <a:rPr lang="en-US" sz="2800" dirty="0">
                <a:solidFill>
                  <a:schemeClr val="tx1"/>
                </a:solidFill>
                <a:ea typeface="Calibri" panose="020F0502020204030204" pitchFamily="34" charset="0"/>
                <a:cs typeface="Calibri" panose="020F0502020204030204" pitchFamily="34" charset="0"/>
              </a:rPr>
              <a:t>It is a probabilistic classifier, that predicts the probability of an instance belongs to a class with a given set of feature value. It uses Bayes theorem in the algorithm for training and prediction.</a:t>
            </a:r>
            <a:endParaRPr lang="en-IN" sz="2800" dirty="0">
              <a:solidFill>
                <a:schemeClr val="tx1"/>
              </a:solidFill>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0A4D9114-01BF-0F5F-13C7-CDEA86CDDB9A}"/>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93816F12-BC67-3A3F-7171-8281EAED8F74}"/>
              </a:ext>
            </a:extLst>
          </p:cNvPr>
          <p:cNvSpPr>
            <a:spLocks noGrp="1"/>
          </p:cNvSpPr>
          <p:nvPr>
            <p:ph type="sldNum" sz="quarter" idx="12"/>
          </p:nvPr>
        </p:nvSpPr>
        <p:spPr/>
        <p:txBody>
          <a:bodyPr/>
          <a:lstStyle/>
          <a:p>
            <a:pPr>
              <a:defRPr/>
            </a:pPr>
            <a:fld id="{799C83C6-4F87-48B4-8CF0-6A2F9115491D}" type="slidenum">
              <a:rPr lang="en-IN" smtClean="0"/>
              <a:pPr>
                <a:defRPr/>
              </a:pPr>
              <a:t>19</a:t>
            </a:fld>
            <a:endParaRPr lang="en-IN"/>
          </a:p>
        </p:txBody>
      </p:sp>
    </p:spTree>
    <p:extLst>
      <p:ext uri="{BB962C8B-B14F-4D97-AF65-F5344CB8AC3E}">
        <p14:creationId xmlns:p14="http://schemas.microsoft.com/office/powerpoint/2010/main" val="2660749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E7D37-524C-F8E2-8A2D-F01CB012761C}"/>
              </a:ext>
            </a:extLst>
          </p:cNvPr>
          <p:cNvSpPr>
            <a:spLocks noGrp="1"/>
          </p:cNvSpPr>
          <p:nvPr>
            <p:ph type="title" idx="4294967295"/>
          </p:nvPr>
        </p:nvSpPr>
        <p:spPr>
          <a:xfrm>
            <a:off x="0" y="274638"/>
            <a:ext cx="8161338" cy="849312"/>
          </a:xfrm>
        </p:spPr>
        <p:txBody>
          <a:bodyPr/>
          <a:lstStyle/>
          <a:p>
            <a:pPr algn="l"/>
            <a:r>
              <a:rPr lang="en-US" sz="4400" b="1" dirty="0">
                <a:solidFill>
                  <a:srgbClr val="FF0000"/>
                </a:solidFill>
                <a:ea typeface="Calibri" panose="020F0502020204030204" pitchFamily="34" charset="0"/>
                <a:cs typeface="Calibri" panose="020F0502020204030204" pitchFamily="34" charset="0"/>
              </a:rPr>
              <a:t>Why is it called Naïve Bayes?</a:t>
            </a:r>
            <a:endParaRPr lang="en-IN" dirty="0"/>
          </a:p>
        </p:txBody>
      </p:sp>
      <p:sp>
        <p:nvSpPr>
          <p:cNvPr id="3" name="Text Placeholder 2">
            <a:extLst>
              <a:ext uri="{FF2B5EF4-FFF2-40B4-BE49-F238E27FC236}">
                <a16:creationId xmlns:a16="http://schemas.microsoft.com/office/drawing/2014/main" id="{F33E65F2-7C70-1E77-6D95-635A6DF306D5}"/>
              </a:ext>
            </a:extLst>
          </p:cNvPr>
          <p:cNvSpPr>
            <a:spLocks noGrp="1"/>
          </p:cNvSpPr>
          <p:nvPr>
            <p:ph type="body" idx="4294967295"/>
          </p:nvPr>
        </p:nvSpPr>
        <p:spPr>
          <a:xfrm>
            <a:off x="238125" y="1395413"/>
            <a:ext cx="11001376" cy="5014912"/>
          </a:xfrm>
        </p:spPr>
        <p:txBody>
          <a:bodyPr/>
          <a:lstStyle/>
          <a:p>
            <a:pPr>
              <a:buFont typeface="Wingdings" panose="05000000000000000000" pitchFamily="2" charset="2"/>
              <a:buChar char="Ø"/>
            </a:pPr>
            <a:r>
              <a:rPr lang="en-US" sz="3600" dirty="0">
                <a:solidFill>
                  <a:schemeClr val="tx1"/>
                </a:solidFill>
              </a:rPr>
              <a:t>The “Naïve” part of the name indicates the simplifying assumption made by the Naïve Bayes Classifier. The classifier assumes that the features used to describe an observation are conditionally independent, given the class label.</a:t>
            </a:r>
            <a:endParaRPr lang="en-IN" sz="3600" dirty="0">
              <a:solidFill>
                <a:schemeClr val="tx1"/>
              </a:solidFill>
            </a:endParaRPr>
          </a:p>
        </p:txBody>
      </p:sp>
      <p:sp>
        <p:nvSpPr>
          <p:cNvPr id="4" name="Footer Placeholder 3">
            <a:extLst>
              <a:ext uri="{FF2B5EF4-FFF2-40B4-BE49-F238E27FC236}">
                <a16:creationId xmlns:a16="http://schemas.microsoft.com/office/drawing/2014/main" id="{D2FDA97B-247C-ED5B-C2C3-DB7BFCE80340}"/>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B46AB787-D130-2262-A755-AB06063E4252}"/>
              </a:ext>
            </a:extLst>
          </p:cNvPr>
          <p:cNvSpPr>
            <a:spLocks noGrp="1"/>
          </p:cNvSpPr>
          <p:nvPr>
            <p:ph type="sldNum" sz="quarter" idx="12"/>
          </p:nvPr>
        </p:nvSpPr>
        <p:spPr/>
        <p:txBody>
          <a:bodyPr/>
          <a:lstStyle/>
          <a:p>
            <a:pPr>
              <a:defRPr/>
            </a:pPr>
            <a:fld id="{799C83C6-4F87-48B4-8CF0-6A2F9115491D}" type="slidenum">
              <a:rPr lang="en-IN" smtClean="0"/>
              <a:pPr>
                <a:defRPr/>
              </a:pPr>
              <a:t>20</a:t>
            </a:fld>
            <a:endParaRPr lang="en-IN"/>
          </a:p>
        </p:txBody>
      </p:sp>
    </p:spTree>
    <p:extLst>
      <p:ext uri="{BB962C8B-B14F-4D97-AF65-F5344CB8AC3E}">
        <p14:creationId xmlns:p14="http://schemas.microsoft.com/office/powerpoint/2010/main" val="965784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0ECEA-4EC8-8932-7C95-C4CDA0F6E80A}"/>
              </a:ext>
            </a:extLst>
          </p:cNvPr>
          <p:cNvSpPr>
            <a:spLocks noGrp="1"/>
          </p:cNvSpPr>
          <p:nvPr>
            <p:ph type="title" idx="4294967295"/>
          </p:nvPr>
        </p:nvSpPr>
        <p:spPr>
          <a:xfrm>
            <a:off x="0" y="274638"/>
            <a:ext cx="8161338" cy="849312"/>
          </a:xfrm>
        </p:spPr>
        <p:txBody>
          <a:bodyPr/>
          <a:lstStyle/>
          <a:p>
            <a:pPr algn="l"/>
            <a:r>
              <a:rPr lang="en-US" sz="4000" b="1" dirty="0">
                <a:solidFill>
                  <a:srgbClr val="FF0000"/>
                </a:solidFill>
                <a:ea typeface="Calibri" panose="020F0502020204030204" pitchFamily="34" charset="0"/>
                <a:cs typeface="Calibri" panose="020F0502020204030204" pitchFamily="34" charset="0"/>
              </a:rPr>
              <a:t>Assumptions of Naïve Bayes</a:t>
            </a:r>
            <a:endParaRPr lang="en-IN" sz="4000" b="1"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EC6D50C2-D350-7228-3227-55267E0D7521}"/>
              </a:ext>
            </a:extLst>
          </p:cNvPr>
          <p:cNvSpPr>
            <a:spLocks noGrp="1"/>
          </p:cNvSpPr>
          <p:nvPr>
            <p:ph type="body" idx="4294967295"/>
          </p:nvPr>
        </p:nvSpPr>
        <p:spPr>
          <a:xfrm>
            <a:off x="384175" y="1121569"/>
            <a:ext cx="11569700" cy="5237163"/>
          </a:xfrm>
        </p:spPr>
        <p:txBody>
          <a:bodyPr>
            <a:noAutofit/>
          </a:bodyPr>
          <a:lstStyle/>
          <a:p>
            <a:pPr marL="107950" indent="0" algn="l" rtl="0" fontAlgn="base">
              <a:spcAft>
                <a:spcPts val="750"/>
              </a:spcAft>
              <a:buNone/>
            </a:pPr>
            <a:r>
              <a:rPr lang="en-US" sz="2400" b="0" i="0" dirty="0">
                <a:solidFill>
                  <a:srgbClr val="273239"/>
                </a:solidFill>
                <a:effectLst/>
                <a:ea typeface="Calibri" panose="020F0502020204030204" pitchFamily="34" charset="0"/>
                <a:cs typeface="Calibri" panose="020F0502020204030204" pitchFamily="34" charset="0"/>
              </a:rPr>
              <a:t>The fundamental Naive Bayes assumption is that each feature makes an:</a:t>
            </a:r>
          </a:p>
          <a:p>
            <a:pPr algn="l">
              <a:spcAft>
                <a:spcPts val="1800"/>
              </a:spcAft>
              <a:buFont typeface="Wingdings" panose="05000000000000000000" pitchFamily="2" charset="2"/>
              <a:buChar char="Ø"/>
            </a:pPr>
            <a:r>
              <a:rPr lang="en-US" sz="2400" b="1" i="0" dirty="0">
                <a:solidFill>
                  <a:srgbClr val="273239"/>
                </a:solidFill>
                <a:effectLst/>
                <a:ea typeface="Calibri" panose="020F0502020204030204" pitchFamily="34" charset="0"/>
                <a:cs typeface="Calibri" panose="020F0502020204030204" pitchFamily="34" charset="0"/>
              </a:rPr>
              <a:t>Feature independence:</a:t>
            </a:r>
            <a:r>
              <a:rPr lang="en-US" sz="2400" b="0" i="0" dirty="0">
                <a:solidFill>
                  <a:srgbClr val="273239"/>
                </a:solidFill>
                <a:effectLst/>
                <a:ea typeface="Calibri" panose="020F0502020204030204" pitchFamily="34" charset="0"/>
                <a:cs typeface="Calibri" panose="020F0502020204030204" pitchFamily="34" charset="0"/>
              </a:rPr>
              <a:t> The features of the data are conditionally independent of each other, given the class label.</a:t>
            </a:r>
          </a:p>
          <a:p>
            <a:pPr algn="l">
              <a:spcAft>
                <a:spcPts val="1800"/>
              </a:spcAft>
              <a:buFont typeface="Wingdings" panose="05000000000000000000" pitchFamily="2" charset="2"/>
              <a:buChar char="Ø"/>
            </a:pPr>
            <a:r>
              <a:rPr lang="en-US" sz="2400" b="1" i="0" dirty="0">
                <a:solidFill>
                  <a:srgbClr val="273239"/>
                </a:solidFill>
                <a:effectLst/>
                <a:ea typeface="Calibri" panose="020F0502020204030204" pitchFamily="34" charset="0"/>
                <a:cs typeface="Calibri" panose="020F0502020204030204" pitchFamily="34" charset="0"/>
              </a:rPr>
              <a:t>Continuous features are normally distributed:</a:t>
            </a:r>
            <a:r>
              <a:rPr lang="en-US" sz="2400" b="0" i="0" dirty="0">
                <a:solidFill>
                  <a:srgbClr val="273239"/>
                </a:solidFill>
                <a:effectLst/>
                <a:ea typeface="Calibri" panose="020F0502020204030204" pitchFamily="34" charset="0"/>
                <a:cs typeface="Calibri" panose="020F0502020204030204" pitchFamily="34" charset="0"/>
              </a:rPr>
              <a:t> If a feature is continuous, then it is assumed to be normally distributed within each class.</a:t>
            </a:r>
          </a:p>
          <a:p>
            <a:pPr algn="l" fontAlgn="base">
              <a:spcAft>
                <a:spcPts val="1800"/>
              </a:spcAft>
              <a:buFont typeface="Wingdings" panose="05000000000000000000" pitchFamily="2" charset="2"/>
              <a:buChar char="Ø"/>
            </a:pPr>
            <a:r>
              <a:rPr lang="en-US" sz="2400" b="1" i="0" dirty="0">
                <a:solidFill>
                  <a:srgbClr val="273239"/>
                </a:solidFill>
                <a:effectLst/>
                <a:ea typeface="Calibri" panose="020F0502020204030204" pitchFamily="34" charset="0"/>
                <a:cs typeface="Calibri" panose="020F0502020204030204" pitchFamily="34" charset="0"/>
              </a:rPr>
              <a:t>Discrete features have multinomial distributions:</a:t>
            </a:r>
            <a:r>
              <a:rPr lang="en-US" sz="2400" b="0" i="0" dirty="0">
                <a:solidFill>
                  <a:srgbClr val="273239"/>
                </a:solidFill>
                <a:effectLst/>
                <a:ea typeface="Calibri" panose="020F0502020204030204" pitchFamily="34" charset="0"/>
                <a:cs typeface="Calibri" panose="020F0502020204030204" pitchFamily="34" charset="0"/>
              </a:rPr>
              <a:t> If a feature is discrete, then it is assumed to have a multinomial distribution within each class.</a:t>
            </a:r>
          </a:p>
          <a:p>
            <a:pPr algn="l" fontAlgn="base">
              <a:spcAft>
                <a:spcPts val="1800"/>
              </a:spcAft>
              <a:buFont typeface="Wingdings" panose="05000000000000000000" pitchFamily="2" charset="2"/>
              <a:buChar char="Ø"/>
            </a:pPr>
            <a:r>
              <a:rPr lang="en-US" sz="2400" b="1" i="0" dirty="0">
                <a:solidFill>
                  <a:srgbClr val="273239"/>
                </a:solidFill>
                <a:effectLst/>
                <a:ea typeface="Calibri" panose="020F0502020204030204" pitchFamily="34" charset="0"/>
                <a:cs typeface="Calibri" panose="020F0502020204030204" pitchFamily="34" charset="0"/>
              </a:rPr>
              <a:t>Features are equally important:</a:t>
            </a:r>
            <a:r>
              <a:rPr lang="en-US" sz="2400" b="0" i="0" dirty="0">
                <a:solidFill>
                  <a:srgbClr val="273239"/>
                </a:solidFill>
                <a:effectLst/>
                <a:ea typeface="Calibri" panose="020F0502020204030204" pitchFamily="34" charset="0"/>
                <a:cs typeface="Calibri" panose="020F0502020204030204" pitchFamily="34" charset="0"/>
              </a:rPr>
              <a:t> All features are assumed to contribute equally to the prediction of the class label.</a:t>
            </a:r>
          </a:p>
          <a:p>
            <a:pPr algn="l" fontAlgn="base">
              <a:spcAft>
                <a:spcPts val="1800"/>
              </a:spcAft>
              <a:buFont typeface="Wingdings" panose="05000000000000000000" pitchFamily="2" charset="2"/>
              <a:buChar char="Ø"/>
            </a:pPr>
            <a:r>
              <a:rPr lang="en-US" sz="2400" b="1" i="0" dirty="0">
                <a:solidFill>
                  <a:srgbClr val="273239"/>
                </a:solidFill>
                <a:effectLst/>
                <a:ea typeface="Calibri" panose="020F0502020204030204" pitchFamily="34" charset="0"/>
                <a:cs typeface="Calibri" panose="020F0502020204030204" pitchFamily="34" charset="0"/>
              </a:rPr>
              <a:t>No missing data:</a:t>
            </a:r>
            <a:r>
              <a:rPr lang="en-US" sz="2400" b="0" i="0" dirty="0">
                <a:solidFill>
                  <a:srgbClr val="273239"/>
                </a:solidFill>
                <a:effectLst/>
                <a:ea typeface="Calibri" panose="020F0502020204030204" pitchFamily="34" charset="0"/>
                <a:cs typeface="Calibri" panose="020F0502020204030204" pitchFamily="34" charset="0"/>
              </a:rPr>
              <a:t> The data should not contain any missing values.</a:t>
            </a:r>
          </a:p>
          <a:p>
            <a:pPr algn="l"/>
            <a:endParaRPr lang="en-IN" sz="2400" dirty="0"/>
          </a:p>
        </p:txBody>
      </p:sp>
      <p:sp>
        <p:nvSpPr>
          <p:cNvPr id="4" name="Footer Placeholder 3">
            <a:extLst>
              <a:ext uri="{FF2B5EF4-FFF2-40B4-BE49-F238E27FC236}">
                <a16:creationId xmlns:a16="http://schemas.microsoft.com/office/drawing/2014/main" id="{69C3B796-8BD6-E13C-0AD5-4715C48E1546}"/>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B1C0F4D2-104F-3A78-42D8-6FFBB82E87AA}"/>
              </a:ext>
            </a:extLst>
          </p:cNvPr>
          <p:cNvSpPr>
            <a:spLocks noGrp="1"/>
          </p:cNvSpPr>
          <p:nvPr>
            <p:ph type="sldNum" sz="quarter" idx="12"/>
          </p:nvPr>
        </p:nvSpPr>
        <p:spPr/>
        <p:txBody>
          <a:bodyPr/>
          <a:lstStyle/>
          <a:p>
            <a:pPr>
              <a:defRPr/>
            </a:pPr>
            <a:fld id="{799C83C6-4F87-48B4-8CF0-6A2F9115491D}" type="slidenum">
              <a:rPr lang="en-IN" smtClean="0"/>
              <a:pPr>
                <a:defRPr/>
              </a:pPr>
              <a:t>21</a:t>
            </a:fld>
            <a:endParaRPr lang="en-IN"/>
          </a:p>
        </p:txBody>
      </p:sp>
    </p:spTree>
    <p:extLst>
      <p:ext uri="{BB962C8B-B14F-4D97-AF65-F5344CB8AC3E}">
        <p14:creationId xmlns:p14="http://schemas.microsoft.com/office/powerpoint/2010/main" val="1411830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A3C9E-13C2-2BC3-BFE1-DF8BEC2B255E}"/>
              </a:ext>
            </a:extLst>
          </p:cNvPr>
          <p:cNvSpPr>
            <a:spLocks noGrp="1"/>
          </p:cNvSpPr>
          <p:nvPr>
            <p:ph type="title" idx="4294967295"/>
          </p:nvPr>
        </p:nvSpPr>
        <p:spPr>
          <a:xfrm>
            <a:off x="0" y="274638"/>
            <a:ext cx="8161338" cy="849312"/>
          </a:xfrm>
        </p:spPr>
        <p:txBody>
          <a:bodyPr/>
          <a:lstStyle/>
          <a:p>
            <a:pPr algn="l"/>
            <a:r>
              <a:rPr lang="en-US" sz="4000" b="1" dirty="0">
                <a:solidFill>
                  <a:srgbClr val="FF0000"/>
                </a:solidFill>
                <a:ea typeface="Calibri" panose="020F0502020204030204" pitchFamily="34" charset="0"/>
                <a:cs typeface="Calibri" panose="020F0502020204030204" pitchFamily="34" charset="0"/>
              </a:rPr>
              <a:t>Types of Naïve Bayes Model</a:t>
            </a:r>
            <a:endParaRPr lang="en-IN" sz="4000" b="1"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36CA7664-85A6-81D3-3AFC-71D34682E5E7}"/>
              </a:ext>
            </a:extLst>
          </p:cNvPr>
          <p:cNvSpPr>
            <a:spLocks noGrp="1"/>
          </p:cNvSpPr>
          <p:nvPr>
            <p:ph type="body" idx="4294967295"/>
          </p:nvPr>
        </p:nvSpPr>
        <p:spPr>
          <a:xfrm>
            <a:off x="165893" y="1246981"/>
            <a:ext cx="11797507" cy="4986337"/>
          </a:xfrm>
        </p:spPr>
        <p:txBody>
          <a:bodyPr>
            <a:normAutofit fontScale="92500"/>
          </a:bodyPr>
          <a:lstStyle/>
          <a:p>
            <a:pPr algn="l">
              <a:lnSpc>
                <a:spcPct val="150000"/>
              </a:lnSpc>
              <a:buFont typeface="Wingdings" panose="05000000000000000000" pitchFamily="2" charset="2"/>
              <a:buChar char="q"/>
            </a:pPr>
            <a:r>
              <a:rPr lang="en-US" sz="2400" b="1" dirty="0">
                <a:solidFill>
                  <a:schemeClr val="tx1"/>
                </a:solidFill>
                <a:ea typeface="Calibri" panose="020F0502020204030204" pitchFamily="34" charset="0"/>
                <a:cs typeface="Calibri" panose="020F0502020204030204" pitchFamily="34" charset="0"/>
              </a:rPr>
              <a:t>Gaussian Naïve Bayes Classifier : </a:t>
            </a:r>
            <a:r>
              <a:rPr lang="en-US" sz="2400" b="0" i="0" dirty="0">
                <a:solidFill>
                  <a:schemeClr val="tx1"/>
                </a:solidFill>
                <a:effectLst/>
              </a:rPr>
              <a:t>The Gaussian Naive Bayes classifier assumes that the attributes of a dataset have a normal distribution. Here, if the attributes have continuous values, the classification model assumes that the values are sampled from a Gaussian distribution.</a:t>
            </a:r>
            <a:endParaRPr lang="en-US" sz="2400" dirty="0">
              <a:solidFill>
                <a:schemeClr val="tx1"/>
              </a:solidFill>
            </a:endParaRPr>
          </a:p>
          <a:p>
            <a:pPr algn="l">
              <a:lnSpc>
                <a:spcPct val="150000"/>
              </a:lnSpc>
              <a:buFont typeface="Wingdings" panose="05000000000000000000" pitchFamily="2" charset="2"/>
              <a:buChar char="q"/>
            </a:pPr>
            <a:r>
              <a:rPr lang="en-US" sz="2400" b="1" dirty="0">
                <a:solidFill>
                  <a:schemeClr val="tx1"/>
                </a:solidFill>
                <a:ea typeface="Calibri" panose="020F0502020204030204" pitchFamily="34" charset="0"/>
                <a:cs typeface="Calibri" panose="020F0502020204030204" pitchFamily="34" charset="0"/>
              </a:rPr>
              <a:t>Multinomial Naïve Bayes: </a:t>
            </a:r>
            <a:r>
              <a:rPr lang="en-US" sz="2400" b="0" i="0" dirty="0">
                <a:solidFill>
                  <a:schemeClr val="tx1"/>
                </a:solidFill>
                <a:effectLst/>
              </a:rPr>
              <a:t>When the input data is multinomially distributed, we use the multinomial naive Bayes classifier.  This algorithm is primarily used for document classification problems like sentiment analysis.</a:t>
            </a:r>
            <a:endParaRPr lang="en-US" sz="2400" b="1" dirty="0">
              <a:solidFill>
                <a:schemeClr val="tx1"/>
              </a:solidFill>
              <a:ea typeface="Calibri" panose="020F0502020204030204" pitchFamily="34" charset="0"/>
              <a:cs typeface="Calibri" panose="020F0502020204030204" pitchFamily="34" charset="0"/>
            </a:endParaRPr>
          </a:p>
          <a:p>
            <a:pPr algn="l">
              <a:lnSpc>
                <a:spcPct val="150000"/>
              </a:lnSpc>
              <a:buFont typeface="Wingdings" panose="05000000000000000000" pitchFamily="2" charset="2"/>
              <a:buChar char="q"/>
            </a:pPr>
            <a:r>
              <a:rPr lang="en-US" sz="2400" b="1" dirty="0">
                <a:solidFill>
                  <a:schemeClr val="tx1"/>
                </a:solidFill>
                <a:ea typeface="Calibri" panose="020F0502020204030204" pitchFamily="34" charset="0"/>
                <a:cs typeface="Calibri" panose="020F0502020204030204" pitchFamily="34" charset="0"/>
              </a:rPr>
              <a:t>Bernoulli Naïve Bayes: </a:t>
            </a:r>
            <a:r>
              <a:rPr lang="en-US" sz="2400" b="0" i="0" dirty="0">
                <a:solidFill>
                  <a:schemeClr val="tx1"/>
                </a:solidFill>
                <a:effectLst/>
              </a:rPr>
              <a:t>The Bernoulli Naive Bayes classification works in a similar manner to the multinomial classification. The difference is that the attributes of the dataset contain </a:t>
            </a:r>
            <a:r>
              <a:rPr lang="en-US" sz="2400" b="0" i="0" dirty="0" err="1">
                <a:solidFill>
                  <a:schemeClr val="tx1"/>
                </a:solidFill>
                <a:effectLst/>
              </a:rPr>
              <a:t>boolean</a:t>
            </a:r>
            <a:r>
              <a:rPr lang="en-US" sz="2400" b="0" i="0" dirty="0">
                <a:solidFill>
                  <a:schemeClr val="tx1"/>
                </a:solidFill>
                <a:effectLst/>
              </a:rPr>
              <a:t> values representing the presence or absence of a particular attribute in a data point.</a:t>
            </a:r>
            <a:endParaRPr lang="en-IN" sz="2400" b="1" dirty="0">
              <a:solidFill>
                <a:schemeClr val="tx1"/>
              </a:solidFill>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3B7E1DB2-27EC-8971-748E-772C6BBD1B7F}"/>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339ABE9A-A2ED-4084-F6C7-40D7673A201A}"/>
              </a:ext>
            </a:extLst>
          </p:cNvPr>
          <p:cNvSpPr>
            <a:spLocks noGrp="1"/>
          </p:cNvSpPr>
          <p:nvPr>
            <p:ph type="sldNum" sz="quarter" idx="12"/>
          </p:nvPr>
        </p:nvSpPr>
        <p:spPr/>
        <p:txBody>
          <a:bodyPr/>
          <a:lstStyle/>
          <a:p>
            <a:pPr>
              <a:defRPr/>
            </a:pPr>
            <a:fld id="{799C83C6-4F87-48B4-8CF0-6A2F9115491D}" type="slidenum">
              <a:rPr lang="en-IN" smtClean="0"/>
              <a:pPr>
                <a:defRPr/>
              </a:pPr>
              <a:t>22</a:t>
            </a:fld>
            <a:endParaRPr lang="en-IN"/>
          </a:p>
        </p:txBody>
      </p:sp>
    </p:spTree>
    <p:extLst>
      <p:ext uri="{BB962C8B-B14F-4D97-AF65-F5344CB8AC3E}">
        <p14:creationId xmlns:p14="http://schemas.microsoft.com/office/powerpoint/2010/main" val="3617936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AE5B1-7EAC-2D9C-DE01-EA846C5ADDDB}"/>
              </a:ext>
            </a:extLst>
          </p:cNvPr>
          <p:cNvSpPr>
            <a:spLocks noGrp="1"/>
          </p:cNvSpPr>
          <p:nvPr>
            <p:ph type="title" idx="4294967295"/>
          </p:nvPr>
        </p:nvSpPr>
        <p:spPr>
          <a:xfrm>
            <a:off x="0" y="274638"/>
            <a:ext cx="9429750" cy="849312"/>
          </a:xfrm>
        </p:spPr>
        <p:txBody>
          <a:bodyPr>
            <a:normAutofit/>
          </a:bodyPr>
          <a:lstStyle/>
          <a:p>
            <a:r>
              <a:rPr lang="en-US" sz="4000" b="1" dirty="0">
                <a:solidFill>
                  <a:srgbClr val="FF0000"/>
                </a:solidFill>
                <a:ea typeface="Calibri" panose="020F0502020204030204" pitchFamily="34" charset="0"/>
                <a:cs typeface="Calibri" panose="020F0502020204030204" pitchFamily="34" charset="0"/>
              </a:rPr>
              <a:t>Advantages of Naïve Bayes Classifier</a:t>
            </a:r>
            <a:endParaRPr lang="en-IN" sz="4000" b="1"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9C9F044C-5EB5-2D48-95CE-83881664EF07}"/>
              </a:ext>
            </a:extLst>
          </p:cNvPr>
          <p:cNvSpPr>
            <a:spLocks noGrp="1"/>
          </p:cNvSpPr>
          <p:nvPr>
            <p:ph type="body" idx="4294967295"/>
          </p:nvPr>
        </p:nvSpPr>
        <p:spPr>
          <a:xfrm>
            <a:off x="304800" y="1493838"/>
            <a:ext cx="11811000" cy="4344987"/>
          </a:xfrm>
        </p:spPr>
        <p:txBody>
          <a:bodyPr>
            <a:normAutofit/>
          </a:bodyPr>
          <a:lstStyle/>
          <a:p>
            <a:pPr algn="l" fontAlgn="base">
              <a:spcAft>
                <a:spcPts val="1800"/>
              </a:spcAft>
              <a:buFont typeface="Wingdings" panose="05000000000000000000" pitchFamily="2" charset="2"/>
              <a:buChar char="Ø"/>
            </a:pPr>
            <a:r>
              <a:rPr lang="en-US" sz="3200" b="0" i="0" dirty="0">
                <a:solidFill>
                  <a:schemeClr val="tx1"/>
                </a:solidFill>
                <a:effectLst/>
                <a:ea typeface="Calibri" panose="020F0502020204030204" pitchFamily="34" charset="0"/>
                <a:cs typeface="Calibri" panose="020F0502020204030204" pitchFamily="34" charset="0"/>
              </a:rPr>
              <a:t>Easy to implement and computationally efficient.</a:t>
            </a:r>
          </a:p>
          <a:p>
            <a:pPr algn="l" fontAlgn="base">
              <a:spcAft>
                <a:spcPts val="1800"/>
              </a:spcAft>
              <a:buFont typeface="Wingdings" panose="05000000000000000000" pitchFamily="2" charset="2"/>
              <a:buChar char="Ø"/>
            </a:pPr>
            <a:r>
              <a:rPr lang="en-US" sz="3200" b="0" i="0" dirty="0">
                <a:solidFill>
                  <a:schemeClr val="tx1"/>
                </a:solidFill>
                <a:effectLst/>
                <a:ea typeface="Calibri" panose="020F0502020204030204" pitchFamily="34" charset="0"/>
                <a:cs typeface="Calibri" panose="020F0502020204030204" pitchFamily="34" charset="0"/>
              </a:rPr>
              <a:t>Effective in cases with a large number of features.</a:t>
            </a:r>
          </a:p>
          <a:p>
            <a:pPr algn="l" fontAlgn="base">
              <a:spcAft>
                <a:spcPts val="1800"/>
              </a:spcAft>
              <a:buFont typeface="Wingdings" panose="05000000000000000000" pitchFamily="2" charset="2"/>
              <a:buChar char="Ø"/>
            </a:pPr>
            <a:r>
              <a:rPr lang="en-US" sz="3200" b="0" i="0" dirty="0">
                <a:solidFill>
                  <a:schemeClr val="tx1"/>
                </a:solidFill>
                <a:effectLst/>
                <a:ea typeface="Calibri" panose="020F0502020204030204" pitchFamily="34" charset="0"/>
                <a:cs typeface="Calibri" panose="020F0502020204030204" pitchFamily="34" charset="0"/>
              </a:rPr>
              <a:t>Performs well even with limited training data.</a:t>
            </a:r>
          </a:p>
          <a:p>
            <a:pPr algn="l" fontAlgn="base">
              <a:spcAft>
                <a:spcPts val="1800"/>
              </a:spcAft>
              <a:buFont typeface="Wingdings" panose="05000000000000000000" pitchFamily="2" charset="2"/>
              <a:buChar char="Ø"/>
            </a:pPr>
            <a:r>
              <a:rPr lang="en-US" sz="3200" b="0" i="0" dirty="0">
                <a:solidFill>
                  <a:schemeClr val="tx1"/>
                </a:solidFill>
                <a:effectLst/>
                <a:ea typeface="Calibri" panose="020F0502020204030204" pitchFamily="34" charset="0"/>
                <a:cs typeface="Calibri" panose="020F0502020204030204" pitchFamily="34" charset="0"/>
              </a:rPr>
              <a:t>It performs well in the presence of categorical features.</a:t>
            </a:r>
          </a:p>
          <a:p>
            <a:pPr algn="l" fontAlgn="base">
              <a:spcAft>
                <a:spcPts val="1800"/>
              </a:spcAft>
              <a:buFont typeface="Wingdings" panose="05000000000000000000" pitchFamily="2" charset="2"/>
              <a:buChar char="Ø"/>
            </a:pPr>
            <a:r>
              <a:rPr lang="en-US" sz="3200" b="0" i="0" dirty="0">
                <a:solidFill>
                  <a:schemeClr val="tx1"/>
                </a:solidFill>
                <a:effectLst/>
                <a:ea typeface="Calibri" panose="020F0502020204030204" pitchFamily="34" charset="0"/>
                <a:cs typeface="Calibri" panose="020F0502020204030204" pitchFamily="34" charset="0"/>
              </a:rPr>
              <a:t>For numerical features data is assumed to come from normal distributions</a:t>
            </a:r>
          </a:p>
        </p:txBody>
      </p:sp>
      <p:sp>
        <p:nvSpPr>
          <p:cNvPr id="4" name="Footer Placeholder 3">
            <a:extLst>
              <a:ext uri="{FF2B5EF4-FFF2-40B4-BE49-F238E27FC236}">
                <a16:creationId xmlns:a16="http://schemas.microsoft.com/office/drawing/2014/main" id="{BA73DD20-050E-2017-59C3-BB5AE30B5259}"/>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035E680F-B6F6-A3C9-15F0-BD152A31FCDE}"/>
              </a:ext>
            </a:extLst>
          </p:cNvPr>
          <p:cNvSpPr>
            <a:spLocks noGrp="1"/>
          </p:cNvSpPr>
          <p:nvPr>
            <p:ph type="sldNum" sz="quarter" idx="12"/>
          </p:nvPr>
        </p:nvSpPr>
        <p:spPr/>
        <p:txBody>
          <a:bodyPr/>
          <a:lstStyle/>
          <a:p>
            <a:pPr>
              <a:defRPr/>
            </a:pPr>
            <a:fld id="{799C83C6-4F87-48B4-8CF0-6A2F9115491D}" type="slidenum">
              <a:rPr lang="en-IN" smtClean="0"/>
              <a:pPr>
                <a:defRPr/>
              </a:pPr>
              <a:t>23</a:t>
            </a:fld>
            <a:endParaRPr lang="en-IN"/>
          </a:p>
        </p:txBody>
      </p:sp>
    </p:spTree>
    <p:extLst>
      <p:ext uri="{BB962C8B-B14F-4D97-AF65-F5344CB8AC3E}">
        <p14:creationId xmlns:p14="http://schemas.microsoft.com/office/powerpoint/2010/main" val="1132011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131AF-83AD-D63F-22C3-255563112275}"/>
              </a:ext>
            </a:extLst>
          </p:cNvPr>
          <p:cNvSpPr>
            <a:spLocks noGrp="1"/>
          </p:cNvSpPr>
          <p:nvPr>
            <p:ph type="title" idx="4294967295"/>
          </p:nvPr>
        </p:nvSpPr>
        <p:spPr>
          <a:xfrm>
            <a:off x="-1" y="274638"/>
            <a:ext cx="10601325" cy="849312"/>
          </a:xfrm>
        </p:spPr>
        <p:txBody>
          <a:bodyPr>
            <a:noAutofit/>
          </a:bodyPr>
          <a:lstStyle/>
          <a:p>
            <a:br>
              <a:rPr lang="en-US" sz="4000" b="1" i="0" dirty="0">
                <a:solidFill>
                  <a:srgbClr val="FF0000"/>
                </a:solidFill>
                <a:effectLst/>
                <a:ea typeface="Calibri" panose="020F0502020204030204" pitchFamily="34" charset="0"/>
                <a:cs typeface="Calibri" panose="020F0502020204030204" pitchFamily="34" charset="0"/>
              </a:rPr>
            </a:br>
            <a:r>
              <a:rPr lang="en-US" sz="4000" b="1" i="0" dirty="0">
                <a:solidFill>
                  <a:srgbClr val="FF0000"/>
                </a:solidFill>
                <a:effectLst/>
                <a:ea typeface="Calibri" panose="020F0502020204030204" pitchFamily="34" charset="0"/>
                <a:cs typeface="Calibri" panose="020F0502020204030204" pitchFamily="34" charset="0"/>
              </a:rPr>
              <a:t>Disadvantages of Naive Bayes Classifier</a:t>
            </a:r>
            <a:br>
              <a:rPr lang="en-US" sz="4000" b="1" i="0" dirty="0">
                <a:solidFill>
                  <a:srgbClr val="FF0000"/>
                </a:solidFill>
                <a:effectLst/>
                <a:ea typeface="Calibri" panose="020F0502020204030204" pitchFamily="34" charset="0"/>
                <a:cs typeface="Calibri" panose="020F0502020204030204" pitchFamily="34" charset="0"/>
              </a:rPr>
            </a:br>
            <a:endParaRPr lang="en-IN" sz="4000"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3388B2AD-2D69-1503-36B9-B1C12C12DDEC}"/>
              </a:ext>
            </a:extLst>
          </p:cNvPr>
          <p:cNvSpPr>
            <a:spLocks noGrp="1"/>
          </p:cNvSpPr>
          <p:nvPr>
            <p:ph type="body" idx="4294967295"/>
          </p:nvPr>
        </p:nvSpPr>
        <p:spPr>
          <a:xfrm>
            <a:off x="0" y="1470025"/>
            <a:ext cx="11831638" cy="3349625"/>
          </a:xfrm>
        </p:spPr>
        <p:txBody>
          <a:bodyPr/>
          <a:lstStyle/>
          <a:p>
            <a:pPr algn="l" fontAlgn="base">
              <a:spcAft>
                <a:spcPts val="1800"/>
              </a:spcAft>
              <a:buFont typeface="Wingdings" panose="05000000000000000000" pitchFamily="2" charset="2"/>
              <a:buChar char="Ø"/>
            </a:pPr>
            <a:r>
              <a:rPr lang="en-US" sz="32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Assumes that features are independent, which may not always hold in real-world data.</a:t>
            </a:r>
          </a:p>
          <a:p>
            <a:pPr algn="l" fontAlgn="base">
              <a:spcAft>
                <a:spcPts val="1800"/>
              </a:spcAft>
              <a:buFont typeface="Wingdings" panose="05000000000000000000" pitchFamily="2" charset="2"/>
              <a:buChar char="Ø"/>
            </a:pPr>
            <a:r>
              <a:rPr lang="en-US" sz="32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Can be influenced by irrelevant attributes.</a:t>
            </a:r>
          </a:p>
          <a:p>
            <a:pPr algn="l" fontAlgn="base">
              <a:spcAft>
                <a:spcPts val="1800"/>
              </a:spcAft>
              <a:buFont typeface="Wingdings" panose="05000000000000000000" pitchFamily="2" charset="2"/>
              <a:buChar char="Ø"/>
            </a:pPr>
            <a:r>
              <a:rPr lang="en-US" sz="32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May assign zero probability to unseen events, leading to poor generalization.</a:t>
            </a:r>
            <a:endParaRPr lang="en-IN" sz="3200" dirty="0"/>
          </a:p>
        </p:txBody>
      </p:sp>
      <p:sp>
        <p:nvSpPr>
          <p:cNvPr id="4" name="Footer Placeholder 3">
            <a:extLst>
              <a:ext uri="{FF2B5EF4-FFF2-40B4-BE49-F238E27FC236}">
                <a16:creationId xmlns:a16="http://schemas.microsoft.com/office/drawing/2014/main" id="{F4194C19-2101-62B3-19CF-697EB2B0138D}"/>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2596D8A4-B6B2-4DB1-D65B-A5FEB767B981}"/>
              </a:ext>
            </a:extLst>
          </p:cNvPr>
          <p:cNvSpPr>
            <a:spLocks noGrp="1"/>
          </p:cNvSpPr>
          <p:nvPr>
            <p:ph type="sldNum" sz="quarter" idx="12"/>
          </p:nvPr>
        </p:nvSpPr>
        <p:spPr/>
        <p:txBody>
          <a:bodyPr/>
          <a:lstStyle/>
          <a:p>
            <a:pPr>
              <a:defRPr/>
            </a:pPr>
            <a:fld id="{799C83C6-4F87-48B4-8CF0-6A2F9115491D}" type="slidenum">
              <a:rPr lang="en-IN" smtClean="0"/>
              <a:pPr>
                <a:defRPr/>
              </a:pPr>
              <a:t>24</a:t>
            </a:fld>
            <a:endParaRPr lang="en-IN"/>
          </a:p>
        </p:txBody>
      </p:sp>
    </p:spTree>
    <p:extLst>
      <p:ext uri="{BB962C8B-B14F-4D97-AF65-F5344CB8AC3E}">
        <p14:creationId xmlns:p14="http://schemas.microsoft.com/office/powerpoint/2010/main" val="4124857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00677-62C7-4A7E-554E-21988207D7B2}"/>
              </a:ext>
            </a:extLst>
          </p:cNvPr>
          <p:cNvSpPr>
            <a:spLocks noGrp="1"/>
          </p:cNvSpPr>
          <p:nvPr>
            <p:ph type="title" idx="4294967295"/>
          </p:nvPr>
        </p:nvSpPr>
        <p:spPr>
          <a:xfrm>
            <a:off x="0" y="274638"/>
            <a:ext cx="11258550" cy="849312"/>
          </a:xfrm>
        </p:spPr>
        <p:txBody>
          <a:bodyPr>
            <a:noAutofit/>
          </a:bodyPr>
          <a:lstStyle/>
          <a:p>
            <a:pPr algn="l"/>
            <a:r>
              <a:rPr lang="en-US" sz="4000" b="1" dirty="0">
                <a:solidFill>
                  <a:srgbClr val="FF0000"/>
                </a:solidFill>
                <a:ea typeface="Calibri" panose="020F0502020204030204" pitchFamily="34" charset="0"/>
                <a:cs typeface="Calibri" panose="020F0502020204030204" pitchFamily="34" charset="0"/>
              </a:rPr>
              <a:t>Implementation of Naïve Bayes classifier</a:t>
            </a:r>
            <a:endParaRPr lang="en-IN" sz="4000" b="1"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7E555DE8-7D3E-A104-26FA-68773A041853}"/>
              </a:ext>
            </a:extLst>
          </p:cNvPr>
          <p:cNvSpPr>
            <a:spLocks noGrp="1"/>
          </p:cNvSpPr>
          <p:nvPr>
            <p:ph type="body" idx="4294967295"/>
          </p:nvPr>
        </p:nvSpPr>
        <p:spPr>
          <a:xfrm>
            <a:off x="180975" y="1256506"/>
            <a:ext cx="11830050" cy="4967287"/>
          </a:xfrm>
        </p:spPr>
        <p:txBody>
          <a:bodyPr>
            <a:noAutofit/>
          </a:bodyPr>
          <a:lstStyle/>
          <a:p>
            <a:pPr marL="107950" indent="0" algn="l">
              <a:buNone/>
            </a:pPr>
            <a:r>
              <a:rPr lang="en-US" sz="3200" b="0" i="0" dirty="0">
                <a:solidFill>
                  <a:srgbClr val="2D3748"/>
                </a:solidFill>
                <a:effectLst/>
                <a:ea typeface="Calibri" panose="020F0502020204030204" pitchFamily="34" charset="0"/>
                <a:cs typeface="Calibri" panose="020F0502020204030204" pitchFamily="34" charset="0"/>
              </a:rPr>
              <a:t>To implement a Naive Bayes classifier, we perform three steps. </a:t>
            </a:r>
          </a:p>
          <a:p>
            <a:pPr algn="l">
              <a:buFont typeface="Wingdings" panose="05000000000000000000" pitchFamily="2" charset="2"/>
              <a:buChar char="Ø"/>
            </a:pPr>
            <a:r>
              <a:rPr lang="en-US" sz="3200" b="0" i="0" dirty="0">
                <a:solidFill>
                  <a:srgbClr val="2D3748"/>
                </a:solidFill>
                <a:effectLst/>
                <a:ea typeface="Calibri" panose="020F0502020204030204" pitchFamily="34" charset="0"/>
                <a:cs typeface="Calibri" panose="020F0502020204030204" pitchFamily="34" charset="0"/>
              </a:rPr>
              <a:t>First, we calculate the probability of each class label in the training dataset.</a:t>
            </a:r>
          </a:p>
          <a:p>
            <a:pPr algn="l">
              <a:buFont typeface="Wingdings" panose="05000000000000000000" pitchFamily="2" charset="2"/>
              <a:buChar char="Ø"/>
            </a:pPr>
            <a:r>
              <a:rPr lang="en-US" sz="3200" b="0" i="0" dirty="0">
                <a:solidFill>
                  <a:srgbClr val="2D3748"/>
                </a:solidFill>
                <a:effectLst/>
                <a:ea typeface="Calibri" panose="020F0502020204030204" pitchFamily="34" charset="0"/>
                <a:cs typeface="Calibri" panose="020F0502020204030204" pitchFamily="34" charset="0"/>
              </a:rPr>
              <a:t>Next, we calculate the conditional probability of each attribute of the training data for each class label given in the training data.</a:t>
            </a:r>
          </a:p>
          <a:p>
            <a:pPr algn="l">
              <a:buFont typeface="Wingdings" panose="05000000000000000000" pitchFamily="2" charset="2"/>
              <a:buChar char="Ø"/>
            </a:pPr>
            <a:r>
              <a:rPr lang="en-US" sz="3200" b="0" i="0" dirty="0">
                <a:solidFill>
                  <a:srgbClr val="2D3748"/>
                </a:solidFill>
                <a:effectLst/>
                <a:ea typeface="Calibri" panose="020F0502020204030204" pitchFamily="34" charset="0"/>
                <a:cs typeface="Calibri" panose="020F0502020204030204" pitchFamily="34" charset="0"/>
              </a:rPr>
              <a:t>Finally, we use the Bayes theorem and the calculated probabilities to predict class labels for new data points. For this, we will calculate the probability of the new data point belonging to each class. The class with which we get the maximum probability is assigned to the new data point.</a:t>
            </a:r>
          </a:p>
          <a:p>
            <a:pPr marL="107950" indent="0">
              <a:buNone/>
            </a:pPr>
            <a:endParaRPr lang="en-IN" sz="3200" dirty="0">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B05D031E-376F-472E-2B6B-7791D62AE78F}"/>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BB70C04A-64BE-1BE2-77A0-680C6A31AB7F}"/>
              </a:ext>
            </a:extLst>
          </p:cNvPr>
          <p:cNvSpPr>
            <a:spLocks noGrp="1"/>
          </p:cNvSpPr>
          <p:nvPr>
            <p:ph type="sldNum" sz="quarter" idx="12"/>
          </p:nvPr>
        </p:nvSpPr>
        <p:spPr/>
        <p:txBody>
          <a:bodyPr/>
          <a:lstStyle/>
          <a:p>
            <a:pPr>
              <a:defRPr/>
            </a:pPr>
            <a:fld id="{799C83C6-4F87-48B4-8CF0-6A2F9115491D}" type="slidenum">
              <a:rPr lang="en-IN" smtClean="0"/>
              <a:pPr>
                <a:defRPr/>
              </a:pPr>
              <a:t>25</a:t>
            </a:fld>
            <a:endParaRPr lang="en-IN"/>
          </a:p>
        </p:txBody>
      </p:sp>
    </p:spTree>
    <p:extLst>
      <p:ext uri="{BB962C8B-B14F-4D97-AF65-F5344CB8AC3E}">
        <p14:creationId xmlns:p14="http://schemas.microsoft.com/office/powerpoint/2010/main" val="2480548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57D47-3279-3C39-1A8E-8744CE8AF5DD}"/>
              </a:ext>
            </a:extLst>
          </p:cNvPr>
          <p:cNvSpPr>
            <a:spLocks noGrp="1"/>
          </p:cNvSpPr>
          <p:nvPr>
            <p:ph type="title" idx="4294967295"/>
          </p:nvPr>
        </p:nvSpPr>
        <p:spPr>
          <a:xfrm>
            <a:off x="0" y="274638"/>
            <a:ext cx="8161338" cy="849312"/>
          </a:xfrm>
        </p:spPr>
        <p:txBody>
          <a:bodyPr/>
          <a:lstStyle/>
          <a:p>
            <a:pPr algn="l"/>
            <a:r>
              <a:rPr lang="en-US" sz="4000" b="1" dirty="0">
                <a:solidFill>
                  <a:srgbClr val="FF0000"/>
                </a:solidFill>
                <a:ea typeface="Calibri" panose="020F0502020204030204" pitchFamily="34" charset="0"/>
                <a:cs typeface="Calibri" panose="020F0502020204030204" pitchFamily="34" charset="0"/>
              </a:rPr>
              <a:t>Problem 6</a:t>
            </a:r>
            <a:endParaRPr lang="en-IN" sz="4000" b="1" dirty="0">
              <a:solidFill>
                <a:srgbClr val="FF0000"/>
              </a:solidFill>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780884F2-E685-099B-6075-113B2C8F359A}"/>
              </a:ext>
            </a:extLst>
          </p:cNvPr>
          <p:cNvSpPr>
            <a:spLocks noGrp="1"/>
          </p:cNvSpPr>
          <p:nvPr>
            <p:ph type="body" idx="4294967295"/>
          </p:nvPr>
        </p:nvSpPr>
        <p:spPr>
          <a:xfrm>
            <a:off x="0" y="1408114"/>
            <a:ext cx="10766425" cy="525462"/>
          </a:xfrm>
        </p:spPr>
        <p:txBody>
          <a:bodyPr>
            <a:noAutofit/>
          </a:bodyPr>
          <a:lstStyle/>
          <a:p>
            <a:pPr marL="107950" indent="0" algn="l">
              <a:buNone/>
            </a:pPr>
            <a:r>
              <a:rPr lang="en-US" sz="2800" dirty="0">
                <a:solidFill>
                  <a:schemeClr val="tx1"/>
                </a:solidFill>
                <a:ea typeface="Calibri" panose="020F0502020204030204" pitchFamily="34" charset="0"/>
                <a:cs typeface="Calibri" panose="020F0502020204030204" pitchFamily="34" charset="0"/>
              </a:rPr>
              <a:t>Consider the following data set:</a:t>
            </a:r>
          </a:p>
        </p:txBody>
      </p:sp>
      <p:pic>
        <p:nvPicPr>
          <p:cNvPr id="5" name="Picture 4">
            <a:extLst>
              <a:ext uri="{FF2B5EF4-FFF2-40B4-BE49-F238E27FC236}">
                <a16:creationId xmlns:a16="http://schemas.microsoft.com/office/drawing/2014/main" id="{D770F61E-83D6-8EF8-5A97-1B20A0B15CBC}"/>
              </a:ext>
            </a:extLst>
          </p:cNvPr>
          <p:cNvPicPr>
            <a:picLocks noChangeAspect="1"/>
          </p:cNvPicPr>
          <p:nvPr/>
        </p:nvPicPr>
        <p:blipFill>
          <a:blip r:embed="rId2"/>
          <a:stretch>
            <a:fillRect/>
          </a:stretch>
        </p:blipFill>
        <p:spPr>
          <a:xfrm>
            <a:off x="707232" y="2008816"/>
            <a:ext cx="6368193" cy="2962539"/>
          </a:xfrm>
          <a:prstGeom prst="rect">
            <a:avLst/>
          </a:prstGeom>
        </p:spPr>
      </p:pic>
      <p:sp>
        <p:nvSpPr>
          <p:cNvPr id="4" name="Footer Placeholder 3">
            <a:extLst>
              <a:ext uri="{FF2B5EF4-FFF2-40B4-BE49-F238E27FC236}">
                <a16:creationId xmlns:a16="http://schemas.microsoft.com/office/drawing/2014/main" id="{9CA2FBE4-9DEA-EE7F-33CB-7626EB17825C}"/>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F098F1D6-6643-3E3F-225E-55C2DACCEEA1}"/>
              </a:ext>
            </a:extLst>
          </p:cNvPr>
          <p:cNvSpPr>
            <a:spLocks noGrp="1"/>
          </p:cNvSpPr>
          <p:nvPr>
            <p:ph type="sldNum" sz="quarter" idx="12"/>
          </p:nvPr>
        </p:nvSpPr>
        <p:spPr/>
        <p:txBody>
          <a:bodyPr/>
          <a:lstStyle/>
          <a:p>
            <a:pPr>
              <a:defRPr/>
            </a:pPr>
            <a:fld id="{799C83C6-4F87-48B4-8CF0-6A2F9115491D}" type="slidenum">
              <a:rPr lang="en-IN" smtClean="0"/>
              <a:pPr>
                <a:defRPr/>
              </a:pPr>
              <a:t>26</a:t>
            </a:fld>
            <a:endParaRPr lang="en-IN"/>
          </a:p>
        </p:txBody>
      </p:sp>
      <p:sp>
        <p:nvSpPr>
          <p:cNvPr id="8" name="TextBox 7">
            <a:extLst>
              <a:ext uri="{FF2B5EF4-FFF2-40B4-BE49-F238E27FC236}">
                <a16:creationId xmlns:a16="http://schemas.microsoft.com/office/drawing/2014/main" id="{05DF7A94-EDDB-3EA8-B7FF-B067C3ED1F7D}"/>
              </a:ext>
            </a:extLst>
          </p:cNvPr>
          <p:cNvSpPr txBox="1"/>
          <p:nvPr/>
        </p:nvSpPr>
        <p:spPr>
          <a:xfrm>
            <a:off x="707232" y="4971355"/>
            <a:ext cx="10551318" cy="954107"/>
          </a:xfrm>
          <a:prstGeom prst="rect">
            <a:avLst/>
          </a:prstGeom>
          <a:noFill/>
        </p:spPr>
        <p:txBody>
          <a:bodyPr wrap="square">
            <a:spAutoFit/>
          </a:bodyPr>
          <a:lstStyle/>
          <a:p>
            <a:pPr marL="107950" indent="0" algn="l">
              <a:buNone/>
            </a:pPr>
            <a:r>
              <a:rPr lang="en-US" sz="2800" dirty="0">
                <a:solidFill>
                  <a:schemeClr val="tx1"/>
                </a:solidFill>
                <a:ea typeface="Calibri" panose="020F0502020204030204" pitchFamily="34" charset="0"/>
                <a:cs typeface="Calibri" panose="020F0502020204030204" pitchFamily="34" charset="0"/>
              </a:rPr>
              <a:t>Find out whether the object with attribute </a:t>
            </a:r>
            <a:r>
              <a:rPr lang="en-US" sz="2800" b="1" dirty="0">
                <a:solidFill>
                  <a:schemeClr val="tx1"/>
                </a:solidFill>
                <a:ea typeface="Calibri" panose="020F0502020204030204" pitchFamily="34" charset="0"/>
                <a:cs typeface="Calibri" panose="020F0502020204030204" pitchFamily="34" charset="0"/>
              </a:rPr>
              <a:t>Confident = Yes, Sick = No</a:t>
            </a:r>
            <a:r>
              <a:rPr lang="en-US" sz="2800" dirty="0">
                <a:solidFill>
                  <a:schemeClr val="tx1"/>
                </a:solidFill>
                <a:ea typeface="Calibri" panose="020F0502020204030204" pitchFamily="34" charset="0"/>
                <a:cs typeface="Calibri" panose="020F0502020204030204" pitchFamily="34" charset="0"/>
              </a:rPr>
              <a:t> will Fail or Pass using Bayesian Classification.</a:t>
            </a:r>
          </a:p>
        </p:txBody>
      </p:sp>
    </p:spTree>
    <p:extLst>
      <p:ext uri="{BB962C8B-B14F-4D97-AF65-F5344CB8AC3E}">
        <p14:creationId xmlns:p14="http://schemas.microsoft.com/office/powerpoint/2010/main" val="3814422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BDA67B3-740F-41C5-39E2-57B1C7DAF09F}"/>
              </a:ext>
            </a:extLst>
          </p:cNvPr>
          <p:cNvGraphicFramePr>
            <a:graphicFrameLocks noGrp="1"/>
          </p:cNvGraphicFramePr>
          <p:nvPr>
            <p:extLst>
              <p:ext uri="{D42A27DB-BD31-4B8C-83A1-F6EECF244321}">
                <p14:modId xmlns:p14="http://schemas.microsoft.com/office/powerpoint/2010/main" val="2711591979"/>
              </p:ext>
            </p:extLst>
          </p:nvPr>
        </p:nvGraphicFramePr>
        <p:xfrm>
          <a:off x="95250" y="1098759"/>
          <a:ext cx="4933952" cy="2194560"/>
        </p:xfrm>
        <a:graphic>
          <a:graphicData uri="http://schemas.openxmlformats.org/drawingml/2006/table">
            <a:tbl>
              <a:tblPr firstRow="1">
                <a:tableStyleId>{5FD0F851-EC5A-4D38-B0AD-8093EC10F338}</a:tableStyleId>
              </a:tblPr>
              <a:tblGrid>
                <a:gridCol w="1304925">
                  <a:extLst>
                    <a:ext uri="{9D8B030D-6E8A-4147-A177-3AD203B41FA5}">
                      <a16:colId xmlns:a16="http://schemas.microsoft.com/office/drawing/2014/main" val="1091852484"/>
                    </a:ext>
                  </a:extLst>
                </a:gridCol>
                <a:gridCol w="1162051">
                  <a:extLst>
                    <a:ext uri="{9D8B030D-6E8A-4147-A177-3AD203B41FA5}">
                      <a16:colId xmlns:a16="http://schemas.microsoft.com/office/drawing/2014/main" val="1847420182"/>
                    </a:ext>
                  </a:extLst>
                </a:gridCol>
                <a:gridCol w="1233488">
                  <a:extLst>
                    <a:ext uri="{9D8B030D-6E8A-4147-A177-3AD203B41FA5}">
                      <a16:colId xmlns:a16="http://schemas.microsoft.com/office/drawing/2014/main" val="3476776633"/>
                    </a:ext>
                  </a:extLst>
                </a:gridCol>
                <a:gridCol w="1233488">
                  <a:extLst>
                    <a:ext uri="{9D8B030D-6E8A-4147-A177-3AD203B41FA5}">
                      <a16:colId xmlns:a16="http://schemas.microsoft.com/office/drawing/2014/main" val="3800000086"/>
                    </a:ext>
                  </a:extLst>
                </a:gridCol>
              </a:tblGrid>
              <a:tr h="351817">
                <a:tc>
                  <a:txBody>
                    <a:bodyPr/>
                    <a:lstStyle/>
                    <a:p>
                      <a:pPr>
                        <a:buNone/>
                      </a:pPr>
                      <a:r>
                        <a:rPr lang="en-IN"/>
                        <a:t>Confident</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en-IN" dirty="0"/>
                        <a:t>Studied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en-IN"/>
                        <a:t>Sick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buNone/>
                      </a:pPr>
                      <a:r>
                        <a:rPr lang="en-IN"/>
                        <a:t>Result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6685151"/>
                  </a:ext>
                </a:extLst>
              </a:tr>
              <a:tr h="351817">
                <a:tc>
                  <a:txBody>
                    <a:bodyPr/>
                    <a:lstStyle/>
                    <a:p>
                      <a:pPr>
                        <a:buNone/>
                      </a:pPr>
                      <a:r>
                        <a:rPr lang="en-IN" dirty="0"/>
                        <a:t>Yes</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Fail</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6459585"/>
                  </a:ext>
                </a:extLst>
              </a:tr>
              <a:tr h="351817">
                <a:tc>
                  <a:txBody>
                    <a:bodyPr/>
                    <a:lstStyle/>
                    <a:p>
                      <a:pPr>
                        <a:buNone/>
                      </a:pPr>
                      <a:r>
                        <a:rPr lang="en-IN"/>
                        <a:t>Yes</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Pass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1297283"/>
                  </a:ext>
                </a:extLst>
              </a:tr>
              <a:tr h="351817">
                <a:tc>
                  <a:txBody>
                    <a:bodyPr/>
                    <a:lstStyle/>
                    <a:p>
                      <a:pPr>
                        <a:buNone/>
                      </a:pPr>
                      <a:r>
                        <a:rPr lang="en-IN"/>
                        <a:t>No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Fail</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3855590"/>
                  </a:ext>
                </a:extLst>
              </a:tr>
              <a:tr h="351817">
                <a:tc>
                  <a:txBody>
                    <a:bodyPr/>
                    <a:lstStyle/>
                    <a:p>
                      <a:pPr>
                        <a:buNone/>
                      </a:pPr>
                      <a:r>
                        <a:rPr lang="en-IN"/>
                        <a:t>No</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Pass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4522673"/>
                  </a:ext>
                </a:extLst>
              </a:tr>
              <a:tr h="351817">
                <a:tc>
                  <a:txBody>
                    <a:bodyPr/>
                    <a:lstStyle/>
                    <a:p>
                      <a:pPr>
                        <a:buNone/>
                      </a:pPr>
                      <a:r>
                        <a:rPr lang="en-IN"/>
                        <a:t>Yes</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en-IN" dirty="0"/>
                        <a:t>Pass</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45888291"/>
                  </a:ext>
                </a:extLst>
              </a:tr>
            </a:tbl>
          </a:graphicData>
        </a:graphic>
      </p:graphicFrame>
      <p:sp>
        <p:nvSpPr>
          <p:cNvPr id="6" name="TextBox 5">
            <a:extLst>
              <a:ext uri="{FF2B5EF4-FFF2-40B4-BE49-F238E27FC236}">
                <a16:creationId xmlns:a16="http://schemas.microsoft.com/office/drawing/2014/main" id="{2B5F82B6-2AD4-ABB2-7FC0-AE8BB5D8E22F}"/>
              </a:ext>
            </a:extLst>
          </p:cNvPr>
          <p:cNvSpPr txBox="1"/>
          <p:nvPr/>
        </p:nvSpPr>
        <p:spPr>
          <a:xfrm>
            <a:off x="95250" y="543759"/>
            <a:ext cx="6096000" cy="646331"/>
          </a:xfrm>
          <a:prstGeom prst="rect">
            <a:avLst/>
          </a:prstGeom>
          <a:noFill/>
        </p:spPr>
        <p:txBody>
          <a:bodyPr wrap="square">
            <a:spAutoFit/>
          </a:bodyPr>
          <a:lstStyle/>
          <a:p>
            <a:pPr>
              <a:buNone/>
            </a:pPr>
            <a:r>
              <a:rPr lang="en-IN" b="1" dirty="0"/>
              <a:t>Given Data Set</a:t>
            </a:r>
          </a:p>
          <a:p>
            <a:pPr>
              <a:buNone/>
            </a:pPr>
            <a:endParaRPr lang="en-IN" dirty="0"/>
          </a:p>
        </p:txBody>
      </p:sp>
      <p:sp>
        <p:nvSpPr>
          <p:cNvPr id="8" name="TextBox 7">
            <a:extLst>
              <a:ext uri="{FF2B5EF4-FFF2-40B4-BE49-F238E27FC236}">
                <a16:creationId xmlns:a16="http://schemas.microsoft.com/office/drawing/2014/main" id="{AD471833-8AC7-6BED-87FF-4023483FB15F}"/>
              </a:ext>
            </a:extLst>
          </p:cNvPr>
          <p:cNvSpPr txBox="1"/>
          <p:nvPr/>
        </p:nvSpPr>
        <p:spPr>
          <a:xfrm>
            <a:off x="95250" y="3564682"/>
            <a:ext cx="6096000" cy="646331"/>
          </a:xfrm>
          <a:prstGeom prst="rect">
            <a:avLst/>
          </a:prstGeom>
          <a:noFill/>
        </p:spPr>
        <p:txBody>
          <a:bodyPr wrap="square">
            <a:spAutoFit/>
          </a:bodyPr>
          <a:lstStyle/>
          <a:p>
            <a:pPr>
              <a:buNone/>
            </a:pPr>
            <a:r>
              <a:rPr lang="en-IN" sz="1800" dirty="0"/>
              <a:t>We have to find whether the new student with attributes</a:t>
            </a:r>
            <a:r>
              <a:rPr lang="en-IN" dirty="0"/>
              <a:t>: </a:t>
            </a:r>
            <a:r>
              <a:rPr lang="en-IN" sz="1800" dirty="0"/>
              <a:t>Confident = Yes ;Sick = No will pass or fail.</a:t>
            </a:r>
            <a:endParaRPr lang="en-IN"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70A39C5-4B30-CA3C-CD56-ECE5D96BA944}"/>
                  </a:ext>
                </a:extLst>
              </p:cNvPr>
              <p:cNvSpPr txBox="1"/>
              <p:nvPr/>
            </p:nvSpPr>
            <p:spPr>
              <a:xfrm>
                <a:off x="333375" y="4211013"/>
                <a:ext cx="6096000" cy="2295308"/>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Calculate Prior Probabilities:</a:t>
                </a:r>
              </a:p>
              <a:p>
                <a:pPr>
                  <a:lnSpc>
                    <a:spcPct val="150000"/>
                  </a:lnSpc>
                  <a:buNone/>
                </a:pPr>
                <a:r>
                  <a:rPr lang="en-IN" dirty="0">
                    <a:latin typeface="Times New Roman" panose="02020603050405020304" pitchFamily="18" charset="0"/>
                    <a:cs typeface="Times New Roman" panose="02020603050405020304" pitchFamily="18" charset="0"/>
                  </a:rPr>
                  <a:t>Total number of records = </a:t>
                </a:r>
                <a:r>
                  <a:rPr lang="en-IN" b="1"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p>
                <a:pPr>
                  <a:lnSpc>
                    <a:spcPct val="150000"/>
                  </a:lnSpc>
                  <a:buNone/>
                </a:pPr>
                <a:r>
                  <a:rPr lang="en-IN" dirty="0">
                    <a:latin typeface="Times New Roman" panose="02020603050405020304" pitchFamily="18" charset="0"/>
                    <a:cs typeface="Times New Roman" panose="02020603050405020304" pitchFamily="18" charset="0"/>
                  </a:rPr>
                  <a:t>Number of </a:t>
                </a:r>
                <a:r>
                  <a:rPr lang="en-IN" b="1" dirty="0">
                    <a:latin typeface="Times New Roman" panose="02020603050405020304" pitchFamily="18" charset="0"/>
                    <a:cs typeface="Times New Roman" panose="02020603050405020304" pitchFamily="18" charset="0"/>
                  </a:rPr>
                  <a:t>Pass</a:t>
                </a:r>
                <a:r>
                  <a:rPr lang="en-IN" dirty="0">
                    <a:latin typeface="Times New Roman" panose="02020603050405020304" pitchFamily="18" charset="0"/>
                    <a:cs typeface="Times New Roman" panose="02020603050405020304" pitchFamily="18" charset="0"/>
                  </a:rPr>
                  <a:t> records = </a:t>
                </a:r>
                <a:r>
                  <a:rPr lang="en-IN" b="1"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p>
                <a:pPr>
                  <a:lnSpc>
                    <a:spcPct val="150000"/>
                  </a:lnSpc>
                  <a:buNone/>
                </a:pPr>
                <a:r>
                  <a:rPr lang="en-IN" dirty="0">
                    <a:latin typeface="Times New Roman" panose="02020603050405020304" pitchFamily="18" charset="0"/>
                    <a:cs typeface="Times New Roman" panose="02020603050405020304" pitchFamily="18" charset="0"/>
                  </a:rPr>
                  <a:t>Number of </a:t>
                </a:r>
                <a:r>
                  <a:rPr lang="en-IN" b="1" dirty="0">
                    <a:latin typeface="Times New Roman" panose="02020603050405020304" pitchFamily="18" charset="0"/>
                    <a:cs typeface="Times New Roman" panose="02020603050405020304" pitchFamily="18" charset="0"/>
                  </a:rPr>
                  <a:t>Fail</a:t>
                </a:r>
                <a:r>
                  <a:rPr lang="en-IN" dirty="0">
                    <a:latin typeface="Times New Roman" panose="02020603050405020304" pitchFamily="18" charset="0"/>
                    <a:cs typeface="Times New Roman" panose="02020603050405020304" pitchFamily="18" charset="0"/>
                  </a:rPr>
                  <a:t> records = </a:t>
                </a:r>
                <a:r>
                  <a:rPr lang="en-IN" b="1"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p>
                <a:pPr>
                  <a:lnSpc>
                    <a:spcPct val="150000"/>
                  </a:lnSpc>
                  <a:buNone/>
                </a:pPr>
                <a14:m>
                  <m:oMath xmlns:m="http://schemas.openxmlformats.org/officeDocument/2006/math">
                    <m:r>
                      <a:rPr lang="en-IN" i="1" smtClean="0">
                        <a:latin typeface="Cambria Math" panose="02040503050406030204" pitchFamily="18" charset="0"/>
                        <a:ea typeface="Cambria Math" panose="02040503050406030204" pitchFamily="18" charset="0"/>
                      </a:rPr>
                      <m:t>∴</m:t>
                    </m:r>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Pass</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3</m:t>
                        </m:r>
                      </m:num>
                      <m:den>
                        <m:r>
                          <a:rPr lang="en-IN" b="0" i="0">
                            <a:latin typeface="Cambria Math" panose="02040503050406030204" pitchFamily="18" charset="0"/>
                          </a:rPr>
                          <m:t>5</m:t>
                        </m:r>
                      </m:den>
                    </m:f>
                  </m:oMath>
                </a14:m>
                <a:r>
                  <a:rPr lang="en-IN" b="0" dirty="0">
                    <a:latin typeface="Times New Roman" panose="02020603050405020304" pitchFamily="18" charset="0"/>
                    <a:cs typeface="Times New Roman" panose="02020603050405020304" pitchFamily="18" charset="0"/>
                  </a:rPr>
                  <a:t> &amp; </a:t>
                </a:r>
                <a14:m>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Fail</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2</m:t>
                        </m:r>
                      </m:num>
                      <m:den>
                        <m:r>
                          <a:rPr lang="en-IN" b="0" i="0">
                            <a:latin typeface="Cambria Math" panose="02040503050406030204" pitchFamily="18" charset="0"/>
                          </a:rPr>
                          <m:t>5</m:t>
                        </m:r>
                      </m:den>
                    </m:f>
                  </m:oMath>
                </a14:m>
                <a:endParaRPr lang="en-IN" b="0" dirty="0">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F70A39C5-4B30-CA3C-CD56-ECE5D96BA944}"/>
                  </a:ext>
                </a:extLst>
              </p:cNvPr>
              <p:cNvSpPr txBox="1">
                <a:spLocks noRot="1" noChangeAspect="1" noMove="1" noResize="1" noEditPoints="1" noAdjustHandles="1" noChangeArrowheads="1" noChangeShapeType="1" noTextEdit="1"/>
              </p:cNvSpPr>
              <p:nvPr/>
            </p:nvSpPr>
            <p:spPr>
              <a:xfrm>
                <a:off x="333375" y="4211013"/>
                <a:ext cx="6096000" cy="2295308"/>
              </a:xfrm>
              <a:prstGeom prst="rect">
                <a:avLst/>
              </a:prstGeom>
              <a:blipFill>
                <a:blip r:embed="rId2"/>
                <a:stretch>
                  <a:fillRect l="-900" b="-798"/>
                </a:stretch>
              </a:blipFill>
            </p:spPr>
            <p:txBody>
              <a:bodyPr/>
              <a:lstStyle/>
              <a:p>
                <a:r>
                  <a:rPr lang="en-IN">
                    <a:noFill/>
                  </a:rPr>
                  <a:t> </a:t>
                </a:r>
              </a:p>
            </p:txBody>
          </p:sp>
        </mc:Fallback>
      </mc:AlternateContent>
      <p:graphicFrame>
        <p:nvGraphicFramePr>
          <p:cNvPr id="11" name="Table 10">
            <a:extLst>
              <a:ext uri="{FF2B5EF4-FFF2-40B4-BE49-F238E27FC236}">
                <a16:creationId xmlns:a16="http://schemas.microsoft.com/office/drawing/2014/main" id="{A2FDB9E8-E0B9-E0FB-92D4-5FAEA017AD88}"/>
              </a:ext>
            </a:extLst>
          </p:cNvPr>
          <p:cNvGraphicFramePr>
            <a:graphicFrameLocks noGrp="1"/>
          </p:cNvGraphicFramePr>
          <p:nvPr>
            <p:extLst>
              <p:ext uri="{D42A27DB-BD31-4B8C-83A1-F6EECF244321}">
                <p14:modId xmlns:p14="http://schemas.microsoft.com/office/powerpoint/2010/main" val="951740241"/>
              </p:ext>
            </p:extLst>
          </p:nvPr>
        </p:nvGraphicFramePr>
        <p:xfrm>
          <a:off x="6200775" y="936406"/>
          <a:ext cx="3581400" cy="1463040"/>
        </p:xfrm>
        <a:graphic>
          <a:graphicData uri="http://schemas.openxmlformats.org/drawingml/2006/table">
            <a:tbl>
              <a:tblPr firstRow="1">
                <a:tableStyleId>{69012ECD-51FC-41F1-AA8D-1B2483CD663E}</a:tableStyleId>
              </a:tblPr>
              <a:tblGrid>
                <a:gridCol w="1790700">
                  <a:extLst>
                    <a:ext uri="{9D8B030D-6E8A-4147-A177-3AD203B41FA5}">
                      <a16:colId xmlns:a16="http://schemas.microsoft.com/office/drawing/2014/main" val="1953922708"/>
                    </a:ext>
                  </a:extLst>
                </a:gridCol>
                <a:gridCol w="1790700">
                  <a:extLst>
                    <a:ext uri="{9D8B030D-6E8A-4147-A177-3AD203B41FA5}">
                      <a16:colId xmlns:a16="http://schemas.microsoft.com/office/drawing/2014/main" val="1430940720"/>
                    </a:ext>
                  </a:extLst>
                </a:gridCol>
              </a:tblGrid>
              <a:tr h="0">
                <a:tc>
                  <a:txBody>
                    <a:bodyPr/>
                    <a:lstStyle/>
                    <a:p>
                      <a:pPr algn="ctr">
                        <a:buNone/>
                      </a:pPr>
                      <a:r>
                        <a:rPr lang="en-IN"/>
                        <a:t>Confident</a:t>
                      </a:r>
                    </a:p>
                  </a:txBody>
                  <a:tcPr anchor="ctr"/>
                </a:tc>
                <a:tc>
                  <a:txBody>
                    <a:bodyPr/>
                    <a:lstStyle/>
                    <a:p>
                      <a:pPr algn="ctr">
                        <a:buNone/>
                      </a:pPr>
                      <a:r>
                        <a:rPr lang="en-IN" dirty="0"/>
                        <a:t>Sick</a:t>
                      </a:r>
                    </a:p>
                  </a:txBody>
                  <a:tcPr anchor="ctr"/>
                </a:tc>
                <a:extLst>
                  <a:ext uri="{0D108BD9-81ED-4DB2-BD59-A6C34878D82A}">
                    <a16:rowId xmlns:a16="http://schemas.microsoft.com/office/drawing/2014/main" val="2799491738"/>
                  </a:ext>
                </a:extLst>
              </a:tr>
              <a:tr h="0">
                <a:tc>
                  <a:txBody>
                    <a:bodyPr/>
                    <a:lstStyle/>
                    <a:p>
                      <a:pPr algn="ctr">
                        <a:buNone/>
                      </a:pPr>
                      <a:r>
                        <a:rPr lang="en-IN" dirty="0"/>
                        <a:t>Yes</a:t>
                      </a:r>
                    </a:p>
                  </a:txBody>
                  <a:tcPr anchor="ctr"/>
                </a:tc>
                <a:tc>
                  <a:txBody>
                    <a:bodyPr/>
                    <a:lstStyle/>
                    <a:p>
                      <a:pPr algn="ctr">
                        <a:buNone/>
                      </a:pPr>
                      <a:r>
                        <a:rPr lang="en-IN"/>
                        <a:t>Yes</a:t>
                      </a:r>
                    </a:p>
                  </a:txBody>
                  <a:tcPr anchor="ctr"/>
                </a:tc>
                <a:extLst>
                  <a:ext uri="{0D108BD9-81ED-4DB2-BD59-A6C34878D82A}">
                    <a16:rowId xmlns:a16="http://schemas.microsoft.com/office/drawing/2014/main" val="2595116377"/>
                  </a:ext>
                </a:extLst>
              </a:tr>
              <a:tr h="0">
                <a:tc>
                  <a:txBody>
                    <a:bodyPr/>
                    <a:lstStyle/>
                    <a:p>
                      <a:pPr algn="ctr">
                        <a:buNone/>
                      </a:pPr>
                      <a:r>
                        <a:rPr lang="en-IN"/>
                        <a:t>No</a:t>
                      </a:r>
                    </a:p>
                  </a:txBody>
                  <a:tcPr anchor="ctr"/>
                </a:tc>
                <a:tc>
                  <a:txBody>
                    <a:bodyPr/>
                    <a:lstStyle/>
                    <a:p>
                      <a:pPr algn="ctr">
                        <a:buNone/>
                      </a:pPr>
                      <a:r>
                        <a:rPr lang="en-IN"/>
                        <a:t>No</a:t>
                      </a:r>
                    </a:p>
                  </a:txBody>
                  <a:tcPr anchor="ctr"/>
                </a:tc>
                <a:extLst>
                  <a:ext uri="{0D108BD9-81ED-4DB2-BD59-A6C34878D82A}">
                    <a16:rowId xmlns:a16="http://schemas.microsoft.com/office/drawing/2014/main" val="1996212111"/>
                  </a:ext>
                </a:extLst>
              </a:tr>
              <a:tr h="0">
                <a:tc>
                  <a:txBody>
                    <a:bodyPr/>
                    <a:lstStyle/>
                    <a:p>
                      <a:pPr algn="ctr">
                        <a:buNone/>
                      </a:pPr>
                      <a:r>
                        <a:rPr lang="en-IN" dirty="0"/>
                        <a:t>Yes</a:t>
                      </a:r>
                    </a:p>
                  </a:txBody>
                  <a:tcPr anchor="ctr"/>
                </a:tc>
                <a:tc>
                  <a:txBody>
                    <a:bodyPr/>
                    <a:lstStyle/>
                    <a:p>
                      <a:pPr algn="ctr">
                        <a:buNone/>
                      </a:pPr>
                      <a:r>
                        <a:rPr lang="en-IN" dirty="0"/>
                        <a:t>Yes</a:t>
                      </a:r>
                    </a:p>
                  </a:txBody>
                  <a:tcPr anchor="ctr"/>
                </a:tc>
                <a:extLst>
                  <a:ext uri="{0D108BD9-81ED-4DB2-BD59-A6C34878D82A}">
                    <a16:rowId xmlns:a16="http://schemas.microsoft.com/office/drawing/2014/main" val="2387807330"/>
                  </a:ext>
                </a:extLst>
              </a:tr>
            </a:tbl>
          </a:graphicData>
        </a:graphic>
      </p:graphicFrame>
      <p:sp>
        <p:nvSpPr>
          <p:cNvPr id="13" name="TextBox 12">
            <a:extLst>
              <a:ext uri="{FF2B5EF4-FFF2-40B4-BE49-F238E27FC236}">
                <a16:creationId xmlns:a16="http://schemas.microsoft.com/office/drawing/2014/main" id="{F0D515E4-FE5B-D7F8-7DBE-4C3A8BC31F84}"/>
              </a:ext>
            </a:extLst>
          </p:cNvPr>
          <p:cNvSpPr txBox="1"/>
          <p:nvPr/>
        </p:nvSpPr>
        <p:spPr>
          <a:xfrm>
            <a:off x="6000750" y="182832"/>
            <a:ext cx="6096000" cy="646331"/>
          </a:xfrm>
          <a:prstGeom prst="rect">
            <a:avLst/>
          </a:prstGeom>
          <a:noFill/>
        </p:spPr>
        <p:txBody>
          <a:bodyPr wrap="square">
            <a:spAutoFit/>
          </a:bodyPr>
          <a:lstStyle/>
          <a:p>
            <a:pPr>
              <a:buNone/>
            </a:pPr>
            <a:r>
              <a:rPr lang="en-IN" b="1" dirty="0"/>
              <a:t>Calculate Conditional Probabilities For Class = Pass</a:t>
            </a:r>
          </a:p>
          <a:p>
            <a:pPr>
              <a:buNone/>
            </a:pPr>
            <a:r>
              <a:rPr lang="en-IN" dirty="0"/>
              <a:t>Among the three Pass records: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E782A6B-0BC3-38EC-F01C-0555F1AC7669}"/>
                  </a:ext>
                </a:extLst>
              </p:cNvPr>
              <p:cNvSpPr txBox="1"/>
              <p:nvPr/>
            </p:nvSpPr>
            <p:spPr>
              <a:xfrm>
                <a:off x="6276975" y="2516904"/>
                <a:ext cx="4476750" cy="1005853"/>
              </a:xfrm>
              <a:prstGeom prst="rect">
                <a:avLst/>
              </a:prstGeom>
              <a:noFill/>
            </p:spPr>
            <p:txBody>
              <a:bodyPr wrap="square">
                <a:spAutoFit/>
              </a:bodyPr>
              <a:lstStyle/>
              <a:p>
                <a:pPr>
                  <a:buNone/>
                </a:pPr>
                <a:r>
                  <a:rPr lang="en-IN" sz="1800" dirty="0"/>
                  <a:t>Hence, </a:t>
                </a:r>
                <a14:m>
                  <m:oMath xmlns:m="http://schemas.openxmlformats.org/officeDocument/2006/math">
                    <m:r>
                      <a:rPr lang="en-IN" sz="1800" i="1">
                        <a:latin typeface="Cambria Math" panose="02040503050406030204" pitchFamily="18" charset="0"/>
                      </a:rPr>
                      <m:t>𝑃</m:t>
                    </m:r>
                    <m:d>
                      <m:dPr>
                        <m:ctrlPr>
                          <a:rPr lang="en-IN" sz="1800" b="0" i="1">
                            <a:latin typeface="Cambria Math" panose="02040503050406030204" pitchFamily="18" charset="0"/>
                          </a:rPr>
                        </m:ctrlPr>
                      </m:dPr>
                      <m:e>
                        <m:r>
                          <m:rPr>
                            <m:nor/>
                          </m:rPr>
                          <a:rPr lang="en-IN" sz="1800" b="0" i="0">
                            <a:latin typeface="Cambria Math" panose="02040503050406030204" pitchFamily="18" charset="0"/>
                          </a:rPr>
                          <m:t>Confident</m:t>
                        </m:r>
                        <m:r>
                          <m:rPr>
                            <m:nor/>
                          </m:rPr>
                          <a:rPr lang="en-IN" sz="1800" b="0" i="0">
                            <a:latin typeface="Cambria Math" panose="02040503050406030204" pitchFamily="18" charset="0"/>
                          </a:rPr>
                          <m:t> = </m:t>
                        </m:r>
                        <m:r>
                          <m:rPr>
                            <m:nor/>
                          </m:rPr>
                          <a:rPr lang="en-IN" sz="1800" b="0" i="0">
                            <a:latin typeface="Cambria Math" panose="02040503050406030204" pitchFamily="18" charset="0"/>
                          </a:rPr>
                          <m:t>Yes</m:t>
                        </m:r>
                        <m:r>
                          <a:rPr lang="en-IN" sz="1800" b="0" i="0">
                            <a:latin typeface="Cambria Math" panose="02040503050406030204" pitchFamily="18" charset="0"/>
                          </a:rPr>
                          <m:t>∣</m:t>
                        </m:r>
                        <m:r>
                          <m:rPr>
                            <m:nor/>
                          </m:rPr>
                          <a:rPr lang="en-IN" sz="1800" b="0" i="0">
                            <a:latin typeface="Cambria Math" panose="02040503050406030204" pitchFamily="18" charset="0"/>
                          </a:rPr>
                          <m:t>Pass</m:t>
                        </m:r>
                      </m:e>
                    </m:d>
                    <m:r>
                      <a:rPr lang="en-IN" sz="1800" b="0" i="0">
                        <a:latin typeface="Cambria Math" panose="02040503050406030204" pitchFamily="18" charset="0"/>
                      </a:rPr>
                      <m:t>=</m:t>
                    </m:r>
                    <m:f>
                      <m:fPr>
                        <m:ctrlPr>
                          <a:rPr lang="en-IN" sz="1800" b="0" i="1">
                            <a:latin typeface="Cambria Math" panose="02040503050406030204" pitchFamily="18" charset="0"/>
                          </a:rPr>
                        </m:ctrlPr>
                      </m:fPr>
                      <m:num>
                        <m:r>
                          <a:rPr lang="en-IN" sz="1800" b="0" i="0">
                            <a:latin typeface="Cambria Math" panose="02040503050406030204" pitchFamily="18" charset="0"/>
                          </a:rPr>
                          <m:t>2</m:t>
                        </m:r>
                      </m:num>
                      <m:den>
                        <m:r>
                          <a:rPr lang="en-IN" sz="1800" b="0" i="0">
                            <a:latin typeface="Cambria Math" panose="02040503050406030204" pitchFamily="18" charset="0"/>
                          </a:rPr>
                          <m:t>3</m:t>
                        </m:r>
                      </m:den>
                    </m:f>
                  </m:oMath>
                </a14:m>
                <a:endParaRPr lang="en-IN" sz="1800" b="0" dirty="0"/>
              </a:p>
              <a:p>
                <a:pPr>
                  <a:buNone/>
                </a:pPr>
                <a14:m>
                  <m:oMathPara xmlns:m="http://schemas.openxmlformats.org/officeDocument/2006/math">
                    <m:oMathParaPr>
                      <m:jc m:val="centerGroup"/>
                    </m:oMathParaPr>
                    <m:oMath xmlns:m="http://schemas.openxmlformats.org/officeDocument/2006/math">
                      <m:r>
                        <a:rPr lang="en-IN" sz="1800" i="1">
                          <a:latin typeface="Cambria Math" panose="02040503050406030204" pitchFamily="18" charset="0"/>
                        </a:rPr>
                        <m:t>𝑃</m:t>
                      </m:r>
                      <m:d>
                        <m:dPr>
                          <m:ctrlPr>
                            <a:rPr lang="en-IN" sz="1800" b="0" i="1">
                              <a:latin typeface="Cambria Math" panose="02040503050406030204" pitchFamily="18" charset="0"/>
                            </a:rPr>
                          </m:ctrlPr>
                        </m:dPr>
                        <m:e>
                          <m:r>
                            <m:rPr>
                              <m:nor/>
                            </m:rPr>
                            <a:rPr lang="en-IN" sz="1800" b="0" i="0">
                              <a:latin typeface="Cambria Math" panose="02040503050406030204" pitchFamily="18" charset="0"/>
                            </a:rPr>
                            <m:t>Sick</m:t>
                          </m:r>
                          <m:r>
                            <m:rPr>
                              <m:nor/>
                            </m:rPr>
                            <a:rPr lang="en-IN" sz="1800" b="0" i="0">
                              <a:latin typeface="Cambria Math" panose="02040503050406030204" pitchFamily="18" charset="0"/>
                            </a:rPr>
                            <m:t> = </m:t>
                          </m:r>
                          <m:r>
                            <m:rPr>
                              <m:nor/>
                            </m:rPr>
                            <a:rPr lang="en-IN" sz="1800" b="0" i="0">
                              <a:latin typeface="Cambria Math" panose="02040503050406030204" pitchFamily="18" charset="0"/>
                            </a:rPr>
                            <m:t>No</m:t>
                          </m:r>
                          <m:r>
                            <a:rPr lang="en-IN" sz="1800" b="0" i="0">
                              <a:latin typeface="Cambria Math" panose="02040503050406030204" pitchFamily="18" charset="0"/>
                            </a:rPr>
                            <m:t>∣</m:t>
                          </m:r>
                          <m:r>
                            <m:rPr>
                              <m:nor/>
                            </m:rPr>
                            <a:rPr lang="en-IN" sz="1800" b="0" i="0">
                              <a:latin typeface="Cambria Math" panose="02040503050406030204" pitchFamily="18" charset="0"/>
                            </a:rPr>
                            <m:t>Pass</m:t>
                          </m:r>
                        </m:e>
                      </m:d>
                      <m:r>
                        <a:rPr lang="en-IN" sz="1800" b="0" i="0">
                          <a:latin typeface="Cambria Math" panose="02040503050406030204" pitchFamily="18" charset="0"/>
                        </a:rPr>
                        <m:t>=</m:t>
                      </m:r>
                      <m:f>
                        <m:fPr>
                          <m:ctrlPr>
                            <a:rPr lang="en-IN" sz="1800" b="0" i="1">
                              <a:latin typeface="Cambria Math" panose="02040503050406030204" pitchFamily="18" charset="0"/>
                            </a:rPr>
                          </m:ctrlPr>
                        </m:fPr>
                        <m:num>
                          <m:r>
                            <a:rPr lang="en-IN" sz="1800" b="0" i="0">
                              <a:latin typeface="Cambria Math" panose="02040503050406030204" pitchFamily="18" charset="0"/>
                            </a:rPr>
                            <m:t>1</m:t>
                          </m:r>
                        </m:num>
                        <m:den>
                          <m:r>
                            <a:rPr lang="en-IN" sz="1800" b="0" i="0">
                              <a:latin typeface="Cambria Math" panose="02040503050406030204" pitchFamily="18" charset="0"/>
                            </a:rPr>
                            <m:t>3</m:t>
                          </m:r>
                        </m:den>
                      </m:f>
                    </m:oMath>
                  </m:oMathPara>
                </a14:m>
                <a:endParaRPr lang="en-IN" sz="1800" b="0" dirty="0"/>
              </a:p>
            </p:txBody>
          </p:sp>
        </mc:Choice>
        <mc:Fallback xmlns="">
          <p:sp>
            <p:nvSpPr>
              <p:cNvPr id="15" name="TextBox 14">
                <a:extLst>
                  <a:ext uri="{FF2B5EF4-FFF2-40B4-BE49-F238E27FC236}">
                    <a16:creationId xmlns:a16="http://schemas.microsoft.com/office/drawing/2014/main" id="{5E782A6B-0BC3-38EC-F01C-0555F1AC7669}"/>
                  </a:ext>
                </a:extLst>
              </p:cNvPr>
              <p:cNvSpPr txBox="1">
                <a:spLocks noRot="1" noChangeAspect="1" noMove="1" noResize="1" noEditPoints="1" noAdjustHandles="1" noChangeArrowheads="1" noChangeShapeType="1" noTextEdit="1"/>
              </p:cNvSpPr>
              <p:nvPr/>
            </p:nvSpPr>
            <p:spPr>
              <a:xfrm>
                <a:off x="6276975" y="2516904"/>
                <a:ext cx="4476750" cy="1005853"/>
              </a:xfrm>
              <a:prstGeom prst="rect">
                <a:avLst/>
              </a:prstGeom>
              <a:blipFill>
                <a:blip r:embed="rId3"/>
                <a:stretch>
                  <a:fillRect l="-1226"/>
                </a:stretch>
              </a:blipFill>
            </p:spPr>
            <p:txBody>
              <a:bodyPr/>
              <a:lstStyle/>
              <a:p>
                <a:r>
                  <a:rPr lang="en-IN">
                    <a:noFill/>
                  </a:rPr>
                  <a:t> </a:t>
                </a:r>
              </a:p>
            </p:txBody>
          </p:sp>
        </mc:Fallback>
      </mc:AlternateContent>
      <p:graphicFrame>
        <p:nvGraphicFramePr>
          <p:cNvPr id="16" name="Table 15">
            <a:extLst>
              <a:ext uri="{FF2B5EF4-FFF2-40B4-BE49-F238E27FC236}">
                <a16:creationId xmlns:a16="http://schemas.microsoft.com/office/drawing/2014/main" id="{613A38FB-EBEB-02BD-4498-66799919C752}"/>
              </a:ext>
            </a:extLst>
          </p:cNvPr>
          <p:cNvGraphicFramePr>
            <a:graphicFrameLocks noGrp="1"/>
          </p:cNvGraphicFramePr>
          <p:nvPr>
            <p:extLst>
              <p:ext uri="{D42A27DB-BD31-4B8C-83A1-F6EECF244321}">
                <p14:modId xmlns:p14="http://schemas.microsoft.com/office/powerpoint/2010/main" val="268942782"/>
              </p:ext>
            </p:extLst>
          </p:nvPr>
        </p:nvGraphicFramePr>
        <p:xfrm>
          <a:off x="6905625" y="4321023"/>
          <a:ext cx="3848100" cy="1097280"/>
        </p:xfrm>
        <a:graphic>
          <a:graphicData uri="http://schemas.openxmlformats.org/drawingml/2006/table">
            <a:tbl>
              <a:tblPr>
                <a:tableStyleId>{22838BEF-8BB2-4498-84A7-C5851F593DF1}</a:tableStyleId>
              </a:tblPr>
              <a:tblGrid>
                <a:gridCol w="1924050">
                  <a:extLst>
                    <a:ext uri="{9D8B030D-6E8A-4147-A177-3AD203B41FA5}">
                      <a16:colId xmlns:a16="http://schemas.microsoft.com/office/drawing/2014/main" val="3070344349"/>
                    </a:ext>
                  </a:extLst>
                </a:gridCol>
                <a:gridCol w="1924050">
                  <a:extLst>
                    <a:ext uri="{9D8B030D-6E8A-4147-A177-3AD203B41FA5}">
                      <a16:colId xmlns:a16="http://schemas.microsoft.com/office/drawing/2014/main" val="1483312260"/>
                    </a:ext>
                  </a:extLst>
                </a:gridCol>
              </a:tblGrid>
              <a:tr h="0">
                <a:tc>
                  <a:txBody>
                    <a:bodyPr/>
                    <a:lstStyle/>
                    <a:p>
                      <a:pPr>
                        <a:buNone/>
                      </a:pPr>
                      <a:r>
                        <a:rPr lang="en-IN" b="1">
                          <a:solidFill>
                            <a:schemeClr val="tx1"/>
                          </a:solidFill>
                        </a:rPr>
                        <a:t>Confident</a:t>
                      </a:r>
                    </a:p>
                  </a:txBody>
                  <a:tcPr anchor="ctr"/>
                </a:tc>
                <a:tc>
                  <a:txBody>
                    <a:bodyPr/>
                    <a:lstStyle/>
                    <a:p>
                      <a:pPr>
                        <a:buNone/>
                      </a:pPr>
                      <a:r>
                        <a:rPr lang="en-IN" b="1" dirty="0">
                          <a:solidFill>
                            <a:schemeClr val="tx1"/>
                          </a:solidFill>
                        </a:rPr>
                        <a:t>Sick</a:t>
                      </a:r>
                    </a:p>
                  </a:txBody>
                  <a:tcPr anchor="ctr"/>
                </a:tc>
                <a:extLst>
                  <a:ext uri="{0D108BD9-81ED-4DB2-BD59-A6C34878D82A}">
                    <a16:rowId xmlns:a16="http://schemas.microsoft.com/office/drawing/2014/main" val="1569697228"/>
                  </a:ext>
                </a:extLst>
              </a:tr>
              <a:tr h="0">
                <a:tc>
                  <a:txBody>
                    <a:bodyPr/>
                    <a:lstStyle/>
                    <a:p>
                      <a:pPr>
                        <a:buNone/>
                      </a:pPr>
                      <a:r>
                        <a:rPr lang="en-IN"/>
                        <a:t>Yes</a:t>
                      </a:r>
                    </a:p>
                  </a:txBody>
                  <a:tcPr anchor="ctr"/>
                </a:tc>
                <a:tc>
                  <a:txBody>
                    <a:bodyPr/>
                    <a:lstStyle/>
                    <a:p>
                      <a:pPr>
                        <a:buNone/>
                      </a:pPr>
                      <a:r>
                        <a:rPr lang="en-IN"/>
                        <a:t>No</a:t>
                      </a:r>
                    </a:p>
                  </a:txBody>
                  <a:tcPr anchor="ctr"/>
                </a:tc>
                <a:extLst>
                  <a:ext uri="{0D108BD9-81ED-4DB2-BD59-A6C34878D82A}">
                    <a16:rowId xmlns:a16="http://schemas.microsoft.com/office/drawing/2014/main" val="865830873"/>
                  </a:ext>
                </a:extLst>
              </a:tr>
              <a:tr h="0">
                <a:tc>
                  <a:txBody>
                    <a:bodyPr/>
                    <a:lstStyle/>
                    <a:p>
                      <a:pPr>
                        <a:buNone/>
                      </a:pPr>
                      <a:r>
                        <a:rPr lang="en-IN" dirty="0"/>
                        <a:t>No</a:t>
                      </a:r>
                    </a:p>
                  </a:txBody>
                  <a:tcPr anchor="ctr"/>
                </a:tc>
                <a:tc>
                  <a:txBody>
                    <a:bodyPr/>
                    <a:lstStyle/>
                    <a:p>
                      <a:pPr>
                        <a:buNone/>
                      </a:pPr>
                      <a:r>
                        <a:rPr lang="en-IN" dirty="0"/>
                        <a:t>Yes</a:t>
                      </a:r>
                    </a:p>
                  </a:txBody>
                  <a:tcPr anchor="ctr"/>
                </a:tc>
                <a:extLst>
                  <a:ext uri="{0D108BD9-81ED-4DB2-BD59-A6C34878D82A}">
                    <a16:rowId xmlns:a16="http://schemas.microsoft.com/office/drawing/2014/main" val="155998871"/>
                  </a:ext>
                </a:extLst>
              </a:tr>
            </a:tbl>
          </a:graphicData>
        </a:graphic>
      </p:graphicFrame>
      <p:sp>
        <p:nvSpPr>
          <p:cNvPr id="18" name="TextBox 17">
            <a:extLst>
              <a:ext uri="{FF2B5EF4-FFF2-40B4-BE49-F238E27FC236}">
                <a16:creationId xmlns:a16="http://schemas.microsoft.com/office/drawing/2014/main" id="{8E0CA713-2925-CCFA-8F56-2C753150E0A6}"/>
              </a:ext>
            </a:extLst>
          </p:cNvPr>
          <p:cNvSpPr txBox="1"/>
          <p:nvPr/>
        </p:nvSpPr>
        <p:spPr>
          <a:xfrm>
            <a:off x="6276975" y="3564682"/>
            <a:ext cx="6096000" cy="646331"/>
          </a:xfrm>
          <a:prstGeom prst="rect">
            <a:avLst/>
          </a:prstGeom>
          <a:noFill/>
        </p:spPr>
        <p:txBody>
          <a:bodyPr wrap="square">
            <a:spAutoFit/>
          </a:bodyPr>
          <a:lstStyle/>
          <a:p>
            <a:pPr>
              <a:buNone/>
            </a:pPr>
            <a:r>
              <a:rPr lang="en-IN" b="1" dirty="0"/>
              <a:t>For Class = Fail</a:t>
            </a:r>
          </a:p>
          <a:p>
            <a:pPr>
              <a:buNone/>
            </a:pPr>
            <a:r>
              <a:rPr lang="en-IN" dirty="0"/>
              <a:t>Among the two Fail records:</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2630964-2D36-0ADC-CF5A-51EAB0EF7756}"/>
                  </a:ext>
                </a:extLst>
              </p:cNvPr>
              <p:cNvSpPr txBox="1"/>
              <p:nvPr/>
            </p:nvSpPr>
            <p:spPr>
              <a:xfrm>
                <a:off x="5629275" y="5418303"/>
                <a:ext cx="6096000" cy="1129540"/>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a:rPr lang="en-IN" sz="1800" i="1" smtClean="0">
                          <a:latin typeface="Cambria Math" panose="02040503050406030204" pitchFamily="18" charset="0"/>
                        </a:rPr>
                        <m:t>𝑃</m:t>
                      </m:r>
                      <m:d>
                        <m:dPr>
                          <m:ctrlPr>
                            <a:rPr lang="en-IN" sz="1800" b="0" i="1">
                              <a:latin typeface="Cambria Math" panose="02040503050406030204" pitchFamily="18" charset="0"/>
                            </a:rPr>
                          </m:ctrlPr>
                        </m:dPr>
                        <m:e>
                          <m:r>
                            <m:rPr>
                              <m:nor/>
                            </m:rPr>
                            <a:rPr lang="en-IN" sz="1800" b="0" i="0">
                              <a:latin typeface="Cambria Math" panose="02040503050406030204" pitchFamily="18" charset="0"/>
                            </a:rPr>
                            <m:t>Confident</m:t>
                          </m:r>
                          <m:r>
                            <m:rPr>
                              <m:nor/>
                            </m:rPr>
                            <a:rPr lang="en-IN" sz="1800" b="0" i="0">
                              <a:latin typeface="Cambria Math" panose="02040503050406030204" pitchFamily="18" charset="0"/>
                            </a:rPr>
                            <m:t> = </m:t>
                          </m:r>
                          <m:r>
                            <m:rPr>
                              <m:nor/>
                            </m:rPr>
                            <a:rPr lang="en-IN" sz="1800" b="0" i="0">
                              <a:latin typeface="Cambria Math" panose="02040503050406030204" pitchFamily="18" charset="0"/>
                            </a:rPr>
                            <m:t>Yes</m:t>
                          </m:r>
                          <m:r>
                            <a:rPr lang="en-IN" sz="1800" b="0" i="0">
                              <a:latin typeface="Cambria Math" panose="02040503050406030204" pitchFamily="18" charset="0"/>
                            </a:rPr>
                            <m:t>∣</m:t>
                          </m:r>
                          <m:r>
                            <m:rPr>
                              <m:nor/>
                            </m:rPr>
                            <a:rPr lang="en-IN" sz="1800" b="0" i="0">
                              <a:latin typeface="Cambria Math" panose="02040503050406030204" pitchFamily="18" charset="0"/>
                            </a:rPr>
                            <m:t>Fail</m:t>
                          </m:r>
                        </m:e>
                      </m:d>
                      <m:r>
                        <a:rPr lang="en-IN" sz="1800" b="0" i="0">
                          <a:latin typeface="Cambria Math" panose="02040503050406030204" pitchFamily="18" charset="0"/>
                        </a:rPr>
                        <m:t>=</m:t>
                      </m:r>
                      <m:f>
                        <m:fPr>
                          <m:ctrlPr>
                            <a:rPr lang="en-IN" sz="1800" b="0" i="1">
                              <a:latin typeface="Cambria Math" panose="02040503050406030204" pitchFamily="18" charset="0"/>
                            </a:rPr>
                          </m:ctrlPr>
                        </m:fPr>
                        <m:num>
                          <m:r>
                            <a:rPr lang="en-IN" sz="1800" b="0" i="0">
                              <a:latin typeface="Cambria Math" panose="02040503050406030204" pitchFamily="18" charset="0"/>
                            </a:rPr>
                            <m:t>1</m:t>
                          </m:r>
                        </m:num>
                        <m:den>
                          <m:r>
                            <a:rPr lang="en-IN" sz="1800" b="0" i="0">
                              <a:latin typeface="Cambria Math" panose="02040503050406030204" pitchFamily="18" charset="0"/>
                            </a:rPr>
                            <m:t>2</m:t>
                          </m:r>
                        </m:den>
                      </m:f>
                    </m:oMath>
                  </m:oMathPara>
                </a14:m>
                <a:endParaRPr lang="en-IN" sz="1800" b="0" dirty="0"/>
              </a:p>
              <a:p>
                <a:pPr>
                  <a:buNone/>
                </a:pPr>
                <a14:m>
                  <m:oMathPara xmlns:m="http://schemas.openxmlformats.org/officeDocument/2006/math">
                    <m:oMathParaPr>
                      <m:jc m:val="centerGroup"/>
                    </m:oMathParaPr>
                    <m:oMath xmlns:m="http://schemas.openxmlformats.org/officeDocument/2006/math">
                      <m:r>
                        <a:rPr lang="en-IN" sz="1800" i="1">
                          <a:latin typeface="Cambria Math" panose="02040503050406030204" pitchFamily="18" charset="0"/>
                        </a:rPr>
                        <m:t>𝑃</m:t>
                      </m:r>
                      <m:d>
                        <m:dPr>
                          <m:ctrlPr>
                            <a:rPr lang="en-IN" sz="1800" b="0" i="1">
                              <a:latin typeface="Cambria Math" panose="02040503050406030204" pitchFamily="18" charset="0"/>
                            </a:rPr>
                          </m:ctrlPr>
                        </m:dPr>
                        <m:e>
                          <m:r>
                            <m:rPr>
                              <m:nor/>
                            </m:rPr>
                            <a:rPr lang="en-IN" sz="1800" b="0" i="0">
                              <a:latin typeface="Cambria Math" panose="02040503050406030204" pitchFamily="18" charset="0"/>
                            </a:rPr>
                            <m:t>Sick</m:t>
                          </m:r>
                          <m:r>
                            <m:rPr>
                              <m:nor/>
                            </m:rPr>
                            <a:rPr lang="en-IN" sz="1800" b="0" i="0">
                              <a:latin typeface="Cambria Math" panose="02040503050406030204" pitchFamily="18" charset="0"/>
                            </a:rPr>
                            <m:t> = </m:t>
                          </m:r>
                          <m:r>
                            <m:rPr>
                              <m:nor/>
                            </m:rPr>
                            <a:rPr lang="en-IN" sz="1800" b="0" i="0">
                              <a:latin typeface="Cambria Math" panose="02040503050406030204" pitchFamily="18" charset="0"/>
                            </a:rPr>
                            <m:t>No</m:t>
                          </m:r>
                          <m:r>
                            <a:rPr lang="en-IN" sz="1800" b="0" i="0">
                              <a:latin typeface="Cambria Math" panose="02040503050406030204" pitchFamily="18" charset="0"/>
                            </a:rPr>
                            <m:t>∣</m:t>
                          </m:r>
                          <m:r>
                            <m:rPr>
                              <m:nor/>
                            </m:rPr>
                            <a:rPr lang="en-IN" sz="1800" b="0" i="0">
                              <a:latin typeface="Cambria Math" panose="02040503050406030204" pitchFamily="18" charset="0"/>
                            </a:rPr>
                            <m:t>Fail</m:t>
                          </m:r>
                        </m:e>
                      </m:d>
                      <m:r>
                        <a:rPr lang="en-IN" sz="1800" b="0" i="0">
                          <a:latin typeface="Cambria Math" panose="02040503050406030204" pitchFamily="18" charset="0"/>
                        </a:rPr>
                        <m:t>=</m:t>
                      </m:r>
                      <m:f>
                        <m:fPr>
                          <m:ctrlPr>
                            <a:rPr lang="en-IN" sz="1800" b="0" i="1">
                              <a:latin typeface="Cambria Math" panose="02040503050406030204" pitchFamily="18" charset="0"/>
                            </a:rPr>
                          </m:ctrlPr>
                        </m:fPr>
                        <m:num>
                          <m:r>
                            <a:rPr lang="en-IN" sz="1800" b="0" i="0">
                              <a:latin typeface="Cambria Math" panose="02040503050406030204" pitchFamily="18" charset="0"/>
                            </a:rPr>
                            <m:t>1</m:t>
                          </m:r>
                        </m:num>
                        <m:den>
                          <m:r>
                            <a:rPr lang="en-IN" sz="1800" b="0" i="0">
                              <a:latin typeface="Cambria Math" panose="02040503050406030204" pitchFamily="18" charset="0"/>
                            </a:rPr>
                            <m:t>2</m:t>
                          </m:r>
                        </m:den>
                      </m:f>
                    </m:oMath>
                  </m:oMathPara>
                </a14:m>
                <a:endParaRPr lang="en-IN" sz="1800" b="0" dirty="0"/>
              </a:p>
            </p:txBody>
          </p:sp>
        </mc:Choice>
        <mc:Fallback xmlns="">
          <p:sp>
            <p:nvSpPr>
              <p:cNvPr id="20" name="TextBox 19">
                <a:extLst>
                  <a:ext uri="{FF2B5EF4-FFF2-40B4-BE49-F238E27FC236}">
                    <a16:creationId xmlns:a16="http://schemas.microsoft.com/office/drawing/2014/main" id="{12630964-2D36-0ADC-CF5A-51EAB0EF7756}"/>
                  </a:ext>
                </a:extLst>
              </p:cNvPr>
              <p:cNvSpPr txBox="1">
                <a:spLocks noRot="1" noChangeAspect="1" noMove="1" noResize="1" noEditPoints="1" noAdjustHandles="1" noChangeArrowheads="1" noChangeShapeType="1" noTextEdit="1"/>
              </p:cNvSpPr>
              <p:nvPr/>
            </p:nvSpPr>
            <p:spPr>
              <a:xfrm>
                <a:off x="5629275" y="5418303"/>
                <a:ext cx="6096000" cy="1129540"/>
              </a:xfrm>
              <a:prstGeom prst="rect">
                <a:avLst/>
              </a:prstGeom>
              <a:blipFill>
                <a:blip r:embed="rId4"/>
                <a:stretch>
                  <a:fillRect/>
                </a:stretch>
              </a:blipFill>
            </p:spPr>
            <p:txBody>
              <a:bodyPr/>
              <a:lstStyle/>
              <a:p>
                <a:r>
                  <a:rPr lang="en-IN">
                    <a:noFill/>
                  </a:rPr>
                  <a:t> </a:t>
                </a:r>
              </a:p>
            </p:txBody>
          </p:sp>
        </mc:Fallback>
      </mc:AlternateContent>
      <p:sp>
        <p:nvSpPr>
          <p:cNvPr id="21" name="Footer Placeholder 20">
            <a:extLst>
              <a:ext uri="{FF2B5EF4-FFF2-40B4-BE49-F238E27FC236}">
                <a16:creationId xmlns:a16="http://schemas.microsoft.com/office/drawing/2014/main" id="{2AB69A24-22B6-13F3-56CF-588CE4AA6AE0}"/>
              </a:ext>
            </a:extLst>
          </p:cNvPr>
          <p:cNvSpPr>
            <a:spLocks noGrp="1"/>
          </p:cNvSpPr>
          <p:nvPr>
            <p:ph type="ftr" sz="quarter" idx="11"/>
          </p:nvPr>
        </p:nvSpPr>
        <p:spPr/>
        <p:txBody>
          <a:bodyPr/>
          <a:lstStyle/>
          <a:p>
            <a:r>
              <a:rPr lang="en-IN"/>
              <a:t>W-2</a:t>
            </a:r>
          </a:p>
        </p:txBody>
      </p:sp>
      <p:sp>
        <p:nvSpPr>
          <p:cNvPr id="22" name="Slide Number Placeholder 21">
            <a:extLst>
              <a:ext uri="{FF2B5EF4-FFF2-40B4-BE49-F238E27FC236}">
                <a16:creationId xmlns:a16="http://schemas.microsoft.com/office/drawing/2014/main" id="{5AD4CDC5-2D37-5290-ECCB-5087C0AB5BA9}"/>
              </a:ext>
            </a:extLst>
          </p:cNvPr>
          <p:cNvSpPr>
            <a:spLocks noGrp="1"/>
          </p:cNvSpPr>
          <p:nvPr>
            <p:ph type="sldNum" sz="quarter" idx="12"/>
          </p:nvPr>
        </p:nvSpPr>
        <p:spPr/>
        <p:txBody>
          <a:bodyPr/>
          <a:lstStyle/>
          <a:p>
            <a:pPr>
              <a:defRPr/>
            </a:pPr>
            <a:fld id="{799C83C6-4F87-48B4-8CF0-6A2F9115491D}" type="slidenum">
              <a:rPr lang="en-IN" smtClean="0"/>
              <a:pPr>
                <a:defRPr/>
              </a:pPr>
              <a:t>27</a:t>
            </a:fld>
            <a:endParaRPr lang="en-IN"/>
          </a:p>
        </p:txBody>
      </p:sp>
      <p:sp>
        <p:nvSpPr>
          <p:cNvPr id="24" name="TextBox 23">
            <a:extLst>
              <a:ext uri="{FF2B5EF4-FFF2-40B4-BE49-F238E27FC236}">
                <a16:creationId xmlns:a16="http://schemas.microsoft.com/office/drawing/2014/main" id="{06B21E24-206D-BB0F-B160-B71D8FA130CB}"/>
              </a:ext>
            </a:extLst>
          </p:cNvPr>
          <p:cNvSpPr txBox="1"/>
          <p:nvPr/>
        </p:nvSpPr>
        <p:spPr>
          <a:xfrm>
            <a:off x="50007" y="-33091"/>
            <a:ext cx="6186486" cy="64633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Solution:</a:t>
            </a:r>
          </a:p>
        </p:txBody>
      </p:sp>
    </p:spTree>
    <p:extLst>
      <p:ext uri="{BB962C8B-B14F-4D97-AF65-F5344CB8AC3E}">
        <p14:creationId xmlns:p14="http://schemas.microsoft.com/office/powerpoint/2010/main" val="3831407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EDA90F5-449D-318D-8303-B1492D00A661}"/>
                  </a:ext>
                </a:extLst>
              </p:cNvPr>
              <p:cNvSpPr txBox="1"/>
              <p:nvPr/>
            </p:nvSpPr>
            <p:spPr>
              <a:xfrm>
                <a:off x="257175" y="471502"/>
                <a:ext cx="5838825" cy="3450496"/>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Compute the Posterior Probability for Pass:</a:t>
                </a:r>
              </a:p>
              <a:p>
                <a:pPr>
                  <a:lnSpc>
                    <a:spcPct val="150000"/>
                  </a:lnSpc>
                  <a:buNone/>
                </a:pPr>
                <a:r>
                  <a:rPr lang="en-IN" dirty="0">
                    <a:latin typeface="Times New Roman" panose="02020603050405020304" pitchFamily="18" charset="0"/>
                    <a:cs typeface="Times New Roman" panose="02020603050405020304" pitchFamily="18" charset="0"/>
                  </a:rPr>
                  <a:t>Using Bayes' Theorem,</a:t>
                </a:r>
              </a:p>
              <a:p>
                <a:pPr>
                  <a:lnSpc>
                    <a:spcPct val="150000"/>
                  </a:lnSpc>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d>
                        <m:dPr>
                          <m:ctrlPr>
                            <a:rPr lang="en-IN" i="1">
                              <a:latin typeface="Cambria Math" panose="02040503050406030204" pitchFamily="18" charset="0"/>
                              <a:cs typeface="Times New Roman" panose="02020603050405020304" pitchFamily="18" charset="0"/>
                            </a:rPr>
                          </m:ctrlPr>
                        </m:dPr>
                        <m:e>
                          <m:r>
                            <m:rPr>
                              <m:nor/>
                            </m:rPr>
                            <a:rPr lang="en-IN" i="0">
                              <a:latin typeface="Times New Roman" panose="02020603050405020304" pitchFamily="18" charset="0"/>
                              <a:cs typeface="Times New Roman" panose="02020603050405020304" pitchFamily="18" charset="0"/>
                            </a:rPr>
                            <m:t>Pass</m:t>
                          </m:r>
                          <m:r>
                            <a:rPr lang="en-IN" b="0" i="0" smtClean="0">
                              <a:latin typeface="Cambria Math" panose="02040503050406030204" pitchFamily="18" charset="0"/>
                            </a:rPr>
                            <m:t>∣</m:t>
                          </m:r>
                          <m:r>
                            <a:rPr lang="en-IN" b="0" i="1" smtClean="0">
                              <a:latin typeface="Cambria Math" panose="02040503050406030204" pitchFamily="18" charset="0"/>
                            </a:rPr>
                            <m:t>𝑋</m:t>
                          </m:r>
                        </m:e>
                      </m:d>
                      <m:r>
                        <a:rPr lang="en-IN" b="0" i="0"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𝑃</m:t>
                          </m:r>
                          <m:d>
                            <m:dPr>
                              <m:ctrlPr>
                                <a:rPr lang="en-IN" b="0" i="1" smtClean="0">
                                  <a:latin typeface="Cambria Math" panose="02040503050406030204" pitchFamily="18" charset="0"/>
                                </a:rPr>
                              </m:ctrlPr>
                            </m:dPr>
                            <m:e>
                              <m:r>
                                <a:rPr lang="en-IN" b="0" i="1" smtClean="0">
                                  <a:latin typeface="Cambria Math" panose="02040503050406030204" pitchFamily="18" charset="0"/>
                                </a:rPr>
                                <m:t>𝑋</m:t>
                              </m:r>
                              <m:r>
                                <a:rPr lang="en-IN" b="0" i="0" smtClean="0">
                                  <a:latin typeface="Cambria Math" panose="02040503050406030204" pitchFamily="18" charset="0"/>
                                </a:rPr>
                                <m:t>∣</m:t>
                              </m:r>
                              <m:r>
                                <m:rPr>
                                  <m:nor/>
                                </m:rPr>
                                <a:rPr lang="en-IN" i="0">
                                  <a:latin typeface="Times New Roman" panose="02020603050405020304" pitchFamily="18" charset="0"/>
                                  <a:cs typeface="Times New Roman" panose="02020603050405020304" pitchFamily="18" charset="0"/>
                                </a:rPr>
                                <m:t>Pass</m:t>
                              </m:r>
                            </m:e>
                          </m:d>
                          <m:r>
                            <a:rPr lang="en-IN" b="0" i="1" smtClean="0">
                              <a:latin typeface="Cambria Math" panose="02040503050406030204" pitchFamily="18" charset="0"/>
                            </a:rPr>
                            <m:t>𝑃</m:t>
                          </m:r>
                          <m:d>
                            <m:dPr>
                              <m:ctrlPr>
                                <a:rPr lang="en-IN" i="1">
                                  <a:latin typeface="Cambria Math" panose="02040503050406030204" pitchFamily="18" charset="0"/>
                                  <a:cs typeface="Times New Roman" panose="02020603050405020304" pitchFamily="18" charset="0"/>
                                </a:rPr>
                              </m:ctrlPr>
                            </m:dPr>
                            <m:e>
                              <m:r>
                                <m:rPr>
                                  <m:nor/>
                                </m:rPr>
                                <a:rPr lang="en-IN" i="0">
                                  <a:latin typeface="Times New Roman" panose="02020603050405020304" pitchFamily="18" charset="0"/>
                                  <a:cs typeface="Times New Roman" panose="02020603050405020304" pitchFamily="18" charset="0"/>
                                </a:rPr>
                                <m:t>Pass</m:t>
                              </m:r>
                            </m:e>
                          </m:d>
                        </m:num>
                        <m:den>
                          <m:r>
                            <a:rPr lang="en-IN" b="0" i="1" smtClean="0">
                              <a:latin typeface="Cambria Math" panose="02040503050406030204" pitchFamily="18" charset="0"/>
                            </a:rPr>
                            <m:t>𝑃</m:t>
                          </m:r>
                          <m:d>
                            <m:dPr>
                              <m:ctrlPr>
                                <a:rPr lang="en-IN" b="0" i="1" smtClean="0">
                                  <a:latin typeface="Cambria Math" panose="02040503050406030204" pitchFamily="18" charset="0"/>
                                </a:rPr>
                              </m:ctrlPr>
                            </m:dPr>
                            <m:e>
                              <m:r>
                                <a:rPr lang="en-IN" b="0" i="1" smtClean="0">
                                  <a:latin typeface="Cambria Math" panose="02040503050406030204" pitchFamily="18" charset="0"/>
                                </a:rPr>
                                <m:t>𝑋</m:t>
                              </m:r>
                            </m:e>
                          </m:d>
                        </m:den>
                      </m:f>
                    </m:oMath>
                  </m:oMathPara>
                </a14:m>
                <a:endParaRPr lang="en-IN" dirty="0">
                  <a:latin typeface="Times New Roman" panose="02020603050405020304" pitchFamily="18" charset="0"/>
                  <a:cs typeface="Times New Roman" panose="02020603050405020304" pitchFamily="18" charset="0"/>
                </a:endParaRPr>
              </a:p>
              <a:p>
                <a:pPr>
                  <a:lnSpc>
                    <a:spcPct val="150000"/>
                  </a:lnSpc>
                  <a:buNone/>
                </a:pPr>
                <a:r>
                  <a:rPr lang="en-IN" dirty="0">
                    <a:latin typeface="Times New Roman" panose="02020603050405020304" pitchFamily="18" charset="0"/>
                    <a:cs typeface="Times New Roman" panose="02020603050405020304" pitchFamily="18" charset="0"/>
                  </a:rPr>
                  <a:t>Where </a:t>
                </a:r>
                <a14:m>
                  <m:oMath xmlns:m="http://schemas.openxmlformats.org/officeDocument/2006/math">
                    <m:r>
                      <a:rPr lang="en-IN" b="0" i="1" smtClean="0">
                        <a:latin typeface="Cambria Math" panose="02040503050406030204" pitchFamily="18" charset="0"/>
                      </a:rPr>
                      <m:t>𝑋</m:t>
                    </m:r>
                    <m:r>
                      <a:rPr lang="en-IN" b="0" i="0" smtClean="0">
                        <a:latin typeface="Cambria Math" panose="02040503050406030204" pitchFamily="18" charset="0"/>
                      </a:rPr>
                      <m:t>=</m:t>
                    </m:r>
                    <m:d>
                      <m:dPr>
                        <m:begChr m:val="{"/>
                        <m:endChr m:val="}"/>
                        <m:ctrlPr>
                          <a:rPr lang="en-IN" i="1">
                            <a:latin typeface="Cambria Math" panose="02040503050406030204" pitchFamily="18" charset="0"/>
                            <a:cs typeface="Times New Roman" panose="02020603050405020304" pitchFamily="18" charset="0"/>
                          </a:rPr>
                        </m:ctrlPr>
                      </m:dPr>
                      <m:e>
                        <m:r>
                          <m:rPr>
                            <m:nor/>
                          </m:rPr>
                          <a:rPr lang="en-IN" i="0">
                            <a:latin typeface="Times New Roman" panose="02020603050405020304" pitchFamily="18" charset="0"/>
                            <a:cs typeface="Times New Roman" panose="02020603050405020304" pitchFamily="18" charset="0"/>
                          </a:rPr>
                          <m:t>Confident</m:t>
                        </m:r>
                        <m:r>
                          <m:rPr>
                            <m:nor/>
                          </m:rPr>
                          <a:rPr lang="en-IN" i="0">
                            <a:latin typeface="Times New Roman" panose="02020603050405020304" pitchFamily="18" charset="0"/>
                            <a:cs typeface="Times New Roman" panose="02020603050405020304" pitchFamily="18" charset="0"/>
                          </a:rPr>
                          <m:t> = </m:t>
                        </m:r>
                        <m:r>
                          <m:rPr>
                            <m:nor/>
                          </m:rPr>
                          <a:rPr lang="en-IN" i="0">
                            <a:latin typeface="Times New Roman" panose="02020603050405020304" pitchFamily="18" charset="0"/>
                            <a:cs typeface="Times New Roman" panose="02020603050405020304" pitchFamily="18" charset="0"/>
                          </a:rPr>
                          <m:t>Yes</m:t>
                        </m:r>
                        <m:r>
                          <m:rPr>
                            <m:nor/>
                          </m:rPr>
                          <a:rPr lang="en-IN" i="0">
                            <a:latin typeface="Times New Roman" panose="02020603050405020304" pitchFamily="18" charset="0"/>
                            <a:cs typeface="Times New Roman" panose="02020603050405020304" pitchFamily="18" charset="0"/>
                          </a:rPr>
                          <m:t>, </m:t>
                        </m:r>
                        <m:r>
                          <m:rPr>
                            <m:nor/>
                          </m:rPr>
                          <a:rPr lang="en-IN" i="0">
                            <a:latin typeface="Times New Roman" panose="02020603050405020304" pitchFamily="18" charset="0"/>
                            <a:cs typeface="Times New Roman" panose="02020603050405020304" pitchFamily="18" charset="0"/>
                          </a:rPr>
                          <m:t>Sick</m:t>
                        </m:r>
                        <m:r>
                          <m:rPr>
                            <m:nor/>
                          </m:rPr>
                          <a:rPr lang="en-IN" i="0">
                            <a:latin typeface="Times New Roman" panose="02020603050405020304" pitchFamily="18" charset="0"/>
                            <a:cs typeface="Times New Roman" panose="02020603050405020304" pitchFamily="18" charset="0"/>
                          </a:rPr>
                          <m:t> = </m:t>
                        </m:r>
                        <m:r>
                          <m:rPr>
                            <m:nor/>
                          </m:rPr>
                          <a:rPr lang="en-IN" i="0">
                            <a:latin typeface="Times New Roman" panose="02020603050405020304" pitchFamily="18" charset="0"/>
                            <a:cs typeface="Times New Roman" panose="02020603050405020304" pitchFamily="18" charset="0"/>
                          </a:rPr>
                          <m:t>No</m:t>
                        </m:r>
                      </m:e>
                    </m:d>
                    <m:r>
                      <a:rPr lang="en-IN" b="0" i="0" smtClean="0">
                        <a:latin typeface="Cambria Math" panose="02040503050406030204" pitchFamily="18" charset="0"/>
                      </a:rPr>
                      <m:t>.</m:t>
                    </m:r>
                  </m:oMath>
                </a14:m>
                <a:endParaRPr lang="en-IN" dirty="0">
                  <a:latin typeface="Times New Roman" panose="02020603050405020304" pitchFamily="18" charset="0"/>
                  <a:cs typeface="Times New Roman" panose="02020603050405020304" pitchFamily="18" charset="0"/>
                </a:endParaRPr>
              </a:p>
              <a:p>
                <a:pPr>
                  <a:lnSpc>
                    <a:spcPct val="150000"/>
                  </a:lnSpc>
                  <a:buNone/>
                </a:pPr>
                <a:r>
                  <a:rPr lang="en-IN" dirty="0">
                    <a:latin typeface="Times New Roman" panose="02020603050405020304" pitchFamily="18" charset="0"/>
                    <a:cs typeface="Times New Roman" panose="02020603050405020304" pitchFamily="18" charset="0"/>
                  </a:rPr>
                  <a:t>Since </a:t>
                </a:r>
                <a14:m>
                  <m:oMath xmlns:m="http://schemas.openxmlformats.org/officeDocument/2006/math">
                    <m:r>
                      <a:rPr lang="en-IN" b="0" i="1" smtClean="0">
                        <a:latin typeface="Cambria Math" panose="02040503050406030204" pitchFamily="18" charset="0"/>
                      </a:rPr>
                      <m:t>𝑃</m:t>
                    </m:r>
                    <m:d>
                      <m:dPr>
                        <m:ctrlPr>
                          <a:rPr lang="en-IN" b="0" i="1" smtClean="0">
                            <a:latin typeface="Cambria Math" panose="02040503050406030204" pitchFamily="18" charset="0"/>
                          </a:rPr>
                        </m:ctrlPr>
                      </m:dPr>
                      <m:e>
                        <m:r>
                          <a:rPr lang="en-IN" b="0" i="1" smtClean="0">
                            <a:latin typeface="Cambria Math" panose="02040503050406030204" pitchFamily="18" charset="0"/>
                          </a:rPr>
                          <m:t>𝑋</m:t>
                        </m:r>
                      </m:e>
                    </m:d>
                  </m:oMath>
                </a14:m>
                <a:r>
                  <a:rPr lang="en-IN" dirty="0">
                    <a:latin typeface="Times New Roman" panose="02020603050405020304" pitchFamily="18" charset="0"/>
                    <a:cs typeface="Times New Roman" panose="02020603050405020304" pitchFamily="18" charset="0"/>
                  </a:rPr>
                  <a:t>is the same for both Pass and Fail, it is ignored while comparing the classes. Hence,</a:t>
                </a:r>
              </a:p>
              <a:p>
                <a:pPr>
                  <a:lnSpc>
                    <a:spcPct val="150000"/>
                  </a:lnSpc>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m:t>
                      </m:r>
                      <m:d>
                        <m:dPr>
                          <m:ctrlPr>
                            <a:rPr lang="en-IN" i="1">
                              <a:latin typeface="Cambria Math" panose="02040503050406030204" pitchFamily="18" charset="0"/>
                              <a:cs typeface="Times New Roman" panose="02020603050405020304" pitchFamily="18" charset="0"/>
                            </a:rPr>
                          </m:ctrlPr>
                        </m:dPr>
                        <m:e>
                          <m:r>
                            <m:rPr>
                              <m:nor/>
                            </m:rPr>
                            <a:rPr lang="en-IN" i="0">
                              <a:latin typeface="Times New Roman" panose="02020603050405020304" pitchFamily="18" charset="0"/>
                              <a:cs typeface="Times New Roman" panose="02020603050405020304" pitchFamily="18" charset="0"/>
                            </a:rPr>
                            <m:t>Pass</m:t>
                          </m:r>
                          <m:r>
                            <a:rPr lang="en-IN" b="0" i="0" smtClean="0">
                              <a:latin typeface="Cambria Math" panose="02040503050406030204" pitchFamily="18" charset="0"/>
                            </a:rPr>
                            <m:t>∣</m:t>
                          </m:r>
                          <m:r>
                            <a:rPr lang="en-IN" b="0" i="1" smtClean="0">
                              <a:latin typeface="Cambria Math" panose="02040503050406030204" pitchFamily="18" charset="0"/>
                            </a:rPr>
                            <m:t>𝑋</m:t>
                          </m:r>
                        </m:e>
                      </m:d>
                      <m:r>
                        <a:rPr lang="en-IN" b="0" i="0" smtClean="0">
                          <a:latin typeface="Cambria Math" panose="02040503050406030204" pitchFamily="18" charset="0"/>
                        </a:rPr>
                        <m:t>∝</m:t>
                      </m:r>
                      <m:r>
                        <a:rPr lang="en-IN" b="0" i="1" smtClean="0">
                          <a:latin typeface="Cambria Math" panose="02040503050406030204" pitchFamily="18" charset="0"/>
                        </a:rPr>
                        <m:t>𝑃</m:t>
                      </m:r>
                      <m:d>
                        <m:dPr>
                          <m:ctrlPr>
                            <a:rPr lang="en-IN" b="0" i="1" smtClean="0">
                              <a:latin typeface="Cambria Math" panose="02040503050406030204" pitchFamily="18" charset="0"/>
                            </a:rPr>
                          </m:ctrlPr>
                        </m:dPr>
                        <m:e>
                          <m:r>
                            <a:rPr lang="en-IN" b="0" i="1" smtClean="0">
                              <a:latin typeface="Cambria Math" panose="02040503050406030204" pitchFamily="18" charset="0"/>
                            </a:rPr>
                            <m:t>𝑋</m:t>
                          </m:r>
                          <m:r>
                            <a:rPr lang="en-IN" b="0" i="0" smtClean="0">
                              <a:latin typeface="Cambria Math" panose="02040503050406030204" pitchFamily="18" charset="0"/>
                            </a:rPr>
                            <m:t>∣</m:t>
                          </m:r>
                          <m:r>
                            <m:rPr>
                              <m:nor/>
                            </m:rPr>
                            <a:rPr lang="en-IN" i="0">
                              <a:latin typeface="Times New Roman" panose="02020603050405020304" pitchFamily="18" charset="0"/>
                              <a:cs typeface="Times New Roman" panose="02020603050405020304" pitchFamily="18" charset="0"/>
                            </a:rPr>
                            <m:t>Pass</m:t>
                          </m:r>
                        </m:e>
                      </m:d>
                      <m:r>
                        <a:rPr lang="en-IN" b="0" i="1" smtClean="0">
                          <a:latin typeface="Cambria Math" panose="02040503050406030204" pitchFamily="18" charset="0"/>
                        </a:rPr>
                        <m:t>𝑃</m:t>
                      </m:r>
                      <m:d>
                        <m:dPr>
                          <m:ctrlPr>
                            <a:rPr lang="en-IN" i="1">
                              <a:latin typeface="Cambria Math" panose="02040503050406030204" pitchFamily="18" charset="0"/>
                              <a:cs typeface="Times New Roman" panose="02020603050405020304" pitchFamily="18" charset="0"/>
                            </a:rPr>
                          </m:ctrlPr>
                        </m:dPr>
                        <m:e>
                          <m:r>
                            <m:rPr>
                              <m:nor/>
                            </m:rPr>
                            <a:rPr lang="en-IN" i="0">
                              <a:latin typeface="Times New Roman" panose="02020603050405020304" pitchFamily="18" charset="0"/>
                              <a:cs typeface="Times New Roman" panose="02020603050405020304" pitchFamily="18" charset="0"/>
                            </a:rPr>
                            <m:t>Pass</m:t>
                          </m:r>
                        </m:e>
                      </m:d>
                    </m:oMath>
                  </m:oMathPara>
                </a14:m>
                <a:endParaRPr lang="en-IN"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4EDA90F5-449D-318D-8303-B1492D00A661}"/>
                  </a:ext>
                </a:extLst>
              </p:cNvPr>
              <p:cNvSpPr txBox="1">
                <a:spLocks noRot="1" noChangeAspect="1" noMove="1" noResize="1" noEditPoints="1" noAdjustHandles="1" noChangeArrowheads="1" noChangeShapeType="1" noTextEdit="1"/>
              </p:cNvSpPr>
              <p:nvPr/>
            </p:nvSpPr>
            <p:spPr>
              <a:xfrm>
                <a:off x="257175" y="471502"/>
                <a:ext cx="5838825" cy="3450496"/>
              </a:xfrm>
              <a:prstGeom prst="rect">
                <a:avLst/>
              </a:prstGeom>
              <a:blipFill>
                <a:blip r:embed="rId2"/>
                <a:stretch>
                  <a:fillRect l="-83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1F06F91-A036-977C-1C65-0EA743F50C15}"/>
                  </a:ext>
                </a:extLst>
              </p:cNvPr>
              <p:cNvSpPr txBox="1"/>
              <p:nvPr/>
            </p:nvSpPr>
            <p:spPr>
              <a:xfrm>
                <a:off x="247650" y="4100633"/>
                <a:ext cx="5934075" cy="2392450"/>
              </a:xfrm>
              <a:prstGeom prst="rect">
                <a:avLst/>
              </a:prstGeom>
              <a:noFill/>
            </p:spPr>
            <p:txBody>
              <a:bodyPr wrap="square">
                <a:spAutoFit/>
              </a:bodyPr>
              <a:lstStyle/>
              <a:p>
                <a:pPr>
                  <a:lnSpc>
                    <a:spcPct val="150000"/>
                  </a:lnSpc>
                  <a:buNone/>
                </a:pPr>
                <a:r>
                  <a:rPr lang="en-IN" dirty="0">
                    <a:latin typeface="Times New Roman" panose="02020603050405020304" pitchFamily="18" charset="0"/>
                    <a:cs typeface="Times New Roman" panose="02020603050405020304" pitchFamily="18" charset="0"/>
                  </a:rPr>
                  <a:t>Using the Naïve Bayes assumption,</a:t>
                </a:r>
              </a:p>
              <a:p>
                <a:pPr>
                  <a:lnSpc>
                    <a:spcPct val="150000"/>
                  </a:lnSpc>
                  <a:buNone/>
                </a:pPr>
                <a14:m>
                  <m:oMathPara xmlns:m="http://schemas.openxmlformats.org/officeDocument/2006/math">
                    <m:oMathParaPr>
                      <m:jc m:val="left"/>
                    </m:oMathParaPr>
                    <m:oMath xmlns:m="http://schemas.openxmlformats.org/officeDocument/2006/math">
                      <m:r>
                        <a:rPr lang="en-IN" sz="1400" b="1" i="1">
                          <a:latin typeface="Cambria Math" panose="02040503050406030204" pitchFamily="18" charset="0"/>
                        </a:rPr>
                        <m:t>𝑷</m:t>
                      </m:r>
                      <m:d>
                        <m:dPr>
                          <m:ctrlPr>
                            <a:rPr lang="en-IN" sz="1400" b="0" i="1">
                              <a:latin typeface="Cambria Math" panose="02040503050406030204" pitchFamily="18" charset="0"/>
                              <a:cs typeface="Times New Roman" panose="02020603050405020304" pitchFamily="18" charset="0"/>
                            </a:rPr>
                          </m:ctrlPr>
                        </m:dPr>
                        <m:e>
                          <m:r>
                            <m:rPr>
                              <m:nor/>
                            </m:rPr>
                            <a:rPr lang="en-IN" sz="1400" b="0" i="0">
                              <a:latin typeface="Times New Roman" panose="02020603050405020304" pitchFamily="18" charset="0"/>
                              <a:cs typeface="Times New Roman" panose="02020603050405020304" pitchFamily="18" charset="0"/>
                            </a:rPr>
                            <m:t>Pass</m:t>
                          </m:r>
                          <m:r>
                            <a:rPr lang="en-IN" sz="1400" b="1" i="0">
                              <a:latin typeface="Cambria Math" panose="02040503050406030204" pitchFamily="18" charset="0"/>
                            </a:rPr>
                            <m:t>∣</m:t>
                          </m:r>
                          <m:r>
                            <a:rPr lang="en-IN" sz="1400" b="1" i="1">
                              <a:latin typeface="Cambria Math" panose="02040503050406030204" pitchFamily="18" charset="0"/>
                            </a:rPr>
                            <m:t>𝑿</m:t>
                          </m:r>
                          <m:r>
                            <a:rPr lang="en-IN" sz="1400" b="1" i="1" smtClean="0">
                              <a:latin typeface="Cambria Math" panose="02040503050406030204" pitchFamily="18" charset="0"/>
                            </a:rPr>
                            <m:t> </m:t>
                          </m:r>
                        </m:e>
                      </m:d>
                      <m:r>
                        <a:rPr lang="en-IN" sz="1400" b="1" i="0">
                          <a:latin typeface="Cambria Math" panose="02040503050406030204" pitchFamily="18" charset="0"/>
                        </a:rPr>
                        <m:t>∝</m:t>
                      </m:r>
                      <m:r>
                        <a:rPr lang="en-IN" sz="1400" b="1" i="1">
                          <a:latin typeface="Cambria Math" panose="02040503050406030204" pitchFamily="18" charset="0"/>
                        </a:rPr>
                        <m:t>𝑷</m:t>
                      </m:r>
                      <m:d>
                        <m:dPr>
                          <m:ctrlPr>
                            <a:rPr lang="en-IN" sz="1400" b="0" i="1">
                              <a:latin typeface="Cambria Math" panose="02040503050406030204" pitchFamily="18" charset="0"/>
                              <a:cs typeface="Times New Roman" panose="02020603050405020304" pitchFamily="18" charset="0"/>
                            </a:rPr>
                          </m:ctrlPr>
                        </m:dPr>
                        <m:e>
                          <m:r>
                            <m:rPr>
                              <m:nor/>
                            </m:rPr>
                            <a:rPr lang="en-IN" sz="1400" b="0" i="0">
                              <a:latin typeface="Times New Roman" panose="02020603050405020304" pitchFamily="18" charset="0"/>
                              <a:cs typeface="Times New Roman" panose="02020603050405020304" pitchFamily="18" charset="0"/>
                            </a:rPr>
                            <m:t>Pass</m:t>
                          </m:r>
                        </m:e>
                      </m:d>
                      <m:r>
                        <a:rPr lang="en-IN" sz="1400" b="1" i="0">
                          <a:latin typeface="Cambria Math" panose="02040503050406030204" pitchFamily="18" charset="0"/>
                        </a:rPr>
                        <m:t>×</m:t>
                      </m:r>
                      <m:r>
                        <a:rPr lang="en-IN" sz="1400" b="1" i="1">
                          <a:latin typeface="Cambria Math" panose="02040503050406030204" pitchFamily="18" charset="0"/>
                        </a:rPr>
                        <m:t>𝑷</m:t>
                      </m:r>
                      <m:d>
                        <m:dPr>
                          <m:ctrlPr>
                            <a:rPr lang="en-IN" sz="1400" b="0" i="1">
                              <a:latin typeface="Cambria Math" panose="02040503050406030204" pitchFamily="18" charset="0"/>
                              <a:cs typeface="Times New Roman" panose="02020603050405020304" pitchFamily="18" charset="0"/>
                            </a:rPr>
                          </m:ctrlPr>
                        </m:dPr>
                        <m:e>
                          <m:r>
                            <m:rPr>
                              <m:nor/>
                            </m:rPr>
                            <a:rPr lang="en-IN" sz="1400" b="0" i="0">
                              <a:latin typeface="Times New Roman" panose="02020603050405020304" pitchFamily="18" charset="0"/>
                              <a:cs typeface="Times New Roman" panose="02020603050405020304" pitchFamily="18" charset="0"/>
                            </a:rPr>
                            <m:t>Confident</m:t>
                          </m:r>
                          <m:r>
                            <m:rPr>
                              <m:nor/>
                            </m:rPr>
                            <a:rPr lang="en-IN" sz="1400" b="0" i="0">
                              <a:latin typeface="Times New Roman" panose="02020603050405020304" pitchFamily="18" charset="0"/>
                              <a:cs typeface="Times New Roman" panose="02020603050405020304" pitchFamily="18" charset="0"/>
                            </a:rPr>
                            <m:t> = </m:t>
                          </m:r>
                          <m:r>
                            <m:rPr>
                              <m:nor/>
                            </m:rPr>
                            <a:rPr lang="en-IN" sz="1400" b="0" i="0">
                              <a:latin typeface="Times New Roman" panose="02020603050405020304" pitchFamily="18" charset="0"/>
                              <a:cs typeface="Times New Roman" panose="02020603050405020304" pitchFamily="18" charset="0"/>
                            </a:rPr>
                            <m:t>Yes</m:t>
                          </m:r>
                          <m:r>
                            <a:rPr lang="en-IN" sz="1400" b="1" i="0">
                              <a:latin typeface="Cambria Math" panose="02040503050406030204" pitchFamily="18" charset="0"/>
                            </a:rPr>
                            <m:t>∣</m:t>
                          </m:r>
                          <m:r>
                            <m:rPr>
                              <m:nor/>
                            </m:rPr>
                            <a:rPr lang="en-IN" sz="1400" b="0" i="0">
                              <a:latin typeface="Times New Roman" panose="02020603050405020304" pitchFamily="18" charset="0"/>
                              <a:cs typeface="Times New Roman" panose="02020603050405020304" pitchFamily="18" charset="0"/>
                            </a:rPr>
                            <m:t>Pass</m:t>
                          </m:r>
                        </m:e>
                      </m:d>
                      <m:r>
                        <a:rPr lang="en-IN" sz="1400" b="1" i="0">
                          <a:latin typeface="Cambria Math" panose="02040503050406030204" pitchFamily="18" charset="0"/>
                        </a:rPr>
                        <m:t>×</m:t>
                      </m:r>
                      <m:r>
                        <a:rPr lang="en-IN" sz="1400" b="1" i="1">
                          <a:latin typeface="Cambria Math" panose="02040503050406030204" pitchFamily="18" charset="0"/>
                        </a:rPr>
                        <m:t>𝑷</m:t>
                      </m:r>
                      <m:d>
                        <m:dPr>
                          <m:ctrlPr>
                            <a:rPr lang="en-IN" sz="1400" b="0" i="1">
                              <a:latin typeface="Cambria Math" panose="02040503050406030204" pitchFamily="18" charset="0"/>
                              <a:cs typeface="Times New Roman" panose="02020603050405020304" pitchFamily="18" charset="0"/>
                            </a:rPr>
                          </m:ctrlPr>
                        </m:dPr>
                        <m:e>
                          <m:r>
                            <m:rPr>
                              <m:nor/>
                            </m:rPr>
                            <a:rPr lang="en-IN" sz="1400" b="0" i="0">
                              <a:latin typeface="Times New Roman" panose="02020603050405020304" pitchFamily="18" charset="0"/>
                              <a:cs typeface="Times New Roman" panose="02020603050405020304" pitchFamily="18" charset="0"/>
                            </a:rPr>
                            <m:t>Sick</m:t>
                          </m:r>
                          <m:r>
                            <m:rPr>
                              <m:nor/>
                            </m:rPr>
                            <a:rPr lang="en-IN" sz="1400" b="0" i="0">
                              <a:latin typeface="Times New Roman" panose="02020603050405020304" pitchFamily="18" charset="0"/>
                              <a:cs typeface="Times New Roman" panose="02020603050405020304" pitchFamily="18" charset="0"/>
                            </a:rPr>
                            <m:t> = </m:t>
                          </m:r>
                          <m:r>
                            <m:rPr>
                              <m:nor/>
                            </m:rPr>
                            <a:rPr lang="en-IN" sz="1400" b="0" i="0">
                              <a:latin typeface="Times New Roman" panose="02020603050405020304" pitchFamily="18" charset="0"/>
                              <a:cs typeface="Times New Roman" panose="02020603050405020304" pitchFamily="18" charset="0"/>
                            </a:rPr>
                            <m:t>No</m:t>
                          </m:r>
                          <m:r>
                            <a:rPr lang="en-IN" sz="1400" b="1" i="0">
                              <a:latin typeface="Cambria Math" panose="02040503050406030204" pitchFamily="18" charset="0"/>
                            </a:rPr>
                            <m:t>∣</m:t>
                          </m:r>
                          <m:r>
                            <m:rPr>
                              <m:nor/>
                            </m:rPr>
                            <a:rPr lang="en-IN" sz="1400" b="0" i="0">
                              <a:latin typeface="Times New Roman" panose="02020603050405020304" pitchFamily="18" charset="0"/>
                              <a:cs typeface="Times New Roman" panose="02020603050405020304" pitchFamily="18" charset="0"/>
                            </a:rPr>
                            <m:t>Pass</m:t>
                          </m:r>
                        </m:e>
                      </m:d>
                    </m:oMath>
                  </m:oMathPara>
                </a14:m>
                <a:endParaRPr lang="en-IN" sz="1400" b="1" dirty="0">
                  <a:latin typeface="Times New Roman" panose="02020603050405020304" pitchFamily="18" charset="0"/>
                  <a:cs typeface="Times New Roman" panose="02020603050405020304" pitchFamily="18" charset="0"/>
                </a:endParaRPr>
              </a:p>
              <a:p>
                <a:pPr>
                  <a:lnSpc>
                    <a:spcPct val="150000"/>
                  </a:lnSpc>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3</m:t>
                          </m:r>
                        </m:num>
                        <m:den>
                          <m:r>
                            <a:rPr lang="en-IN" i="0">
                              <a:latin typeface="Cambria Math" panose="02040503050406030204" pitchFamily="18" charset="0"/>
                            </a:rPr>
                            <m:t>5</m:t>
                          </m:r>
                        </m:den>
                      </m:f>
                      <m:r>
                        <a:rPr lang="en-IN"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2</m:t>
                          </m:r>
                        </m:num>
                        <m:den>
                          <m:r>
                            <a:rPr lang="en-IN" i="0">
                              <a:latin typeface="Cambria Math" panose="02040503050406030204" pitchFamily="18" charset="0"/>
                            </a:rPr>
                            <m:t>3</m:t>
                          </m:r>
                        </m:den>
                      </m:f>
                      <m:r>
                        <a:rPr lang="en-IN"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1</m:t>
                          </m:r>
                        </m:num>
                        <m:den>
                          <m:r>
                            <a:rPr lang="en-IN" i="0">
                              <a:latin typeface="Cambria Math" panose="02040503050406030204" pitchFamily="18" charset="0"/>
                            </a:rPr>
                            <m:t>3</m:t>
                          </m:r>
                        </m:den>
                      </m:f>
                    </m:oMath>
                  </m:oMathPara>
                </a14:m>
                <a:endParaRPr lang="en-IN" dirty="0">
                  <a:latin typeface="Times New Roman" panose="02020603050405020304" pitchFamily="18" charset="0"/>
                  <a:cs typeface="Times New Roman" panose="02020603050405020304" pitchFamily="18" charset="0"/>
                </a:endParaRPr>
              </a:p>
              <a:p>
                <a:pPr>
                  <a:lnSpc>
                    <a:spcPct val="150000"/>
                  </a:lnSpc>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2</m:t>
                          </m:r>
                        </m:num>
                        <m:den>
                          <m:r>
                            <a:rPr lang="en-IN" i="0">
                              <a:latin typeface="Cambria Math" panose="02040503050406030204" pitchFamily="18" charset="0"/>
                            </a:rPr>
                            <m:t>15</m:t>
                          </m:r>
                        </m:den>
                      </m:f>
                      <m:r>
                        <a:rPr lang="en-IN" i="0">
                          <a:latin typeface="Cambria Math" panose="02040503050406030204" pitchFamily="18" charset="0"/>
                        </a:rPr>
                        <m:t>=0.1333</m:t>
                      </m:r>
                    </m:oMath>
                  </m:oMathPara>
                </a14:m>
                <a:endParaRPr lang="en-IN"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F1F06F91-A036-977C-1C65-0EA743F50C15}"/>
                  </a:ext>
                </a:extLst>
              </p:cNvPr>
              <p:cNvSpPr txBox="1">
                <a:spLocks noRot="1" noChangeAspect="1" noMove="1" noResize="1" noEditPoints="1" noAdjustHandles="1" noChangeArrowheads="1" noChangeShapeType="1" noTextEdit="1"/>
              </p:cNvSpPr>
              <p:nvPr/>
            </p:nvSpPr>
            <p:spPr>
              <a:xfrm>
                <a:off x="247650" y="4100633"/>
                <a:ext cx="5934075" cy="2392450"/>
              </a:xfrm>
              <a:prstGeom prst="rect">
                <a:avLst/>
              </a:prstGeom>
              <a:blipFill>
                <a:blip r:embed="rId3"/>
                <a:stretch>
                  <a:fillRect l="-92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0A228BF-AEF1-FCB7-6DAC-412E00F8C844}"/>
                  </a:ext>
                </a:extLst>
              </p:cNvPr>
              <p:cNvSpPr txBox="1"/>
              <p:nvPr/>
            </p:nvSpPr>
            <p:spPr>
              <a:xfrm>
                <a:off x="6096001" y="427711"/>
                <a:ext cx="6019800" cy="3315651"/>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Compute the Posterior Probability for Fail: </a:t>
                </a:r>
              </a:p>
              <a:p>
                <a:pPr>
                  <a:lnSpc>
                    <a:spcPct val="150000"/>
                  </a:lnSpc>
                  <a:buNone/>
                </a:pPr>
                <a:r>
                  <a:rPr lang="en-IN" dirty="0"/>
                  <a:t>Similarly,</a:t>
                </a:r>
              </a:p>
              <a:p>
                <a:pPr>
                  <a:lnSpc>
                    <a:spcPct val="150000"/>
                  </a:lnSpc>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rPr>
                          </m:ctrlPr>
                        </m:dPr>
                        <m:e>
                          <m:r>
                            <m:rPr>
                              <m:nor/>
                            </m:rPr>
                            <a:rPr lang="en-IN" b="0" i="0">
                              <a:latin typeface="Cambria Math" panose="02040503050406030204" pitchFamily="18" charset="0"/>
                            </a:rPr>
                            <m:t>Fail</m:t>
                          </m:r>
                          <m:r>
                            <a:rPr lang="en-IN" b="0" i="0">
                              <a:latin typeface="Cambria Math" panose="02040503050406030204" pitchFamily="18" charset="0"/>
                            </a:rPr>
                            <m:t>∣</m:t>
                          </m:r>
                          <m:r>
                            <a:rPr lang="en-IN" b="0" i="1">
                              <a:latin typeface="Cambria Math" panose="02040503050406030204" pitchFamily="18" charset="0"/>
                            </a:rPr>
                            <m:t>𝑋</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a:rPr lang="en-IN" b="0" i="1">
                              <a:latin typeface="Cambria Math" panose="02040503050406030204" pitchFamily="18" charset="0"/>
                            </a:rPr>
                            <m:t>𝑋</m:t>
                          </m:r>
                          <m:r>
                            <a:rPr lang="en-IN" b="0" i="0">
                              <a:latin typeface="Cambria Math" panose="02040503050406030204" pitchFamily="18" charset="0"/>
                            </a:rPr>
                            <m:t>∣</m:t>
                          </m:r>
                          <m:r>
                            <m:rPr>
                              <m:nor/>
                            </m:rPr>
                            <a:rPr lang="en-IN" b="0" i="0">
                              <a:latin typeface="Cambria Math" panose="02040503050406030204" pitchFamily="18" charset="0"/>
                            </a:rPr>
                            <m:t>Fail</m:t>
                          </m:r>
                        </m:e>
                      </m:d>
                      <m:r>
                        <a:rPr lang="en-IN" b="0" i="1">
                          <a:latin typeface="Cambria Math" panose="02040503050406030204" pitchFamily="18" charset="0"/>
                        </a:rPr>
                        <m:t>𝑃</m:t>
                      </m:r>
                      <m:d>
                        <m:dPr>
                          <m:ctrlPr>
                            <a:rPr lang="en-IN" b="0" i="1">
                              <a:latin typeface="Cambria Math" panose="02040503050406030204" pitchFamily="18" charset="0"/>
                            </a:rPr>
                          </m:ctrlPr>
                        </m:dPr>
                        <m:e>
                          <m:r>
                            <m:rPr>
                              <m:nor/>
                            </m:rPr>
                            <a:rPr lang="en-IN" b="0" i="0">
                              <a:latin typeface="Cambria Math" panose="02040503050406030204" pitchFamily="18" charset="0"/>
                            </a:rPr>
                            <m:t>Fail</m:t>
                          </m:r>
                        </m:e>
                      </m:d>
                    </m:oMath>
                  </m:oMathPara>
                </a14:m>
                <a:endParaRPr lang="en-IN" b="0" dirty="0"/>
              </a:p>
              <a:p>
                <a:pPr>
                  <a:lnSpc>
                    <a:spcPct val="150000"/>
                  </a:lnSpc>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r>
                        <a:rPr lang="en-IN" i="1">
                          <a:latin typeface="Cambria Math" panose="02040503050406030204" pitchFamily="18" charset="0"/>
                        </a:rPr>
                        <m:t>𝑃</m:t>
                      </m:r>
                      <m:d>
                        <m:dPr>
                          <m:ctrlPr>
                            <a:rPr lang="en-IN" b="0" i="1">
                              <a:latin typeface="Cambria Math" panose="02040503050406030204" pitchFamily="18" charset="0"/>
                            </a:rPr>
                          </m:ctrlPr>
                        </m:dPr>
                        <m:e>
                          <m:r>
                            <m:rPr>
                              <m:nor/>
                            </m:rPr>
                            <a:rPr lang="en-IN" b="0" i="0">
                              <a:latin typeface="Cambria Math" panose="02040503050406030204" pitchFamily="18" charset="0"/>
                            </a:rPr>
                            <m:t>Fail</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m:rPr>
                              <m:nor/>
                            </m:rPr>
                            <a:rPr lang="en-IN" b="0" i="0">
                              <a:latin typeface="Cambria Math" panose="02040503050406030204" pitchFamily="18" charset="0"/>
                            </a:rPr>
                            <m:t>Confident</m:t>
                          </m:r>
                          <m:r>
                            <m:rPr>
                              <m:nor/>
                            </m:rPr>
                            <a:rPr lang="en-IN" b="0" i="0">
                              <a:latin typeface="Cambria Math" panose="02040503050406030204" pitchFamily="18" charset="0"/>
                            </a:rPr>
                            <m:t> = </m:t>
                          </m:r>
                          <m:r>
                            <m:rPr>
                              <m:nor/>
                            </m:rPr>
                            <a:rPr lang="en-IN" b="0" i="0">
                              <a:latin typeface="Cambria Math" panose="02040503050406030204" pitchFamily="18" charset="0"/>
                            </a:rPr>
                            <m:t>Yes</m:t>
                          </m:r>
                          <m:r>
                            <a:rPr lang="en-IN" b="0" i="0">
                              <a:latin typeface="Cambria Math" panose="02040503050406030204" pitchFamily="18" charset="0"/>
                            </a:rPr>
                            <m:t>∣</m:t>
                          </m:r>
                          <m:r>
                            <m:rPr>
                              <m:nor/>
                            </m:rPr>
                            <a:rPr lang="en-IN" b="0" i="0">
                              <a:latin typeface="Cambria Math" panose="02040503050406030204" pitchFamily="18" charset="0"/>
                            </a:rPr>
                            <m:t>Fail</m:t>
                          </m:r>
                        </m:e>
                      </m:d>
                      <m:r>
                        <a:rPr lang="en-IN" b="0" i="0">
                          <a:latin typeface="Cambria Math" panose="02040503050406030204" pitchFamily="18" charset="0"/>
                        </a:rPr>
                        <m:t>×</m:t>
                      </m:r>
                      <m:r>
                        <a:rPr lang="en-IN" b="0" i="1">
                          <a:latin typeface="Cambria Math" panose="02040503050406030204" pitchFamily="18" charset="0"/>
                        </a:rPr>
                        <m:t>𝑃</m:t>
                      </m:r>
                      <m:d>
                        <m:dPr>
                          <m:ctrlPr>
                            <a:rPr lang="en-IN" b="0" i="1">
                              <a:latin typeface="Cambria Math" panose="02040503050406030204" pitchFamily="18" charset="0"/>
                            </a:rPr>
                          </m:ctrlPr>
                        </m:dPr>
                        <m:e>
                          <m:r>
                            <m:rPr>
                              <m:nor/>
                            </m:rPr>
                            <a:rPr lang="en-IN" b="0" i="0">
                              <a:latin typeface="Cambria Math" panose="02040503050406030204" pitchFamily="18" charset="0"/>
                            </a:rPr>
                            <m:t>Sick</m:t>
                          </m:r>
                          <m:r>
                            <m:rPr>
                              <m:nor/>
                            </m:rPr>
                            <a:rPr lang="en-IN" b="0" i="0">
                              <a:latin typeface="Cambria Math" panose="02040503050406030204" pitchFamily="18" charset="0"/>
                            </a:rPr>
                            <m:t> = </m:t>
                          </m:r>
                          <m:r>
                            <m:rPr>
                              <m:nor/>
                            </m:rPr>
                            <a:rPr lang="en-IN" b="0" i="0">
                              <a:latin typeface="Cambria Math" panose="02040503050406030204" pitchFamily="18" charset="0"/>
                            </a:rPr>
                            <m:t>No</m:t>
                          </m:r>
                          <m:r>
                            <a:rPr lang="en-IN" b="0" i="0">
                              <a:latin typeface="Cambria Math" panose="02040503050406030204" pitchFamily="18" charset="0"/>
                            </a:rPr>
                            <m:t>∣</m:t>
                          </m:r>
                          <m:r>
                            <m:rPr>
                              <m:nor/>
                            </m:rPr>
                            <a:rPr lang="en-IN" b="0" i="0">
                              <a:latin typeface="Cambria Math" panose="02040503050406030204" pitchFamily="18" charset="0"/>
                            </a:rPr>
                            <m:t>Fail</m:t>
                          </m:r>
                        </m:e>
                      </m:d>
                    </m:oMath>
                  </m:oMathPara>
                </a14:m>
                <a:endParaRPr lang="en-IN" b="0" dirty="0"/>
              </a:p>
              <a:p>
                <a:pPr>
                  <a:lnSpc>
                    <a:spcPct val="150000"/>
                  </a:lnSpc>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2</m:t>
                          </m:r>
                        </m:num>
                        <m:den>
                          <m:r>
                            <a:rPr lang="en-IN" i="0">
                              <a:latin typeface="Cambria Math" panose="02040503050406030204" pitchFamily="18" charset="0"/>
                            </a:rPr>
                            <m:t>5</m:t>
                          </m:r>
                        </m:den>
                      </m:f>
                      <m:r>
                        <a:rPr lang="en-IN"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1</m:t>
                          </m:r>
                        </m:num>
                        <m:den>
                          <m:r>
                            <a:rPr lang="en-IN" i="0">
                              <a:latin typeface="Cambria Math" panose="02040503050406030204" pitchFamily="18" charset="0"/>
                            </a:rPr>
                            <m:t>2</m:t>
                          </m:r>
                        </m:den>
                      </m:f>
                      <m:r>
                        <a:rPr lang="en-IN" i="0">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1</m:t>
                          </m:r>
                        </m:num>
                        <m:den>
                          <m:r>
                            <a:rPr lang="en-IN" i="0">
                              <a:latin typeface="Cambria Math" panose="02040503050406030204" pitchFamily="18" charset="0"/>
                            </a:rPr>
                            <m:t>2</m:t>
                          </m:r>
                        </m:den>
                      </m:f>
                    </m:oMath>
                  </m:oMathPara>
                </a14:m>
                <a:endParaRPr lang="en-IN" dirty="0"/>
              </a:p>
              <a:p>
                <a:pPr>
                  <a:lnSpc>
                    <a:spcPct val="150000"/>
                  </a:lnSpc>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f>
                        <m:fPr>
                          <m:ctrlPr>
                            <a:rPr lang="en-IN" i="1">
                              <a:latin typeface="Cambria Math" panose="02040503050406030204" pitchFamily="18" charset="0"/>
                            </a:rPr>
                          </m:ctrlPr>
                        </m:fPr>
                        <m:num>
                          <m:r>
                            <a:rPr lang="en-IN" i="0">
                              <a:latin typeface="Cambria Math" panose="02040503050406030204" pitchFamily="18" charset="0"/>
                            </a:rPr>
                            <m:t>1</m:t>
                          </m:r>
                        </m:num>
                        <m:den>
                          <m:r>
                            <a:rPr lang="en-IN" i="0">
                              <a:latin typeface="Cambria Math" panose="02040503050406030204" pitchFamily="18" charset="0"/>
                            </a:rPr>
                            <m:t>10</m:t>
                          </m:r>
                        </m:den>
                      </m:f>
                      <m:r>
                        <a:rPr lang="en-IN" i="0">
                          <a:latin typeface="Cambria Math" panose="02040503050406030204" pitchFamily="18" charset="0"/>
                        </a:rPr>
                        <m:t>=0.10</m:t>
                      </m:r>
                    </m:oMath>
                  </m:oMathPara>
                </a14:m>
                <a:endParaRPr lang="en-IN" dirty="0"/>
              </a:p>
            </p:txBody>
          </p:sp>
        </mc:Choice>
        <mc:Fallback xmlns="">
          <p:sp>
            <p:nvSpPr>
              <p:cNvPr id="9" name="TextBox 8">
                <a:extLst>
                  <a:ext uri="{FF2B5EF4-FFF2-40B4-BE49-F238E27FC236}">
                    <a16:creationId xmlns:a16="http://schemas.microsoft.com/office/drawing/2014/main" id="{40A228BF-AEF1-FCB7-6DAC-412E00F8C844}"/>
                  </a:ext>
                </a:extLst>
              </p:cNvPr>
              <p:cNvSpPr txBox="1">
                <a:spLocks noRot="1" noChangeAspect="1" noMove="1" noResize="1" noEditPoints="1" noAdjustHandles="1" noChangeArrowheads="1" noChangeShapeType="1" noTextEdit="1"/>
              </p:cNvSpPr>
              <p:nvPr/>
            </p:nvSpPr>
            <p:spPr>
              <a:xfrm>
                <a:off x="6096001" y="427711"/>
                <a:ext cx="6019800" cy="3315651"/>
              </a:xfrm>
              <a:prstGeom prst="rect">
                <a:avLst/>
              </a:prstGeom>
              <a:blipFill>
                <a:blip r:embed="rId4"/>
                <a:stretch>
                  <a:fillRect l="-81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6EBD79-F6C3-809F-C660-D062D183217F}"/>
                  </a:ext>
                </a:extLst>
              </p:cNvPr>
              <p:cNvSpPr txBox="1"/>
              <p:nvPr/>
            </p:nvSpPr>
            <p:spPr>
              <a:xfrm>
                <a:off x="6565106" y="3813450"/>
                <a:ext cx="5141119" cy="2120068"/>
              </a:xfrm>
              <a:prstGeom prst="rect">
                <a:avLst/>
              </a:prstGeom>
              <a:noFill/>
            </p:spPr>
            <p:txBody>
              <a:bodyPr wrap="square">
                <a:spAutoFit/>
              </a:bodyPr>
              <a:lstStyle/>
              <a:p>
                <a:pPr>
                  <a:lnSpc>
                    <a:spcPct val="150000"/>
                  </a:lnSpc>
                  <a:buNone/>
                </a:pPr>
                <a:r>
                  <a:rPr lang="en-IN" dirty="0">
                    <a:latin typeface="Times New Roman" panose="02020603050405020304" pitchFamily="18" charset="0"/>
                    <a:cs typeface="Times New Roman" panose="02020603050405020304" pitchFamily="18" charset="0"/>
                  </a:rPr>
                  <a:t>Compare the two posterior probabilities:</a:t>
                </a:r>
              </a:p>
              <a:p>
                <a:pPr>
                  <a:lnSpc>
                    <a:spcPct val="150000"/>
                  </a:lnSpc>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Pass</m:t>
                          </m:r>
                          <m:r>
                            <a:rPr lang="en-IN" b="0" i="0">
                              <a:latin typeface="Cambria Math" panose="02040503050406030204" pitchFamily="18" charset="0"/>
                            </a:rPr>
                            <m:t>∣</m:t>
                          </m:r>
                          <m:r>
                            <a:rPr lang="en-IN" b="0" i="1">
                              <a:latin typeface="Cambria Math" panose="02040503050406030204" pitchFamily="18" charset="0"/>
                            </a:rPr>
                            <m:t>𝑋</m:t>
                          </m:r>
                        </m:e>
                      </m:d>
                      <m:r>
                        <a:rPr lang="en-IN" b="0" i="0">
                          <a:latin typeface="Cambria Math" panose="02040503050406030204" pitchFamily="18" charset="0"/>
                        </a:rPr>
                        <m:t>∝0.1333</m:t>
                      </m:r>
                    </m:oMath>
                  </m:oMathPara>
                </a14:m>
                <a:endParaRPr lang="en-IN" b="0" dirty="0">
                  <a:latin typeface="Times New Roman" panose="02020603050405020304" pitchFamily="18" charset="0"/>
                  <a:cs typeface="Times New Roman" panose="02020603050405020304" pitchFamily="18" charset="0"/>
                </a:endParaRPr>
              </a:p>
              <a:p>
                <a:pPr>
                  <a:lnSpc>
                    <a:spcPct val="150000"/>
                  </a:lnSpc>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Fail</m:t>
                          </m:r>
                          <m:r>
                            <a:rPr lang="en-IN" b="0" i="0">
                              <a:latin typeface="Cambria Math" panose="02040503050406030204" pitchFamily="18" charset="0"/>
                            </a:rPr>
                            <m:t>∣</m:t>
                          </m:r>
                          <m:r>
                            <a:rPr lang="en-IN" b="0" i="1">
                              <a:latin typeface="Cambria Math" panose="02040503050406030204" pitchFamily="18" charset="0"/>
                            </a:rPr>
                            <m:t>𝑋</m:t>
                          </m:r>
                        </m:e>
                      </m:d>
                      <m:r>
                        <a:rPr lang="en-IN" b="0" i="0">
                          <a:latin typeface="Cambria Math" panose="02040503050406030204" pitchFamily="18" charset="0"/>
                        </a:rPr>
                        <m:t>∝0.10</m:t>
                      </m:r>
                    </m:oMath>
                  </m:oMathPara>
                </a14:m>
                <a:endParaRPr lang="en-IN" b="0" dirty="0">
                  <a:latin typeface="Times New Roman" panose="02020603050405020304" pitchFamily="18" charset="0"/>
                  <a:cs typeface="Times New Roman" panose="02020603050405020304" pitchFamily="18" charset="0"/>
                </a:endParaRPr>
              </a:p>
              <a:p>
                <a:pPr>
                  <a:lnSpc>
                    <a:spcPct val="150000"/>
                  </a:lnSpc>
                  <a:buNone/>
                </a:pPr>
                <a:r>
                  <a:rPr lang="en-IN" dirty="0">
                    <a:latin typeface="Times New Roman" panose="02020603050405020304" pitchFamily="18" charset="0"/>
                    <a:cs typeface="Times New Roman" panose="02020603050405020304" pitchFamily="18" charset="0"/>
                  </a:rPr>
                  <a:t>Since </a:t>
                </a:r>
                <a14:m>
                  <m:oMath xmlns:m="http://schemas.openxmlformats.org/officeDocument/2006/math">
                    <m:r>
                      <a:rPr lang="en-IN">
                        <a:latin typeface="Cambria Math" panose="02040503050406030204" pitchFamily="18" charset="0"/>
                      </a:rPr>
                      <m:t>0.1333</m:t>
                    </m:r>
                    <m:r>
                      <a:rPr lang="en-IN" i="0">
                        <a:latin typeface="Cambria Math" panose="02040503050406030204" pitchFamily="18" charset="0"/>
                      </a:rPr>
                      <m:t>&gt;0.10,</m:t>
                    </m:r>
                  </m:oMath>
                </a14:m>
                <a:endParaRPr lang="en-IN" dirty="0">
                  <a:latin typeface="Times New Roman" panose="02020603050405020304" pitchFamily="18" charset="0"/>
                  <a:cs typeface="Times New Roman" panose="02020603050405020304" pitchFamily="18" charset="0"/>
                </a:endParaRPr>
              </a:p>
              <a:p>
                <a:pPr>
                  <a:lnSpc>
                    <a:spcPct val="150000"/>
                  </a:lnSpc>
                  <a:buNone/>
                </a:pPr>
                <a:r>
                  <a:rPr lang="en-IN" dirty="0">
                    <a:latin typeface="Times New Roman" panose="02020603050405020304" pitchFamily="18" charset="0"/>
                    <a:cs typeface="Times New Roman" panose="02020603050405020304" pitchFamily="18" charset="0"/>
                  </a:rPr>
                  <a:t>the student is classified as </a:t>
                </a:r>
                <a:r>
                  <a:rPr lang="en-IN" b="1" dirty="0">
                    <a:latin typeface="Times New Roman" panose="02020603050405020304" pitchFamily="18" charset="0"/>
                    <a:cs typeface="Times New Roman" panose="02020603050405020304" pitchFamily="18" charset="0"/>
                  </a:rPr>
                  <a:t>PASS</a:t>
                </a:r>
              </a:p>
            </p:txBody>
          </p:sp>
        </mc:Choice>
        <mc:Fallback xmlns="">
          <p:sp>
            <p:nvSpPr>
              <p:cNvPr id="11" name="TextBox 10">
                <a:extLst>
                  <a:ext uri="{FF2B5EF4-FFF2-40B4-BE49-F238E27FC236}">
                    <a16:creationId xmlns:a16="http://schemas.microsoft.com/office/drawing/2014/main" id="{AD6EBD79-F6C3-809F-C660-D062D183217F}"/>
                  </a:ext>
                </a:extLst>
              </p:cNvPr>
              <p:cNvSpPr txBox="1">
                <a:spLocks noRot="1" noChangeAspect="1" noMove="1" noResize="1" noEditPoints="1" noAdjustHandles="1" noChangeArrowheads="1" noChangeShapeType="1" noTextEdit="1"/>
              </p:cNvSpPr>
              <p:nvPr/>
            </p:nvSpPr>
            <p:spPr>
              <a:xfrm>
                <a:off x="6565106" y="3813450"/>
                <a:ext cx="5141119" cy="2120068"/>
              </a:xfrm>
              <a:prstGeom prst="rect">
                <a:avLst/>
              </a:prstGeom>
              <a:blipFill>
                <a:blip r:embed="rId5"/>
                <a:stretch>
                  <a:fillRect l="-1068" b="-4035"/>
                </a:stretch>
              </a:blipFill>
            </p:spPr>
            <p:txBody>
              <a:bodyPr/>
              <a:lstStyle/>
              <a:p>
                <a:r>
                  <a:rPr lang="en-IN">
                    <a:noFill/>
                  </a:rPr>
                  <a:t> </a:t>
                </a:r>
              </a:p>
            </p:txBody>
          </p:sp>
        </mc:Fallback>
      </mc:AlternateContent>
      <p:sp>
        <p:nvSpPr>
          <p:cNvPr id="12" name="Footer Placeholder 11">
            <a:extLst>
              <a:ext uri="{FF2B5EF4-FFF2-40B4-BE49-F238E27FC236}">
                <a16:creationId xmlns:a16="http://schemas.microsoft.com/office/drawing/2014/main" id="{9049E654-B745-A9B7-0C18-8214A2B4F2C2}"/>
              </a:ext>
            </a:extLst>
          </p:cNvPr>
          <p:cNvSpPr>
            <a:spLocks noGrp="1"/>
          </p:cNvSpPr>
          <p:nvPr>
            <p:ph type="ftr" sz="quarter" idx="11"/>
          </p:nvPr>
        </p:nvSpPr>
        <p:spPr/>
        <p:txBody>
          <a:bodyPr/>
          <a:lstStyle/>
          <a:p>
            <a:r>
              <a:rPr lang="en-IN"/>
              <a:t>W-2</a:t>
            </a:r>
          </a:p>
        </p:txBody>
      </p:sp>
      <p:sp>
        <p:nvSpPr>
          <p:cNvPr id="13" name="Slide Number Placeholder 12">
            <a:extLst>
              <a:ext uri="{FF2B5EF4-FFF2-40B4-BE49-F238E27FC236}">
                <a16:creationId xmlns:a16="http://schemas.microsoft.com/office/drawing/2014/main" id="{724457ED-8D2C-62ED-015E-B5547D69560F}"/>
              </a:ext>
            </a:extLst>
          </p:cNvPr>
          <p:cNvSpPr>
            <a:spLocks noGrp="1"/>
          </p:cNvSpPr>
          <p:nvPr>
            <p:ph type="sldNum" sz="quarter" idx="12"/>
          </p:nvPr>
        </p:nvSpPr>
        <p:spPr/>
        <p:txBody>
          <a:bodyPr/>
          <a:lstStyle/>
          <a:p>
            <a:pPr>
              <a:defRPr/>
            </a:pPr>
            <a:fld id="{799C83C6-4F87-48B4-8CF0-6A2F9115491D}" type="slidenum">
              <a:rPr lang="en-IN" smtClean="0"/>
              <a:pPr>
                <a:defRPr/>
              </a:pPr>
              <a:t>28</a:t>
            </a:fld>
            <a:endParaRPr lang="en-IN"/>
          </a:p>
        </p:txBody>
      </p:sp>
    </p:spTree>
    <p:extLst>
      <p:ext uri="{BB962C8B-B14F-4D97-AF65-F5344CB8AC3E}">
        <p14:creationId xmlns:p14="http://schemas.microsoft.com/office/powerpoint/2010/main" val="2903062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3B08543-7372-0C4B-BFA0-BE9BF5104734}"/>
              </a:ext>
            </a:extLst>
          </p:cNvPr>
          <p:cNvPicPr>
            <a:picLocks noChangeAspect="1"/>
          </p:cNvPicPr>
          <p:nvPr/>
        </p:nvPicPr>
        <p:blipFill>
          <a:blip r:embed="rId2"/>
          <a:stretch>
            <a:fillRect/>
          </a:stretch>
        </p:blipFill>
        <p:spPr>
          <a:xfrm>
            <a:off x="609600" y="1341331"/>
            <a:ext cx="7342426" cy="4154520"/>
          </a:xfrm>
          <a:prstGeom prst="rect">
            <a:avLst/>
          </a:prstGeom>
        </p:spPr>
      </p:pic>
      <p:sp>
        <p:nvSpPr>
          <p:cNvPr id="2" name="Title 1">
            <a:extLst>
              <a:ext uri="{FF2B5EF4-FFF2-40B4-BE49-F238E27FC236}">
                <a16:creationId xmlns:a16="http://schemas.microsoft.com/office/drawing/2014/main" id="{5C908133-B2D4-6BA5-4B1B-36774FC4D444}"/>
              </a:ext>
            </a:extLst>
          </p:cNvPr>
          <p:cNvSpPr>
            <a:spLocks noGrp="1"/>
          </p:cNvSpPr>
          <p:nvPr>
            <p:ph type="title" idx="4294967295"/>
          </p:nvPr>
        </p:nvSpPr>
        <p:spPr>
          <a:xfrm>
            <a:off x="0" y="274638"/>
            <a:ext cx="8161338" cy="849312"/>
          </a:xfrm>
        </p:spPr>
        <p:txBody>
          <a:bodyPr/>
          <a:lstStyle/>
          <a:p>
            <a:pPr algn="l"/>
            <a:r>
              <a:rPr lang="en-US" sz="4000" b="1" dirty="0">
                <a:solidFill>
                  <a:srgbClr val="FF0000"/>
                </a:solidFill>
                <a:ea typeface="Calibri" panose="020F0502020204030204" pitchFamily="34" charset="0"/>
                <a:cs typeface="Calibri" panose="020F0502020204030204" pitchFamily="34" charset="0"/>
              </a:rPr>
              <a:t>Problem 7</a:t>
            </a:r>
            <a:endParaRPr lang="en-IN" sz="4000" dirty="0"/>
          </a:p>
        </p:txBody>
      </p:sp>
      <p:pic>
        <p:nvPicPr>
          <p:cNvPr id="7" name="Picture 6">
            <a:extLst>
              <a:ext uri="{FF2B5EF4-FFF2-40B4-BE49-F238E27FC236}">
                <a16:creationId xmlns:a16="http://schemas.microsoft.com/office/drawing/2014/main" id="{76DC2B19-D6AB-9C2B-90DD-71F1D34B3454}"/>
              </a:ext>
            </a:extLst>
          </p:cNvPr>
          <p:cNvPicPr>
            <a:picLocks noChangeAspect="1"/>
          </p:cNvPicPr>
          <p:nvPr/>
        </p:nvPicPr>
        <p:blipFill>
          <a:blip r:embed="rId3"/>
          <a:stretch>
            <a:fillRect/>
          </a:stretch>
        </p:blipFill>
        <p:spPr>
          <a:xfrm>
            <a:off x="609600" y="5486326"/>
            <a:ext cx="8823870" cy="657726"/>
          </a:xfrm>
          <a:prstGeom prst="rect">
            <a:avLst/>
          </a:prstGeom>
        </p:spPr>
      </p:pic>
      <p:sp>
        <p:nvSpPr>
          <p:cNvPr id="3" name="Footer Placeholder 2">
            <a:extLst>
              <a:ext uri="{FF2B5EF4-FFF2-40B4-BE49-F238E27FC236}">
                <a16:creationId xmlns:a16="http://schemas.microsoft.com/office/drawing/2014/main" id="{48AD9D12-AA99-A0F9-BAE4-F774AACC8945}"/>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A6EFBE40-F818-5F20-E9C2-204421044C1E}"/>
              </a:ext>
            </a:extLst>
          </p:cNvPr>
          <p:cNvSpPr>
            <a:spLocks noGrp="1"/>
          </p:cNvSpPr>
          <p:nvPr>
            <p:ph type="sldNum" sz="quarter" idx="12"/>
          </p:nvPr>
        </p:nvSpPr>
        <p:spPr/>
        <p:txBody>
          <a:bodyPr/>
          <a:lstStyle/>
          <a:p>
            <a:pPr>
              <a:defRPr/>
            </a:pPr>
            <a:fld id="{799C83C6-4F87-48B4-8CF0-6A2F9115491D}" type="slidenum">
              <a:rPr lang="en-IN" smtClean="0"/>
              <a:pPr>
                <a:defRPr/>
              </a:pPr>
              <a:t>29</a:t>
            </a:fld>
            <a:endParaRPr lang="en-IN"/>
          </a:p>
        </p:txBody>
      </p:sp>
    </p:spTree>
    <p:extLst>
      <p:ext uri="{BB962C8B-B14F-4D97-AF65-F5344CB8AC3E}">
        <p14:creationId xmlns:p14="http://schemas.microsoft.com/office/powerpoint/2010/main" val="2170048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FB064C2-4F0B-7EFB-9314-35FA9663E9C9}"/>
                  </a:ext>
                </a:extLst>
              </p:cNvPr>
              <p:cNvSpPr txBox="1"/>
              <p:nvPr/>
            </p:nvSpPr>
            <p:spPr>
              <a:xfrm>
                <a:off x="272653" y="0"/>
                <a:ext cx="6096000" cy="1200329"/>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Solution:</a:t>
                </a:r>
              </a:p>
              <a:p>
                <a:pPr>
                  <a:buNone/>
                </a:pPr>
                <a:r>
                  <a:rPr lang="en-IN" dirty="0">
                    <a:latin typeface="Times New Roman" panose="02020603050405020304" pitchFamily="18" charset="0"/>
                    <a:cs typeface="Times New Roman" panose="02020603050405020304" pitchFamily="18" charset="0"/>
                  </a:rPr>
                  <a:t>Let </a:t>
                </a:r>
                <a14:m>
                  <m:oMath xmlns:m="http://schemas.openxmlformats.org/officeDocument/2006/math">
                    <m:r>
                      <a:rPr lang="en-IN" i="1">
                        <a:latin typeface="Cambria Math" panose="02040503050406030204" pitchFamily="18" charset="0"/>
                      </a:rPr>
                      <m:t>𝑋</m:t>
                    </m:r>
                    <m:r>
                      <a:rPr lang="en-IN" i="0">
                        <a:latin typeface="Cambria Math" panose="02040503050406030204" pitchFamily="18" charset="0"/>
                      </a:rPr>
                      <m:t>=</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Red</m:t>
                        </m:r>
                        <m:r>
                          <m:rPr>
                            <m:nor/>
                          </m:rPr>
                          <a:rPr lang="en-IN" b="0" i="0">
                            <a:latin typeface="Times New Roman" panose="02020603050405020304" pitchFamily="18" charset="0"/>
                            <a:cs typeface="Times New Roman" panose="02020603050405020304" pitchFamily="18" charset="0"/>
                          </a:rPr>
                          <m:t>, </m:t>
                        </m:r>
                        <m:r>
                          <m:rPr>
                            <m:nor/>
                          </m:rPr>
                          <a:rPr lang="en-IN" b="0" i="0">
                            <a:latin typeface="Times New Roman" panose="02020603050405020304" pitchFamily="18" charset="0"/>
                            <a:cs typeface="Times New Roman" panose="02020603050405020304" pitchFamily="18" charset="0"/>
                          </a:rPr>
                          <m:t>SUV</m:t>
                        </m:r>
                        <m:r>
                          <m:rPr>
                            <m:nor/>
                          </m:rPr>
                          <a:rPr lang="en-IN" b="0" i="0">
                            <a:latin typeface="Times New Roman" panose="02020603050405020304" pitchFamily="18" charset="0"/>
                            <a:cs typeface="Times New Roman" panose="02020603050405020304" pitchFamily="18" charset="0"/>
                          </a:rPr>
                          <m:t>, </m:t>
                        </m:r>
                        <m:r>
                          <m:rPr>
                            <m:nor/>
                          </m:rPr>
                          <a:rPr lang="en-IN" b="0" i="0">
                            <a:latin typeface="Times New Roman" panose="02020603050405020304" pitchFamily="18" charset="0"/>
                            <a:cs typeface="Times New Roman" panose="02020603050405020304" pitchFamily="18" charset="0"/>
                          </a:rPr>
                          <m:t>Domestic</m:t>
                        </m:r>
                      </m:e>
                    </m:d>
                  </m:oMath>
                </a14:m>
                <a:endParaRPr lang="en-IN" b="0" dirty="0">
                  <a:latin typeface="Times New Roman" panose="02020603050405020304" pitchFamily="18" charset="0"/>
                  <a:cs typeface="Times New Roman" panose="02020603050405020304" pitchFamily="18" charset="0"/>
                </a:endParaRPr>
              </a:p>
              <a:p>
                <a:pPr>
                  <a:buNone/>
                </a:pPr>
                <a:r>
                  <a:rPr lang="en-IN" dirty="0">
                    <a:latin typeface="Times New Roman" panose="02020603050405020304" pitchFamily="18" charset="0"/>
                    <a:cs typeface="Times New Roman" panose="02020603050405020304" pitchFamily="18" charset="0"/>
                  </a:rPr>
                  <a:t>be the new instance to be classified.</a:t>
                </a:r>
              </a:p>
            </p:txBody>
          </p:sp>
        </mc:Choice>
        <mc:Fallback xmlns="">
          <p:sp>
            <p:nvSpPr>
              <p:cNvPr id="5" name="TextBox 4">
                <a:extLst>
                  <a:ext uri="{FF2B5EF4-FFF2-40B4-BE49-F238E27FC236}">
                    <a16:creationId xmlns:a16="http://schemas.microsoft.com/office/drawing/2014/main" id="{9FB064C2-4F0B-7EFB-9314-35FA9663E9C9}"/>
                  </a:ext>
                </a:extLst>
              </p:cNvPr>
              <p:cNvSpPr txBox="1">
                <a:spLocks noRot="1" noChangeAspect="1" noMove="1" noResize="1" noEditPoints="1" noAdjustHandles="1" noChangeArrowheads="1" noChangeShapeType="1" noTextEdit="1"/>
              </p:cNvSpPr>
              <p:nvPr/>
            </p:nvSpPr>
            <p:spPr>
              <a:xfrm>
                <a:off x="272653" y="0"/>
                <a:ext cx="6096000" cy="1200329"/>
              </a:xfrm>
              <a:prstGeom prst="rect">
                <a:avLst/>
              </a:prstGeom>
              <a:blipFill>
                <a:blip r:embed="rId2"/>
                <a:stretch>
                  <a:fillRect l="-3100" t="-8122" b="-710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C0FCA3A-0392-F3B5-2149-9B9EC065401E}"/>
                  </a:ext>
                </a:extLst>
              </p:cNvPr>
              <p:cNvSpPr txBox="1"/>
              <p:nvPr/>
            </p:nvSpPr>
            <p:spPr>
              <a:xfrm>
                <a:off x="272653" y="1080403"/>
                <a:ext cx="6096000" cy="2716256"/>
              </a:xfrm>
              <a:prstGeom prst="rect">
                <a:avLst/>
              </a:prstGeom>
              <a:noFill/>
            </p:spPr>
            <p:txBody>
              <a:bodyPr wrap="square">
                <a:spAutoFit/>
              </a:bodyPr>
              <a:lstStyle/>
              <a:p>
                <a:pPr>
                  <a:lnSpc>
                    <a:spcPct val="150000"/>
                  </a:lnSpc>
                  <a:buNone/>
                </a:pPr>
                <a:r>
                  <a:rPr lang="en-IN" b="1" dirty="0">
                    <a:latin typeface="Times New Roman" panose="02020603050405020304" pitchFamily="18" charset="0"/>
                    <a:cs typeface="Times New Roman" panose="02020603050405020304" pitchFamily="18" charset="0"/>
                  </a:rPr>
                  <a:t>Calculate the Prior Probabilities</a:t>
                </a:r>
              </a:p>
              <a:p>
                <a:pPr>
                  <a:lnSpc>
                    <a:spcPct val="150000"/>
                  </a:lnSpc>
                  <a:buNone/>
                </a:pPr>
                <a:r>
                  <a:rPr lang="en-IN" dirty="0">
                    <a:latin typeface="Times New Roman" panose="02020603050405020304" pitchFamily="18" charset="0"/>
                    <a:cs typeface="Times New Roman" panose="02020603050405020304" pitchFamily="18" charset="0"/>
                  </a:rPr>
                  <a:t>From the given data,</a:t>
                </a:r>
              </a:p>
              <a:p>
                <a:pPr lvl="0">
                  <a:lnSpc>
                    <a:spcPct val="150000"/>
                  </a:lnSpc>
                </a:pPr>
                <a:r>
                  <a:rPr lang="en-IN" dirty="0">
                    <a:latin typeface="Times New Roman" panose="02020603050405020304" pitchFamily="18" charset="0"/>
                    <a:cs typeface="Times New Roman" panose="02020603050405020304" pitchFamily="18" charset="0"/>
                  </a:rPr>
                  <a:t>Total number of instances </a:t>
                </a:r>
                <a14:m>
                  <m:oMath xmlns:m="http://schemas.openxmlformats.org/officeDocument/2006/math">
                    <m:r>
                      <a:rPr lang="en-IN">
                        <a:latin typeface="Cambria Math" panose="02040503050406030204" pitchFamily="18" charset="0"/>
                      </a:rPr>
                      <m:t>=</m:t>
                    </m:r>
                    <m:r>
                      <a:rPr lang="en-IN" i="0">
                        <a:latin typeface="Cambria Math" panose="02040503050406030204" pitchFamily="18" charset="0"/>
                      </a:rPr>
                      <m:t>10</m:t>
                    </m:r>
                  </m:oMath>
                </a14:m>
                <a:endParaRPr lang="en-IN" dirty="0">
                  <a:latin typeface="Times New Roman" panose="02020603050405020304" pitchFamily="18" charset="0"/>
                  <a:cs typeface="Times New Roman" panose="02020603050405020304" pitchFamily="18" charset="0"/>
                </a:endParaRPr>
              </a:p>
              <a:p>
                <a:pPr lvl="0">
                  <a:lnSpc>
                    <a:spcPct val="150000"/>
                  </a:lnSpc>
                </a:pPr>
                <a:r>
                  <a:rPr lang="en-IN" dirty="0">
                    <a:latin typeface="Times New Roman" panose="02020603050405020304" pitchFamily="18" charset="0"/>
                    <a:cs typeface="Times New Roman" panose="02020603050405020304" pitchFamily="18" charset="0"/>
                  </a:rPr>
                  <a:t>Number of </a:t>
                </a:r>
                <a:r>
                  <a:rPr lang="en-IN" b="1" dirty="0">
                    <a:latin typeface="Times New Roman" panose="02020603050405020304" pitchFamily="18" charset="0"/>
                    <a:cs typeface="Times New Roman" panose="02020603050405020304" pitchFamily="18" charset="0"/>
                  </a:rPr>
                  <a:t>Yes</a:t>
                </a:r>
                <a:r>
                  <a:rPr lang="en-IN" dirty="0">
                    <a:latin typeface="Times New Roman" panose="02020603050405020304" pitchFamily="18" charset="0"/>
                    <a:cs typeface="Times New Roman" panose="02020603050405020304" pitchFamily="18" charset="0"/>
                  </a:rPr>
                  <a:t> (Stolen) </a:t>
                </a:r>
                <a14:m>
                  <m:oMath xmlns:m="http://schemas.openxmlformats.org/officeDocument/2006/math">
                    <m:r>
                      <a:rPr lang="en-IN">
                        <a:latin typeface="Cambria Math" panose="02040503050406030204" pitchFamily="18" charset="0"/>
                      </a:rPr>
                      <m:t>=</m:t>
                    </m:r>
                    <m:r>
                      <a:rPr lang="en-IN" i="0">
                        <a:latin typeface="Cambria Math" panose="02040503050406030204" pitchFamily="18" charset="0"/>
                      </a:rPr>
                      <m:t>5</m:t>
                    </m:r>
                  </m:oMath>
                </a14:m>
                <a:endParaRPr lang="en-IN" dirty="0">
                  <a:latin typeface="Times New Roman" panose="02020603050405020304" pitchFamily="18" charset="0"/>
                  <a:cs typeface="Times New Roman" panose="02020603050405020304" pitchFamily="18" charset="0"/>
                </a:endParaRPr>
              </a:p>
              <a:p>
                <a:pPr lvl="0">
                  <a:lnSpc>
                    <a:spcPct val="150000"/>
                  </a:lnSpc>
                </a:pPr>
                <a:r>
                  <a:rPr lang="en-IN" dirty="0">
                    <a:latin typeface="Times New Roman" panose="02020603050405020304" pitchFamily="18" charset="0"/>
                    <a:cs typeface="Times New Roman" panose="02020603050405020304" pitchFamily="18" charset="0"/>
                  </a:rPr>
                  <a:t>Number of </a:t>
                </a:r>
                <a:r>
                  <a:rPr lang="en-IN" b="1" dirty="0">
                    <a:latin typeface="Times New Roman" panose="02020603050405020304" pitchFamily="18" charset="0"/>
                    <a:cs typeface="Times New Roman" panose="02020603050405020304" pitchFamily="18" charset="0"/>
                  </a:rPr>
                  <a:t>No</a:t>
                </a:r>
                <a:r>
                  <a:rPr lang="en-IN" dirty="0">
                    <a:latin typeface="Times New Roman" panose="02020603050405020304" pitchFamily="18" charset="0"/>
                    <a:cs typeface="Times New Roman" panose="02020603050405020304" pitchFamily="18" charset="0"/>
                  </a:rPr>
                  <a:t> (Not Stolen) </a:t>
                </a:r>
                <a14:m>
                  <m:oMath xmlns:m="http://schemas.openxmlformats.org/officeDocument/2006/math">
                    <m:r>
                      <a:rPr lang="en-IN">
                        <a:latin typeface="Cambria Math" panose="02040503050406030204" pitchFamily="18" charset="0"/>
                      </a:rPr>
                      <m:t>=</m:t>
                    </m:r>
                    <m:r>
                      <a:rPr lang="en-IN" i="0">
                        <a:latin typeface="Cambria Math" panose="02040503050406030204" pitchFamily="18" charset="0"/>
                      </a:rPr>
                      <m:t>5</m:t>
                    </m:r>
                  </m:oMath>
                </a14:m>
                <a:endParaRPr lang="en-IN" dirty="0">
                  <a:latin typeface="Times New Roman" panose="02020603050405020304" pitchFamily="18" charset="0"/>
                  <a:cs typeface="Times New Roman" panose="02020603050405020304" pitchFamily="18" charset="0"/>
                </a:endParaRPr>
              </a:p>
              <a:p>
                <a:pPr>
                  <a:lnSpc>
                    <a:spcPct val="150000"/>
                  </a:lnSpc>
                  <a:buNone/>
                </a:pPr>
                <a14:m>
                  <m:oMath xmlns:m="http://schemas.openxmlformats.org/officeDocument/2006/math">
                    <m:r>
                      <a:rPr lang="en-IN" i="1" smtClean="0">
                        <a:latin typeface="Cambria Math" panose="02040503050406030204" pitchFamily="18" charset="0"/>
                        <a:ea typeface="Cambria Math" panose="02040503050406030204" pitchFamily="18" charset="0"/>
                      </a:rPr>
                      <m:t>∴</m:t>
                    </m:r>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Yes</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5</m:t>
                        </m:r>
                      </m:num>
                      <m:den>
                        <m:r>
                          <a:rPr lang="en-IN" b="0" i="0">
                            <a:latin typeface="Cambria Math" panose="02040503050406030204" pitchFamily="18" charset="0"/>
                          </a:rPr>
                          <m:t>10</m:t>
                        </m:r>
                      </m:den>
                    </m:f>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1</m:t>
                        </m:r>
                      </m:num>
                      <m:den>
                        <m:r>
                          <a:rPr lang="en-IN" b="0" i="0">
                            <a:latin typeface="Cambria Math" panose="02040503050406030204" pitchFamily="18" charset="0"/>
                          </a:rPr>
                          <m:t>2</m:t>
                        </m:r>
                      </m:den>
                    </m:f>
                  </m:oMath>
                </a14:m>
                <a:r>
                  <a:rPr lang="en-IN" b="0" dirty="0">
                    <a:latin typeface="Times New Roman" panose="02020603050405020304" pitchFamily="18" charset="0"/>
                    <a:cs typeface="Times New Roman" panose="02020603050405020304" pitchFamily="18" charset="0"/>
                  </a:rPr>
                  <a:t>  &amp; </a:t>
                </a:r>
                <a14:m>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No</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5</m:t>
                        </m:r>
                      </m:num>
                      <m:den>
                        <m:r>
                          <a:rPr lang="en-IN" b="0" i="0">
                            <a:latin typeface="Cambria Math" panose="02040503050406030204" pitchFamily="18" charset="0"/>
                          </a:rPr>
                          <m:t>10</m:t>
                        </m:r>
                      </m:den>
                    </m:f>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1</m:t>
                        </m:r>
                      </m:num>
                      <m:den>
                        <m:r>
                          <a:rPr lang="en-IN" b="0" i="0">
                            <a:latin typeface="Cambria Math" panose="02040503050406030204" pitchFamily="18" charset="0"/>
                          </a:rPr>
                          <m:t>2</m:t>
                        </m:r>
                      </m:den>
                    </m:f>
                  </m:oMath>
                </a14:m>
                <a:endParaRPr lang="en-IN" b="0"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FC0FCA3A-0392-F3B5-2149-9B9EC065401E}"/>
                  </a:ext>
                </a:extLst>
              </p:cNvPr>
              <p:cNvSpPr txBox="1">
                <a:spLocks noRot="1" noChangeAspect="1" noMove="1" noResize="1" noEditPoints="1" noAdjustHandles="1" noChangeArrowheads="1" noChangeShapeType="1" noTextEdit="1"/>
              </p:cNvSpPr>
              <p:nvPr/>
            </p:nvSpPr>
            <p:spPr>
              <a:xfrm>
                <a:off x="272653" y="1080403"/>
                <a:ext cx="6096000" cy="2716256"/>
              </a:xfrm>
              <a:prstGeom prst="rect">
                <a:avLst/>
              </a:prstGeom>
              <a:blipFill>
                <a:blip r:embed="rId3"/>
                <a:stretch>
                  <a:fillRect l="-900" b="-2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D33297-71A2-33A2-B133-901285E4DD59}"/>
                  </a:ext>
                </a:extLst>
              </p:cNvPr>
              <p:cNvSpPr txBox="1"/>
              <p:nvPr/>
            </p:nvSpPr>
            <p:spPr>
              <a:xfrm>
                <a:off x="557212" y="3864818"/>
                <a:ext cx="4352925" cy="2484719"/>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Calculate the Conditional Probabilities:</a:t>
                </a:r>
              </a:p>
              <a:p>
                <a:pPr>
                  <a:buNone/>
                </a:pPr>
                <a:r>
                  <a:rPr lang="en-IN" b="1" u="sng" dirty="0">
                    <a:latin typeface="Times New Roman" panose="02020603050405020304" pitchFamily="18" charset="0"/>
                    <a:cs typeface="Times New Roman" panose="02020603050405020304" pitchFamily="18" charset="0"/>
                  </a:rPr>
                  <a:t>For the class Yes</a:t>
                </a:r>
              </a:p>
              <a:p>
                <a:pPr>
                  <a:buNone/>
                </a:pPr>
                <a:r>
                  <a:rPr lang="en-IN" dirty="0">
                    <a:latin typeface="Times New Roman" panose="02020603050405020304" pitchFamily="18" charset="0"/>
                    <a:cs typeface="Times New Roman" panose="02020603050405020304" pitchFamily="18" charset="0"/>
                  </a:rPr>
                  <a:t>Among the five </a:t>
                </a:r>
                <a:r>
                  <a:rPr lang="en-IN" b="1" dirty="0">
                    <a:latin typeface="Times New Roman" panose="02020603050405020304" pitchFamily="18" charset="0"/>
                    <a:cs typeface="Times New Roman" panose="02020603050405020304" pitchFamily="18" charset="0"/>
                  </a:rPr>
                  <a:t>Yes</a:t>
                </a:r>
                <a:r>
                  <a:rPr lang="en-IN" dirty="0">
                    <a:latin typeface="Times New Roman" panose="02020603050405020304" pitchFamily="18" charset="0"/>
                    <a:cs typeface="Times New Roman" panose="02020603050405020304" pitchFamily="18" charset="0"/>
                  </a:rPr>
                  <a:t> instances,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Red</m:t>
                          </m:r>
                          <m:r>
                            <a:rPr lang="en-IN" b="0" i="0">
                              <a:latin typeface="Cambria Math" panose="02040503050406030204" pitchFamily="18" charset="0"/>
                            </a:rPr>
                            <m:t>∣</m:t>
                          </m:r>
                          <m:r>
                            <m:rPr>
                              <m:nor/>
                            </m:rPr>
                            <a:rPr lang="en-IN" b="0" i="0">
                              <a:latin typeface="Times New Roman" panose="02020603050405020304" pitchFamily="18" charset="0"/>
                              <a:cs typeface="Times New Roman" panose="02020603050405020304" pitchFamily="18" charset="0"/>
                            </a:rPr>
                            <m:t>Yes</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3</m:t>
                          </m:r>
                        </m:num>
                        <m:den>
                          <m:r>
                            <a:rPr lang="en-IN" b="0" i="0">
                              <a:latin typeface="Cambria Math" panose="02040503050406030204" pitchFamily="18" charset="0"/>
                            </a:rPr>
                            <m:t>5</m:t>
                          </m:r>
                        </m:den>
                      </m:f>
                      <m:r>
                        <a:rPr lang="en-IN" b="0" i="0">
                          <a:latin typeface="Cambria Math" panose="02040503050406030204" pitchFamily="18" charset="0"/>
                        </a:rPr>
                        <m:t>,</m:t>
                      </m:r>
                    </m:oMath>
                  </m:oMathPara>
                </a14:m>
                <a:endParaRPr lang="en-IN" b="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SUV</m:t>
                          </m:r>
                          <m:r>
                            <a:rPr lang="en-IN" b="0" i="0">
                              <a:latin typeface="Cambria Math" panose="02040503050406030204" pitchFamily="18" charset="0"/>
                            </a:rPr>
                            <m:t>∣</m:t>
                          </m:r>
                          <m:r>
                            <m:rPr>
                              <m:nor/>
                            </m:rPr>
                            <a:rPr lang="en-IN" b="0" i="0">
                              <a:latin typeface="Times New Roman" panose="02020603050405020304" pitchFamily="18" charset="0"/>
                              <a:cs typeface="Times New Roman" panose="02020603050405020304" pitchFamily="18" charset="0"/>
                            </a:rPr>
                            <m:t>Yes</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1</m:t>
                          </m:r>
                        </m:num>
                        <m:den>
                          <m:r>
                            <a:rPr lang="en-IN" b="0" i="0">
                              <a:latin typeface="Cambria Math" panose="02040503050406030204" pitchFamily="18" charset="0"/>
                            </a:rPr>
                            <m:t>5</m:t>
                          </m:r>
                        </m:den>
                      </m:f>
                      <m:r>
                        <a:rPr lang="en-IN" b="0" i="0">
                          <a:latin typeface="Cambria Math" panose="02040503050406030204" pitchFamily="18" charset="0"/>
                        </a:rPr>
                        <m:t>,</m:t>
                      </m:r>
                    </m:oMath>
                  </m:oMathPara>
                </a14:m>
                <a:endParaRPr lang="en-IN" b="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Domestic</m:t>
                          </m:r>
                          <m:r>
                            <a:rPr lang="en-IN" b="0" i="0">
                              <a:latin typeface="Cambria Math" panose="02040503050406030204" pitchFamily="18" charset="0"/>
                            </a:rPr>
                            <m:t>∣</m:t>
                          </m:r>
                          <m:r>
                            <m:rPr>
                              <m:nor/>
                            </m:rPr>
                            <a:rPr lang="en-IN" b="0" i="0">
                              <a:latin typeface="Times New Roman" panose="02020603050405020304" pitchFamily="18" charset="0"/>
                              <a:cs typeface="Times New Roman" panose="02020603050405020304" pitchFamily="18" charset="0"/>
                            </a:rPr>
                            <m:t>Yes</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2</m:t>
                          </m:r>
                        </m:num>
                        <m:den>
                          <m:r>
                            <a:rPr lang="en-IN" b="0" i="0">
                              <a:latin typeface="Cambria Math" panose="02040503050406030204" pitchFamily="18" charset="0"/>
                            </a:rPr>
                            <m:t>5</m:t>
                          </m:r>
                        </m:den>
                      </m:f>
                      <m:r>
                        <a:rPr lang="en-IN" b="0" i="0">
                          <a:latin typeface="Cambria Math" panose="02040503050406030204" pitchFamily="18" charset="0"/>
                        </a:rPr>
                        <m:t>.</m:t>
                      </m:r>
                    </m:oMath>
                  </m:oMathPara>
                </a14:m>
                <a:endParaRPr lang="en-IN" b="0"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5BD33297-71A2-33A2-B133-901285E4DD59}"/>
                  </a:ext>
                </a:extLst>
              </p:cNvPr>
              <p:cNvSpPr txBox="1">
                <a:spLocks noRot="1" noChangeAspect="1" noMove="1" noResize="1" noEditPoints="1" noAdjustHandles="1" noChangeArrowheads="1" noChangeShapeType="1" noTextEdit="1"/>
              </p:cNvSpPr>
              <p:nvPr/>
            </p:nvSpPr>
            <p:spPr>
              <a:xfrm>
                <a:off x="557212" y="3864818"/>
                <a:ext cx="4352925" cy="2484719"/>
              </a:xfrm>
              <a:prstGeom prst="rect">
                <a:avLst/>
              </a:prstGeom>
              <a:blipFill>
                <a:blip r:embed="rId4"/>
                <a:stretch>
                  <a:fillRect l="-1120" t="-147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325D0AC-9A44-1402-DBBB-0F00009E9ECC}"/>
                  </a:ext>
                </a:extLst>
              </p:cNvPr>
              <p:cNvSpPr txBox="1"/>
              <p:nvPr/>
            </p:nvSpPr>
            <p:spPr>
              <a:xfrm>
                <a:off x="6457950" y="4003317"/>
                <a:ext cx="3524250" cy="2207720"/>
              </a:xfrm>
              <a:prstGeom prst="rect">
                <a:avLst/>
              </a:prstGeom>
              <a:noFill/>
            </p:spPr>
            <p:txBody>
              <a:bodyPr wrap="square">
                <a:spAutoFit/>
              </a:bodyPr>
              <a:lstStyle/>
              <a:p>
                <a:pPr>
                  <a:buNone/>
                </a:pPr>
                <a:r>
                  <a:rPr lang="en-IN" b="1" u="sng" dirty="0">
                    <a:latin typeface="Times New Roman" panose="02020603050405020304" pitchFamily="18" charset="0"/>
                    <a:cs typeface="Times New Roman" panose="02020603050405020304" pitchFamily="18" charset="0"/>
                  </a:rPr>
                  <a:t>For the class No</a:t>
                </a:r>
              </a:p>
              <a:p>
                <a:pPr>
                  <a:buNone/>
                </a:pPr>
                <a:r>
                  <a:rPr lang="en-IN" dirty="0">
                    <a:latin typeface="Times New Roman" panose="02020603050405020304" pitchFamily="18" charset="0"/>
                    <a:cs typeface="Times New Roman" panose="02020603050405020304" pitchFamily="18" charset="0"/>
                  </a:rPr>
                  <a:t>Among the five </a:t>
                </a:r>
                <a:r>
                  <a:rPr lang="en-IN" b="1" dirty="0">
                    <a:latin typeface="Times New Roman" panose="02020603050405020304" pitchFamily="18" charset="0"/>
                    <a:cs typeface="Times New Roman" panose="02020603050405020304" pitchFamily="18" charset="0"/>
                  </a:rPr>
                  <a:t>No</a:t>
                </a:r>
                <a:r>
                  <a:rPr lang="en-IN" dirty="0">
                    <a:latin typeface="Times New Roman" panose="02020603050405020304" pitchFamily="18" charset="0"/>
                    <a:cs typeface="Times New Roman" panose="02020603050405020304" pitchFamily="18" charset="0"/>
                  </a:rPr>
                  <a:t> instances,</a:t>
                </a: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Red</m:t>
                          </m:r>
                          <m:r>
                            <a:rPr lang="en-IN" b="0" i="0">
                              <a:latin typeface="Cambria Math" panose="02040503050406030204" pitchFamily="18" charset="0"/>
                            </a:rPr>
                            <m:t>∣</m:t>
                          </m:r>
                          <m:r>
                            <m:rPr>
                              <m:nor/>
                            </m:rPr>
                            <a:rPr lang="en-IN" b="0" i="0">
                              <a:latin typeface="Times New Roman" panose="02020603050405020304" pitchFamily="18" charset="0"/>
                              <a:cs typeface="Times New Roman" panose="02020603050405020304" pitchFamily="18" charset="0"/>
                            </a:rPr>
                            <m:t>No</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2</m:t>
                          </m:r>
                        </m:num>
                        <m:den>
                          <m:r>
                            <a:rPr lang="en-IN" b="0" i="0">
                              <a:latin typeface="Cambria Math" panose="02040503050406030204" pitchFamily="18" charset="0"/>
                            </a:rPr>
                            <m:t>5</m:t>
                          </m:r>
                        </m:den>
                      </m:f>
                      <m:r>
                        <a:rPr lang="en-IN" b="0" i="0">
                          <a:latin typeface="Cambria Math" panose="02040503050406030204" pitchFamily="18" charset="0"/>
                        </a:rPr>
                        <m:t>,</m:t>
                      </m:r>
                    </m:oMath>
                  </m:oMathPara>
                </a14:m>
                <a:endParaRPr lang="en-IN" b="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SUV</m:t>
                          </m:r>
                          <m:r>
                            <a:rPr lang="en-IN" b="0" i="0">
                              <a:latin typeface="Cambria Math" panose="02040503050406030204" pitchFamily="18" charset="0"/>
                            </a:rPr>
                            <m:t>∣</m:t>
                          </m:r>
                          <m:r>
                            <m:rPr>
                              <m:nor/>
                            </m:rPr>
                            <a:rPr lang="en-IN" b="0" i="0">
                              <a:latin typeface="Times New Roman" panose="02020603050405020304" pitchFamily="18" charset="0"/>
                              <a:cs typeface="Times New Roman" panose="02020603050405020304" pitchFamily="18" charset="0"/>
                            </a:rPr>
                            <m:t>No</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3</m:t>
                          </m:r>
                        </m:num>
                        <m:den>
                          <m:r>
                            <a:rPr lang="en-IN" b="0" i="0">
                              <a:latin typeface="Cambria Math" panose="02040503050406030204" pitchFamily="18" charset="0"/>
                            </a:rPr>
                            <m:t>5</m:t>
                          </m:r>
                        </m:den>
                      </m:f>
                      <m:r>
                        <a:rPr lang="en-IN" b="0" i="0">
                          <a:latin typeface="Cambria Math" panose="02040503050406030204" pitchFamily="18" charset="0"/>
                        </a:rPr>
                        <m:t>,</m:t>
                      </m:r>
                    </m:oMath>
                  </m:oMathPara>
                </a14:m>
                <a:endParaRPr lang="en-IN" b="0" dirty="0">
                  <a:latin typeface="Times New Roman" panose="02020603050405020304" pitchFamily="18" charset="0"/>
                  <a:cs typeface="Times New Roman" panose="02020603050405020304" pitchFamily="18" charset="0"/>
                </a:endParaRPr>
              </a:p>
              <a:p>
                <a:pPr>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𝑃</m:t>
                      </m:r>
                      <m:d>
                        <m:dPr>
                          <m:ctrlPr>
                            <a:rPr lang="en-IN" b="0" i="1">
                              <a:latin typeface="Cambria Math" panose="02040503050406030204" pitchFamily="18" charset="0"/>
                              <a:cs typeface="Times New Roman" panose="02020603050405020304" pitchFamily="18" charset="0"/>
                            </a:rPr>
                          </m:ctrlPr>
                        </m:dPr>
                        <m:e>
                          <m:r>
                            <m:rPr>
                              <m:nor/>
                            </m:rPr>
                            <a:rPr lang="en-IN" b="0" i="0">
                              <a:latin typeface="Times New Roman" panose="02020603050405020304" pitchFamily="18" charset="0"/>
                              <a:cs typeface="Times New Roman" panose="02020603050405020304" pitchFamily="18" charset="0"/>
                            </a:rPr>
                            <m:t>Domestic</m:t>
                          </m:r>
                          <m:r>
                            <a:rPr lang="en-IN" b="0" i="0">
                              <a:latin typeface="Cambria Math" panose="02040503050406030204" pitchFamily="18" charset="0"/>
                            </a:rPr>
                            <m:t>∣</m:t>
                          </m:r>
                          <m:r>
                            <m:rPr>
                              <m:nor/>
                            </m:rPr>
                            <a:rPr lang="en-IN" b="0" i="0">
                              <a:latin typeface="Times New Roman" panose="02020603050405020304" pitchFamily="18" charset="0"/>
                              <a:cs typeface="Times New Roman" panose="02020603050405020304" pitchFamily="18" charset="0"/>
                            </a:rPr>
                            <m:t>No</m:t>
                          </m:r>
                        </m:e>
                      </m:d>
                      <m:r>
                        <a:rPr lang="en-IN" b="0" i="0">
                          <a:latin typeface="Cambria Math" panose="02040503050406030204" pitchFamily="18" charset="0"/>
                        </a:rPr>
                        <m:t>=</m:t>
                      </m:r>
                      <m:f>
                        <m:fPr>
                          <m:ctrlPr>
                            <a:rPr lang="en-IN" b="0" i="1">
                              <a:latin typeface="Cambria Math" panose="02040503050406030204" pitchFamily="18" charset="0"/>
                            </a:rPr>
                          </m:ctrlPr>
                        </m:fPr>
                        <m:num>
                          <m:r>
                            <a:rPr lang="en-IN" b="0" i="0">
                              <a:latin typeface="Cambria Math" panose="02040503050406030204" pitchFamily="18" charset="0"/>
                            </a:rPr>
                            <m:t>3</m:t>
                          </m:r>
                        </m:num>
                        <m:den>
                          <m:r>
                            <a:rPr lang="en-IN" b="0" i="0">
                              <a:latin typeface="Cambria Math" panose="02040503050406030204" pitchFamily="18" charset="0"/>
                            </a:rPr>
                            <m:t>5</m:t>
                          </m:r>
                        </m:den>
                      </m:f>
                      <m:r>
                        <a:rPr lang="en-IN" b="0" i="0">
                          <a:latin typeface="Cambria Math" panose="02040503050406030204" pitchFamily="18" charset="0"/>
                        </a:rPr>
                        <m:t>.</m:t>
                      </m:r>
                    </m:oMath>
                  </m:oMathPara>
                </a14:m>
                <a:endParaRPr lang="en-IN" b="0"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0325D0AC-9A44-1402-DBBB-0F00009E9ECC}"/>
                  </a:ext>
                </a:extLst>
              </p:cNvPr>
              <p:cNvSpPr txBox="1">
                <a:spLocks noRot="1" noChangeAspect="1" noMove="1" noResize="1" noEditPoints="1" noAdjustHandles="1" noChangeArrowheads="1" noChangeShapeType="1" noTextEdit="1"/>
              </p:cNvSpPr>
              <p:nvPr/>
            </p:nvSpPr>
            <p:spPr>
              <a:xfrm>
                <a:off x="6457950" y="4003317"/>
                <a:ext cx="3524250" cy="2207720"/>
              </a:xfrm>
              <a:prstGeom prst="rect">
                <a:avLst/>
              </a:prstGeom>
              <a:blipFill>
                <a:blip r:embed="rId5"/>
                <a:stretch>
                  <a:fillRect l="-1382" t="-1657"/>
                </a:stretch>
              </a:blipFill>
            </p:spPr>
            <p:txBody>
              <a:bodyPr/>
              <a:lstStyle/>
              <a:p>
                <a:r>
                  <a:rPr lang="en-IN">
                    <a:noFill/>
                  </a:rPr>
                  <a:t> </a:t>
                </a:r>
              </a:p>
            </p:txBody>
          </p:sp>
        </mc:Fallback>
      </mc:AlternateContent>
      <p:graphicFrame>
        <p:nvGraphicFramePr>
          <p:cNvPr id="12" name="Table 11">
            <a:extLst>
              <a:ext uri="{FF2B5EF4-FFF2-40B4-BE49-F238E27FC236}">
                <a16:creationId xmlns:a16="http://schemas.microsoft.com/office/drawing/2014/main" id="{1A38C76D-F587-E7FC-BCA3-34E308B1F5B4}"/>
              </a:ext>
            </a:extLst>
          </p:cNvPr>
          <p:cNvGraphicFramePr>
            <a:graphicFrameLocks noGrp="1"/>
          </p:cNvGraphicFramePr>
          <p:nvPr>
            <p:extLst>
              <p:ext uri="{D42A27DB-BD31-4B8C-83A1-F6EECF244321}">
                <p14:modId xmlns:p14="http://schemas.microsoft.com/office/powerpoint/2010/main" val="2984993984"/>
              </p:ext>
            </p:extLst>
          </p:nvPr>
        </p:nvGraphicFramePr>
        <p:xfrm>
          <a:off x="4805363" y="608212"/>
          <a:ext cx="3348037" cy="2926080"/>
        </p:xfrm>
        <a:graphic>
          <a:graphicData uri="http://schemas.openxmlformats.org/drawingml/2006/table">
            <a:tbl>
              <a:tblPr firstRow="1">
                <a:tableStyleId>{5A111915-BE36-4E01-A7E5-04B1672EAD32}</a:tableStyleId>
              </a:tblPr>
              <a:tblGrid>
                <a:gridCol w="1093787">
                  <a:extLst>
                    <a:ext uri="{9D8B030D-6E8A-4147-A177-3AD203B41FA5}">
                      <a16:colId xmlns:a16="http://schemas.microsoft.com/office/drawing/2014/main" val="1459066885"/>
                    </a:ext>
                  </a:extLst>
                </a:gridCol>
                <a:gridCol w="1127125">
                  <a:extLst>
                    <a:ext uri="{9D8B030D-6E8A-4147-A177-3AD203B41FA5}">
                      <a16:colId xmlns:a16="http://schemas.microsoft.com/office/drawing/2014/main" val="53160602"/>
                    </a:ext>
                  </a:extLst>
                </a:gridCol>
                <a:gridCol w="1127125">
                  <a:extLst>
                    <a:ext uri="{9D8B030D-6E8A-4147-A177-3AD203B41FA5}">
                      <a16:colId xmlns:a16="http://schemas.microsoft.com/office/drawing/2014/main" val="3901862611"/>
                    </a:ext>
                  </a:extLst>
                </a:gridCol>
              </a:tblGrid>
              <a:tr h="136103">
                <a:tc gridSpan="3">
                  <a:txBody>
                    <a:bodyPr/>
                    <a:lstStyle/>
                    <a:p>
                      <a:r>
                        <a:rPr lang="en-IN" sz="1600" b="1" dirty="0">
                          <a:solidFill>
                            <a:schemeClr val="tx1"/>
                          </a:solidFill>
                        </a:rPr>
                        <a:t>For Class = Yes (Stolen)</a:t>
                      </a:r>
                    </a:p>
                    <a:p>
                      <a:r>
                        <a:rPr lang="en-IN" sz="1600" dirty="0">
                          <a:solidFill>
                            <a:schemeClr val="tx1"/>
                          </a:solidFill>
                        </a:rPr>
                        <a:t>There are </a:t>
                      </a:r>
                      <a:r>
                        <a:rPr lang="en-IN" sz="1600" b="1" dirty="0">
                          <a:solidFill>
                            <a:schemeClr val="tx1"/>
                          </a:solidFill>
                        </a:rPr>
                        <a:t>5</a:t>
                      </a:r>
                      <a:r>
                        <a:rPr lang="en-IN" sz="1600" dirty="0">
                          <a:solidFill>
                            <a:schemeClr val="tx1"/>
                          </a:solidFill>
                        </a:rPr>
                        <a:t> instances with </a:t>
                      </a:r>
                      <a:r>
                        <a:rPr lang="en-IN" sz="1600" b="1" dirty="0">
                          <a:solidFill>
                            <a:schemeClr val="tx1"/>
                          </a:solidFill>
                        </a:rPr>
                        <a:t>Yes</a:t>
                      </a:r>
                      <a:r>
                        <a:rPr lang="en-IN" sz="1600" dirty="0">
                          <a:solidFill>
                            <a:schemeClr val="tx1"/>
                          </a:solidFill>
                        </a:rPr>
                        <a:t>.</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noFill/>
                  </a:tcPr>
                </a:tc>
                <a:tc hMerge="1">
                  <a:txBody>
                    <a:bodyPr/>
                    <a:lstStyle/>
                    <a:p>
                      <a:pPr>
                        <a:buNone/>
                      </a:pPr>
                      <a:endParaRPr lang="en-IN"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algn="r">
                        <a:buNone/>
                      </a:pPr>
                      <a:endParaRPr lang="en-IN" sz="14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4730260"/>
                  </a:ext>
                </a:extLst>
              </a:tr>
              <a:tr h="136103">
                <a:tc>
                  <a:txBody>
                    <a:bodyPr/>
                    <a:lstStyle/>
                    <a:p>
                      <a:pPr>
                        <a:buNone/>
                      </a:pPr>
                      <a:r>
                        <a:rPr lang="en-IN" sz="1600" b="1" dirty="0">
                          <a:solidFill>
                            <a:schemeClr val="tx1"/>
                          </a:solidFill>
                          <a:latin typeface="Times New Roman" panose="02020603050405020304" pitchFamily="18" charset="0"/>
                          <a:cs typeface="Times New Roman" panose="02020603050405020304" pitchFamily="18" charset="0"/>
                        </a:rPr>
                        <a:t>Attribute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sz="1600" b="1" dirty="0">
                          <a:solidFill>
                            <a:schemeClr val="tx1"/>
                          </a:solidFill>
                          <a:latin typeface="Times New Roman" panose="02020603050405020304" pitchFamily="18" charset="0"/>
                          <a:cs typeface="Times New Roman" panose="02020603050405020304" pitchFamily="18"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a:buNone/>
                      </a:pPr>
                      <a:r>
                        <a:rPr lang="en-IN" sz="1600" b="1" dirty="0">
                          <a:solidFill>
                            <a:schemeClr val="tx1"/>
                          </a:solidFill>
                          <a:latin typeface="Times New Roman" panose="02020603050405020304" pitchFamily="18" charset="0"/>
                          <a:cs typeface="Times New Roman" panose="02020603050405020304" pitchFamily="18" charset="0"/>
                        </a:rPr>
                        <a:t>Count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454888490"/>
                  </a:ext>
                </a:extLst>
              </a:tr>
              <a:tr h="238180">
                <a:tc>
                  <a:txBody>
                    <a:bodyPr/>
                    <a:lstStyle/>
                    <a:p>
                      <a:pPr>
                        <a:buNone/>
                      </a:pPr>
                      <a:r>
                        <a:rPr lang="en-IN" sz="1600" dirty="0" err="1">
                          <a:solidFill>
                            <a:schemeClr val="tx1"/>
                          </a:solidFill>
                          <a:latin typeface="Times New Roman" panose="02020603050405020304" pitchFamily="18" charset="0"/>
                          <a:cs typeface="Times New Roman" panose="02020603050405020304" pitchFamily="18" charset="0"/>
                        </a:rPr>
                        <a:t>Color</a:t>
                      </a:r>
                      <a:endParaRPr lang="en-IN" sz="1600" dirty="0">
                        <a:solidFill>
                          <a:schemeClr val="tx1"/>
                        </a:solidFill>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69766"/>
                  </a:ext>
                </a:extLst>
              </a:tr>
              <a:tr h="23818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Color</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Yellow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5576526"/>
                  </a:ext>
                </a:extLst>
              </a:tr>
              <a:tr h="23818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Type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Sports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2184985"/>
                  </a:ext>
                </a:extLst>
              </a:tr>
              <a:tr h="23818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Type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SUV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483888"/>
                  </a:ext>
                </a:extLst>
              </a:tr>
              <a:tr h="23818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Origin</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Domestic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solidFill>
                            <a:schemeClr val="tx1"/>
                          </a:solidFill>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9012289"/>
                  </a:ext>
                </a:extLst>
              </a:tr>
              <a:tr h="238180">
                <a:tc>
                  <a:txBody>
                    <a:bodyPr/>
                    <a:lstStyle/>
                    <a:p>
                      <a:pPr>
                        <a:buNone/>
                      </a:pPr>
                      <a:r>
                        <a:rPr lang="en-IN" sz="1600">
                          <a:solidFill>
                            <a:schemeClr val="tx1"/>
                          </a:solidFill>
                          <a:latin typeface="Times New Roman" panose="02020603050405020304" pitchFamily="18" charset="0"/>
                          <a:cs typeface="Times New Roman" panose="02020603050405020304" pitchFamily="18" charset="0"/>
                        </a:rPr>
                        <a:t>Origin</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en-IN" sz="1600" dirty="0">
                          <a:solidFill>
                            <a:schemeClr val="tx1"/>
                          </a:solidFill>
                          <a:latin typeface="Times New Roman" panose="02020603050405020304" pitchFamily="18" charset="0"/>
                          <a:cs typeface="Times New Roman" panose="02020603050405020304" pitchFamily="18" charset="0"/>
                        </a:rPr>
                        <a:t>Imported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buNone/>
                      </a:pPr>
                      <a:r>
                        <a:rPr lang="en-IN" sz="1600" dirty="0">
                          <a:solidFill>
                            <a:schemeClr val="tx1"/>
                          </a:solidFill>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293435055"/>
                  </a:ext>
                </a:extLst>
              </a:tr>
            </a:tbl>
          </a:graphicData>
        </a:graphic>
      </p:graphicFrame>
      <p:graphicFrame>
        <p:nvGraphicFramePr>
          <p:cNvPr id="13" name="Table 12">
            <a:extLst>
              <a:ext uri="{FF2B5EF4-FFF2-40B4-BE49-F238E27FC236}">
                <a16:creationId xmlns:a16="http://schemas.microsoft.com/office/drawing/2014/main" id="{885EF17D-2672-09E9-4BE9-DEB76921598F}"/>
              </a:ext>
            </a:extLst>
          </p:cNvPr>
          <p:cNvGraphicFramePr>
            <a:graphicFrameLocks noGrp="1"/>
          </p:cNvGraphicFramePr>
          <p:nvPr>
            <p:extLst>
              <p:ext uri="{D42A27DB-BD31-4B8C-83A1-F6EECF244321}">
                <p14:modId xmlns:p14="http://schemas.microsoft.com/office/powerpoint/2010/main" val="3750200873"/>
              </p:ext>
            </p:extLst>
          </p:nvPr>
        </p:nvGraphicFramePr>
        <p:xfrm>
          <a:off x="8576072" y="646963"/>
          <a:ext cx="3343275" cy="2926080"/>
        </p:xfrm>
        <a:graphic>
          <a:graphicData uri="http://schemas.openxmlformats.org/drawingml/2006/table">
            <a:tbl>
              <a:tblPr firstRow="1">
                <a:tableStyleId>{FABFCF23-3B69-468F-B69F-88F6DE6A72F2}</a:tableStyleId>
              </a:tblPr>
              <a:tblGrid>
                <a:gridCol w="1114425">
                  <a:extLst>
                    <a:ext uri="{9D8B030D-6E8A-4147-A177-3AD203B41FA5}">
                      <a16:colId xmlns:a16="http://schemas.microsoft.com/office/drawing/2014/main" val="1975302816"/>
                    </a:ext>
                  </a:extLst>
                </a:gridCol>
                <a:gridCol w="1114425">
                  <a:extLst>
                    <a:ext uri="{9D8B030D-6E8A-4147-A177-3AD203B41FA5}">
                      <a16:colId xmlns:a16="http://schemas.microsoft.com/office/drawing/2014/main" val="3659551625"/>
                    </a:ext>
                  </a:extLst>
                </a:gridCol>
                <a:gridCol w="1114425">
                  <a:extLst>
                    <a:ext uri="{9D8B030D-6E8A-4147-A177-3AD203B41FA5}">
                      <a16:colId xmlns:a16="http://schemas.microsoft.com/office/drawing/2014/main" val="2096695947"/>
                    </a:ext>
                  </a:extLst>
                </a:gridCol>
              </a:tblGrid>
              <a:tr h="0">
                <a:tc gridSpan="3">
                  <a:txBody>
                    <a:bodyPr/>
                    <a:lstStyle/>
                    <a:p>
                      <a:r>
                        <a:rPr lang="en-IN" sz="1600" b="1" dirty="0">
                          <a:solidFill>
                            <a:schemeClr val="tx1"/>
                          </a:solidFill>
                        </a:rPr>
                        <a:t>For Class = No (Not Stolen)</a:t>
                      </a:r>
                    </a:p>
                    <a:p>
                      <a:r>
                        <a:rPr lang="en-IN" sz="1600" dirty="0">
                          <a:solidFill>
                            <a:schemeClr val="tx1"/>
                          </a:solidFill>
                        </a:rPr>
                        <a:t>There are </a:t>
                      </a:r>
                      <a:r>
                        <a:rPr lang="en-IN" sz="1600" b="1" dirty="0">
                          <a:solidFill>
                            <a:schemeClr val="tx1"/>
                          </a:solidFill>
                        </a:rPr>
                        <a:t>5</a:t>
                      </a:r>
                      <a:r>
                        <a:rPr lang="en-IN" sz="1600" dirty="0">
                          <a:solidFill>
                            <a:schemeClr val="tx1"/>
                          </a:solidFill>
                        </a:rPr>
                        <a:t> instances with </a:t>
                      </a:r>
                      <a:r>
                        <a:rPr lang="en-IN" sz="1600" b="1" dirty="0">
                          <a:solidFill>
                            <a:schemeClr val="tx1"/>
                          </a:solidFill>
                        </a:rPr>
                        <a:t>No</a:t>
                      </a:r>
                      <a:r>
                        <a:rPr lang="en-IN" sz="1600" dirty="0">
                          <a:solidFill>
                            <a:schemeClr val="tx1"/>
                          </a:solidFill>
                        </a:rPr>
                        <a:t>.</a:t>
                      </a:r>
                      <a:endParaRPr lang="en-IN" sz="1600" dirty="0">
                        <a:latin typeface="Times New Roman" panose="02020603050405020304" pitchFamily="18" charset="0"/>
                        <a:cs typeface="Times New Roman" panose="02020603050405020304" pitchFamily="18" charset="0"/>
                      </a:endParaRPr>
                    </a:p>
                  </a:txBody>
                  <a:tcPr anchor="ctr">
                    <a:lnB w="12700" cap="flat" cmpd="sng" algn="ctr">
                      <a:solidFill>
                        <a:schemeClr val="tx1"/>
                      </a:solidFill>
                      <a:prstDash val="solid"/>
                      <a:round/>
                      <a:headEnd type="none" w="med" len="med"/>
                      <a:tailEnd type="none" w="med" len="med"/>
                    </a:lnB>
                    <a:solidFill>
                      <a:schemeClr val="bg1"/>
                    </a:solidFill>
                  </a:tcPr>
                </a:tc>
                <a:tc hMerge="1">
                  <a:txBody>
                    <a:bodyPr/>
                    <a:lstStyle/>
                    <a:p>
                      <a:pPr>
                        <a:buNone/>
                      </a:pPr>
                      <a:endParaRPr lang="en-IN"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algn="r">
                        <a:buNone/>
                      </a:pPr>
                      <a:endParaRPr lang="en-IN" sz="1400"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8898406"/>
                  </a:ext>
                </a:extLst>
              </a:tr>
              <a:tr h="0">
                <a:tc>
                  <a:txBody>
                    <a:bodyPr/>
                    <a:lstStyle/>
                    <a:p>
                      <a:pPr>
                        <a:buNone/>
                      </a:pPr>
                      <a:r>
                        <a:rPr lang="en-IN" sz="1600" dirty="0">
                          <a:latin typeface="Times New Roman" panose="02020603050405020304" pitchFamily="18" charset="0"/>
                          <a:cs typeface="Times New Roman" panose="02020603050405020304" pitchFamily="18" charset="0"/>
                        </a:rPr>
                        <a:t>Attribute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sz="1600" dirty="0">
                          <a:latin typeface="Times New Roman" panose="02020603050405020304" pitchFamily="18" charset="0"/>
                          <a:cs typeface="Times New Roman" panose="02020603050405020304" pitchFamily="18"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r">
                        <a:buNone/>
                      </a:pPr>
                      <a:r>
                        <a:rPr lang="en-IN" sz="1600" dirty="0">
                          <a:latin typeface="Times New Roman" panose="02020603050405020304" pitchFamily="18" charset="0"/>
                          <a:cs typeface="Times New Roman" panose="02020603050405020304" pitchFamily="18" charset="0"/>
                        </a:rPr>
                        <a:t>Count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547646236"/>
                  </a:ext>
                </a:extLst>
              </a:tr>
              <a:tr h="0">
                <a:tc>
                  <a:txBody>
                    <a:bodyPr/>
                    <a:lstStyle/>
                    <a:p>
                      <a:pPr>
                        <a:buNone/>
                      </a:pPr>
                      <a:r>
                        <a:rPr lang="en-IN" sz="1600" dirty="0" err="1">
                          <a:latin typeface="Times New Roman" panose="02020603050405020304" pitchFamily="18" charset="0"/>
                          <a:cs typeface="Times New Roman" panose="02020603050405020304" pitchFamily="18" charset="0"/>
                        </a:rPr>
                        <a:t>Color</a:t>
                      </a:r>
                      <a:endParaRPr lang="en-IN" sz="16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a:latin typeface="Times New Roman" panose="02020603050405020304" pitchFamily="18" charset="0"/>
                          <a:cs typeface="Times New Roman" panose="02020603050405020304" pitchFamily="18" charset="0"/>
                        </a:rPr>
                        <a:t>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2234609"/>
                  </a:ext>
                </a:extLst>
              </a:tr>
              <a:tr h="0">
                <a:tc>
                  <a:txBody>
                    <a:bodyPr/>
                    <a:lstStyle/>
                    <a:p>
                      <a:pPr>
                        <a:buNone/>
                      </a:pPr>
                      <a:r>
                        <a:rPr lang="en-IN" sz="1600" dirty="0" err="1">
                          <a:latin typeface="Times New Roman" panose="02020603050405020304" pitchFamily="18" charset="0"/>
                          <a:cs typeface="Times New Roman" panose="02020603050405020304" pitchFamily="18" charset="0"/>
                        </a:rPr>
                        <a:t>Color</a:t>
                      </a:r>
                      <a:endParaRPr lang="en-IN" sz="1600" dirty="0">
                        <a:latin typeface="Times New Roman" panose="02020603050405020304" pitchFamily="18" charset="0"/>
                        <a:cs typeface="Times New Roman" panose="02020603050405020304" pitchFamily="18" charset="0"/>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a:latin typeface="Times New Roman" panose="02020603050405020304" pitchFamily="18" charset="0"/>
                          <a:cs typeface="Times New Roman" panose="02020603050405020304" pitchFamily="18" charset="0"/>
                        </a:rPr>
                        <a:t>Yellow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6854030"/>
                  </a:ext>
                </a:extLst>
              </a:tr>
              <a:tr h="0">
                <a:tc>
                  <a:txBody>
                    <a:bodyPr/>
                    <a:lstStyle/>
                    <a:p>
                      <a:pPr>
                        <a:buNone/>
                      </a:pPr>
                      <a:r>
                        <a:rPr lang="en-IN" sz="1600" dirty="0">
                          <a:latin typeface="Times New Roman" panose="02020603050405020304" pitchFamily="18" charset="0"/>
                          <a:cs typeface="Times New Roman" panose="02020603050405020304" pitchFamily="18" charset="0"/>
                        </a:rPr>
                        <a:t>Type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a:latin typeface="Times New Roman" panose="02020603050405020304" pitchFamily="18" charset="0"/>
                          <a:cs typeface="Times New Roman" panose="02020603050405020304" pitchFamily="18" charset="0"/>
                        </a:rPr>
                        <a:t>Sports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8832582"/>
                  </a:ext>
                </a:extLst>
              </a:tr>
              <a:tr h="0">
                <a:tc>
                  <a:txBody>
                    <a:bodyPr/>
                    <a:lstStyle/>
                    <a:p>
                      <a:pPr>
                        <a:buNone/>
                      </a:pPr>
                      <a:r>
                        <a:rPr lang="en-IN" sz="1600" dirty="0">
                          <a:latin typeface="Times New Roman" panose="02020603050405020304" pitchFamily="18" charset="0"/>
                          <a:cs typeface="Times New Roman" panose="02020603050405020304" pitchFamily="18" charset="0"/>
                        </a:rPr>
                        <a:t>Type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a:latin typeface="Times New Roman" panose="02020603050405020304" pitchFamily="18" charset="0"/>
                          <a:cs typeface="Times New Roman" panose="02020603050405020304" pitchFamily="18" charset="0"/>
                        </a:rPr>
                        <a:t>SUV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6464846"/>
                  </a:ext>
                </a:extLst>
              </a:tr>
              <a:tr h="0">
                <a:tc>
                  <a:txBody>
                    <a:bodyPr/>
                    <a:lstStyle/>
                    <a:p>
                      <a:pPr>
                        <a:buNone/>
                      </a:pPr>
                      <a:r>
                        <a:rPr lang="en-IN" sz="1600">
                          <a:latin typeface="Times New Roman" panose="02020603050405020304" pitchFamily="18" charset="0"/>
                          <a:cs typeface="Times New Roman" panose="02020603050405020304" pitchFamily="18" charset="0"/>
                        </a:rPr>
                        <a:t>Origin</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dirty="0">
                          <a:latin typeface="Times New Roman" panose="02020603050405020304" pitchFamily="18" charset="0"/>
                          <a:cs typeface="Times New Roman" panose="02020603050405020304" pitchFamily="18" charset="0"/>
                        </a:rPr>
                        <a:t>Domestic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600" dirty="0">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344530"/>
                  </a:ext>
                </a:extLst>
              </a:tr>
              <a:tr h="0">
                <a:tc>
                  <a:txBody>
                    <a:bodyPr/>
                    <a:lstStyle/>
                    <a:p>
                      <a:pPr>
                        <a:buNone/>
                      </a:pPr>
                      <a:r>
                        <a:rPr lang="en-IN" sz="1600">
                          <a:latin typeface="Times New Roman" panose="02020603050405020304" pitchFamily="18" charset="0"/>
                          <a:cs typeface="Times New Roman" panose="02020603050405020304" pitchFamily="18" charset="0"/>
                        </a:rPr>
                        <a:t>Origin</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buNone/>
                      </a:pPr>
                      <a:r>
                        <a:rPr lang="en-IN" sz="1600" dirty="0">
                          <a:latin typeface="Times New Roman" panose="02020603050405020304" pitchFamily="18" charset="0"/>
                          <a:cs typeface="Times New Roman" panose="02020603050405020304" pitchFamily="18" charset="0"/>
                        </a:rPr>
                        <a:t>Imported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buNone/>
                      </a:pPr>
                      <a:r>
                        <a:rPr lang="en-IN" sz="1600" dirty="0">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307457438"/>
                  </a:ext>
                </a:extLst>
              </a:tr>
            </a:tbl>
          </a:graphicData>
        </a:graphic>
      </p:graphicFrame>
      <p:sp>
        <p:nvSpPr>
          <p:cNvPr id="14" name="Footer Placeholder 13">
            <a:extLst>
              <a:ext uri="{FF2B5EF4-FFF2-40B4-BE49-F238E27FC236}">
                <a16:creationId xmlns:a16="http://schemas.microsoft.com/office/drawing/2014/main" id="{D711D874-6E6A-5780-8BC6-9CDBC948C3F9}"/>
              </a:ext>
            </a:extLst>
          </p:cNvPr>
          <p:cNvSpPr>
            <a:spLocks noGrp="1"/>
          </p:cNvSpPr>
          <p:nvPr>
            <p:ph type="ftr" sz="quarter" idx="11"/>
          </p:nvPr>
        </p:nvSpPr>
        <p:spPr/>
        <p:txBody>
          <a:bodyPr/>
          <a:lstStyle/>
          <a:p>
            <a:r>
              <a:rPr lang="en-IN"/>
              <a:t>W-2</a:t>
            </a:r>
          </a:p>
        </p:txBody>
      </p:sp>
      <p:sp>
        <p:nvSpPr>
          <p:cNvPr id="15" name="Slide Number Placeholder 14">
            <a:extLst>
              <a:ext uri="{FF2B5EF4-FFF2-40B4-BE49-F238E27FC236}">
                <a16:creationId xmlns:a16="http://schemas.microsoft.com/office/drawing/2014/main" id="{55D6F153-234E-4D6D-9425-FCD706B1D1F8}"/>
              </a:ext>
            </a:extLst>
          </p:cNvPr>
          <p:cNvSpPr>
            <a:spLocks noGrp="1"/>
          </p:cNvSpPr>
          <p:nvPr>
            <p:ph type="sldNum" sz="quarter" idx="12"/>
          </p:nvPr>
        </p:nvSpPr>
        <p:spPr/>
        <p:txBody>
          <a:bodyPr/>
          <a:lstStyle/>
          <a:p>
            <a:pPr>
              <a:defRPr/>
            </a:pPr>
            <a:fld id="{799C83C6-4F87-48B4-8CF0-6A2F9115491D}" type="slidenum">
              <a:rPr lang="en-IN" smtClean="0"/>
              <a:pPr>
                <a:defRPr/>
              </a:pPr>
              <a:t>30</a:t>
            </a:fld>
            <a:endParaRPr lang="en-IN"/>
          </a:p>
        </p:txBody>
      </p:sp>
    </p:spTree>
    <p:extLst>
      <p:ext uri="{BB962C8B-B14F-4D97-AF65-F5344CB8AC3E}">
        <p14:creationId xmlns:p14="http://schemas.microsoft.com/office/powerpoint/2010/main" val="3389351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11ACE06-4443-10A9-9ADA-2132BD637462}"/>
              </a:ext>
            </a:extLst>
          </p:cNvPr>
          <p:cNvSpPr txBox="1"/>
          <p:nvPr/>
        </p:nvSpPr>
        <p:spPr>
          <a:xfrm>
            <a:off x="644807" y="1257098"/>
            <a:ext cx="4905879" cy="5909310"/>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sym typeface="Symbol" panose="05050102010706020507" pitchFamily="18" charset="2"/>
              </a:rPr>
              <a:t> </a:t>
            </a:r>
            <a:r>
              <a:rPr lang="en-IN" dirty="0">
                <a:latin typeface="Times New Roman" panose="02020603050405020304" pitchFamily="18" charset="0"/>
                <a:cs typeface="Times New Roman" panose="02020603050405020304" pitchFamily="18" charset="0"/>
              </a:rPr>
              <a:t>P(Yes | X) = P(Yes | Red , SUV , Domestic)</a:t>
            </a:r>
          </a:p>
          <a:p>
            <a:r>
              <a:rPr lang="en-IN" dirty="0">
                <a:latin typeface="Times New Roman" panose="02020603050405020304" pitchFamily="18" charset="0"/>
                <a:cs typeface="Times New Roman" panose="02020603050405020304" pitchFamily="18" charset="0"/>
              </a:rPr>
              <a:t>= P(Yes) × P(Red | Yes)</a:t>
            </a:r>
          </a:p>
          <a:p>
            <a:r>
              <a:rPr lang="en-IN" dirty="0">
                <a:latin typeface="Times New Roman" panose="02020603050405020304" pitchFamily="18" charset="0"/>
                <a:cs typeface="Times New Roman" panose="02020603050405020304" pitchFamily="18" charset="0"/>
              </a:rPr>
              <a:t>          × P(SUV | Yes)</a:t>
            </a:r>
          </a:p>
          <a:p>
            <a:r>
              <a:rPr lang="en-IN" dirty="0">
                <a:latin typeface="Times New Roman" panose="02020603050405020304" pitchFamily="18" charset="0"/>
                <a:cs typeface="Times New Roman" panose="02020603050405020304" pitchFamily="18" charset="0"/>
              </a:rPr>
              <a:t>          × P(Domestic | Yes)</a:t>
            </a:r>
          </a:p>
          <a:p>
            <a:r>
              <a:rPr lang="en-IN" dirty="0">
                <a:latin typeface="Times New Roman" panose="02020603050405020304" pitchFamily="18" charset="0"/>
                <a:cs typeface="Times New Roman" panose="02020603050405020304" pitchFamily="18" charset="0"/>
              </a:rPr>
              <a:t>= 1/2 × 3/5 × 1/5 × 2/5</a:t>
            </a:r>
          </a:p>
          <a:p>
            <a:r>
              <a:rPr lang="en-IN" dirty="0">
                <a:latin typeface="Times New Roman" panose="02020603050405020304" pitchFamily="18" charset="0"/>
                <a:cs typeface="Times New Roman" panose="02020603050405020304" pitchFamily="18" charset="0"/>
              </a:rPr>
              <a:t>= 3/125</a:t>
            </a:r>
          </a:p>
          <a:p>
            <a:r>
              <a:rPr lang="en-IN" dirty="0">
                <a:latin typeface="Times New Roman" panose="02020603050405020304" pitchFamily="18" charset="0"/>
                <a:cs typeface="Times New Roman" panose="02020603050405020304" pitchFamily="18" charset="0"/>
              </a:rPr>
              <a:t>= 0.024</a:t>
            </a:r>
          </a:p>
          <a:p>
            <a:r>
              <a:rPr lang="en-IN" dirty="0"/>
              <a:t>∴  </a:t>
            </a:r>
            <a:r>
              <a:rPr lang="en-IN" dirty="0">
                <a:latin typeface="Times New Roman" panose="02020603050405020304" pitchFamily="18" charset="0"/>
                <a:cs typeface="Times New Roman" panose="02020603050405020304" pitchFamily="18" charset="0"/>
              </a:rPr>
              <a:t>P(Yes | Red , SUV , Domestic) = 0.024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P(No | X) = P(No | Red , SUV , Domestic)</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P(No) × P(Red | No)</a:t>
            </a:r>
          </a:p>
          <a:p>
            <a:r>
              <a:rPr lang="en-IN" dirty="0">
                <a:latin typeface="Times New Roman" panose="02020603050405020304" pitchFamily="18" charset="0"/>
                <a:cs typeface="Times New Roman" panose="02020603050405020304" pitchFamily="18" charset="0"/>
              </a:rPr>
              <a:t>         × P(SUV | No)</a:t>
            </a:r>
          </a:p>
          <a:p>
            <a:r>
              <a:rPr lang="en-IN" dirty="0">
                <a:latin typeface="Times New Roman" panose="02020603050405020304" pitchFamily="18" charset="0"/>
                <a:cs typeface="Times New Roman" panose="02020603050405020304" pitchFamily="18" charset="0"/>
              </a:rPr>
              <a:t>         × P(Domestic | No)</a:t>
            </a:r>
          </a:p>
          <a:p>
            <a:r>
              <a:rPr lang="en-IN" dirty="0">
                <a:latin typeface="Times New Roman" panose="02020603050405020304" pitchFamily="18" charset="0"/>
                <a:cs typeface="Times New Roman" panose="02020603050405020304" pitchFamily="18" charset="0"/>
              </a:rPr>
              <a:t>= 1/2 × 2/5 × 3/5 × 3/5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9/125</a:t>
            </a:r>
          </a:p>
          <a:p>
            <a:r>
              <a:rPr lang="en-IN" dirty="0">
                <a:latin typeface="Times New Roman" panose="02020603050405020304" pitchFamily="18" charset="0"/>
                <a:cs typeface="Times New Roman" panose="02020603050405020304" pitchFamily="18" charset="0"/>
              </a:rPr>
              <a:t>= 0.072</a:t>
            </a:r>
          </a:p>
          <a:p>
            <a:r>
              <a:rPr lang="en-IN" dirty="0">
                <a:latin typeface="Times New Roman" panose="02020603050405020304" pitchFamily="18" charset="0"/>
                <a:cs typeface="Times New Roman" panose="02020603050405020304" pitchFamily="18" charset="0"/>
              </a:rPr>
              <a:t>∴  P(No | Red , SUV , Domestic) = 0.072</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B75DF6E-3522-197A-CD5E-6575A113D3C3}"/>
              </a:ext>
            </a:extLst>
          </p:cNvPr>
          <p:cNvSpPr txBox="1"/>
          <p:nvPr/>
        </p:nvSpPr>
        <p:spPr>
          <a:xfrm>
            <a:off x="5550686" y="2228671"/>
            <a:ext cx="5888840" cy="1200329"/>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Conclusion: </a:t>
            </a:r>
          </a:p>
          <a:p>
            <a:r>
              <a:rPr lang="en-IN" dirty="0">
                <a:latin typeface="Times New Roman" panose="02020603050405020304" pitchFamily="18" charset="0"/>
                <a:cs typeface="Times New Roman" panose="02020603050405020304" pitchFamily="18" charset="0"/>
              </a:rPr>
              <a:t>Since P(No | X) &gt; P(Yes | X)</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The new instance belongs to “No” class.</a:t>
            </a:r>
          </a:p>
        </p:txBody>
      </p:sp>
      <p:sp>
        <p:nvSpPr>
          <p:cNvPr id="3" name="TextBox 2">
            <a:extLst>
              <a:ext uri="{FF2B5EF4-FFF2-40B4-BE49-F238E27FC236}">
                <a16:creationId xmlns:a16="http://schemas.microsoft.com/office/drawing/2014/main" id="{AF64ABC8-5D4A-FF35-C798-FDCD004B2709}"/>
              </a:ext>
            </a:extLst>
          </p:cNvPr>
          <p:cNvSpPr txBox="1"/>
          <p:nvPr/>
        </p:nvSpPr>
        <p:spPr>
          <a:xfrm>
            <a:off x="142875" y="887867"/>
            <a:ext cx="5776392" cy="369332"/>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Compute the Posterior Probability for Yes and No: </a:t>
            </a:r>
          </a:p>
        </p:txBody>
      </p:sp>
      <p:sp>
        <p:nvSpPr>
          <p:cNvPr id="6" name="Footer Placeholder 5">
            <a:extLst>
              <a:ext uri="{FF2B5EF4-FFF2-40B4-BE49-F238E27FC236}">
                <a16:creationId xmlns:a16="http://schemas.microsoft.com/office/drawing/2014/main" id="{733EA3F8-18E1-7BE0-CA04-6E384CD2FE08}"/>
              </a:ext>
            </a:extLst>
          </p:cNvPr>
          <p:cNvSpPr>
            <a:spLocks noGrp="1"/>
          </p:cNvSpPr>
          <p:nvPr>
            <p:ph type="ftr" sz="quarter" idx="11"/>
          </p:nvPr>
        </p:nvSpPr>
        <p:spPr/>
        <p:txBody>
          <a:bodyPr/>
          <a:lstStyle/>
          <a:p>
            <a:r>
              <a:rPr lang="en-IN"/>
              <a:t>W-2</a:t>
            </a:r>
          </a:p>
        </p:txBody>
      </p:sp>
      <p:sp>
        <p:nvSpPr>
          <p:cNvPr id="8" name="Slide Number Placeholder 7">
            <a:extLst>
              <a:ext uri="{FF2B5EF4-FFF2-40B4-BE49-F238E27FC236}">
                <a16:creationId xmlns:a16="http://schemas.microsoft.com/office/drawing/2014/main" id="{54C67FD9-325C-84FB-FD74-54A925E4399C}"/>
              </a:ext>
            </a:extLst>
          </p:cNvPr>
          <p:cNvSpPr>
            <a:spLocks noGrp="1"/>
          </p:cNvSpPr>
          <p:nvPr>
            <p:ph type="sldNum" sz="quarter" idx="12"/>
          </p:nvPr>
        </p:nvSpPr>
        <p:spPr/>
        <p:txBody>
          <a:bodyPr/>
          <a:lstStyle/>
          <a:p>
            <a:pPr>
              <a:defRPr/>
            </a:pPr>
            <a:fld id="{799C83C6-4F87-48B4-8CF0-6A2F9115491D}" type="slidenum">
              <a:rPr lang="en-IN" smtClean="0"/>
              <a:pPr>
                <a:defRPr/>
              </a:pPr>
              <a:t>31</a:t>
            </a:fld>
            <a:endParaRPr lang="en-IN"/>
          </a:p>
        </p:txBody>
      </p:sp>
      <p:sp>
        <p:nvSpPr>
          <p:cNvPr id="11" name="TextBox 10">
            <a:extLst>
              <a:ext uri="{FF2B5EF4-FFF2-40B4-BE49-F238E27FC236}">
                <a16:creationId xmlns:a16="http://schemas.microsoft.com/office/drawing/2014/main" id="{AED0B51D-D4A1-4AEB-F0A8-FE412EE03CBF}"/>
              </a:ext>
            </a:extLst>
          </p:cNvPr>
          <p:cNvSpPr txBox="1"/>
          <p:nvPr/>
        </p:nvSpPr>
        <p:spPr>
          <a:xfrm>
            <a:off x="142875" y="136525"/>
            <a:ext cx="6096000" cy="646331"/>
          </a:xfrm>
          <a:prstGeom prst="rect">
            <a:avLst/>
          </a:prstGeom>
          <a:noFill/>
        </p:spPr>
        <p:txBody>
          <a:bodyPr wrap="square">
            <a:spAutoFit/>
          </a:bodyPr>
          <a:lstStyle/>
          <a:p>
            <a:pPr>
              <a:buNone/>
            </a:pPr>
            <a:r>
              <a:rPr lang="en-IN" sz="3600" b="1" dirty="0">
                <a:latin typeface="Times New Roman" panose="02020603050405020304" pitchFamily="18" charset="0"/>
                <a:cs typeface="Times New Roman" panose="02020603050405020304" pitchFamily="18" charset="0"/>
              </a:rPr>
              <a:t>Solution contd., </a:t>
            </a:r>
          </a:p>
        </p:txBody>
      </p:sp>
    </p:spTree>
    <p:extLst>
      <p:ext uri="{BB962C8B-B14F-4D97-AF65-F5344CB8AC3E}">
        <p14:creationId xmlns:p14="http://schemas.microsoft.com/office/powerpoint/2010/main" val="1351607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A16BD0-60B4-577C-3BB6-A6A5AEC0CA04}"/>
              </a:ext>
            </a:extLst>
          </p:cNvPr>
          <p:cNvSpPr txBox="1"/>
          <p:nvPr/>
        </p:nvSpPr>
        <p:spPr>
          <a:xfrm>
            <a:off x="203719" y="384128"/>
            <a:ext cx="6097554" cy="707886"/>
          </a:xfrm>
          <a:prstGeom prst="rect">
            <a:avLst/>
          </a:prstGeom>
          <a:noFill/>
        </p:spPr>
        <p:txBody>
          <a:bodyPr wrap="square">
            <a:spAutoFit/>
          </a:bodyPr>
          <a:lstStyle/>
          <a:p>
            <a:pPr marL="0" marR="495935">
              <a:spcBef>
                <a:spcPts val="0"/>
              </a:spcBef>
              <a:spcAft>
                <a:spcPts val="0"/>
              </a:spcAft>
            </a:pPr>
            <a:r>
              <a:rPr lang="en-IN" sz="4000" b="1" kern="50" dirty="0">
                <a:solidFill>
                  <a:srgbClr val="FF0000"/>
                </a:solidFill>
                <a:effectLst/>
                <a:latin typeface="+mj-lt"/>
                <a:ea typeface="Calibri" panose="020F0502020204030204" pitchFamily="34" charset="0"/>
                <a:cs typeface="Calibri" panose="020F0502020204030204" pitchFamily="34" charset="0"/>
              </a:rPr>
              <a:t>Random Variables</a:t>
            </a:r>
          </a:p>
        </p:txBody>
      </p:sp>
      <p:sp>
        <p:nvSpPr>
          <p:cNvPr id="5" name="Rectangle 4">
            <a:extLst>
              <a:ext uri="{FF2B5EF4-FFF2-40B4-BE49-F238E27FC236}">
                <a16:creationId xmlns:a16="http://schemas.microsoft.com/office/drawing/2014/main" id="{2D56F548-7F03-1C9C-A6E0-917AF2F3422A}"/>
              </a:ext>
            </a:extLst>
          </p:cNvPr>
          <p:cNvSpPr/>
          <p:nvPr/>
        </p:nvSpPr>
        <p:spPr>
          <a:xfrm>
            <a:off x="365644" y="1265158"/>
            <a:ext cx="10705171" cy="4602029"/>
          </a:xfrm>
          <a:prstGeom prst="rect">
            <a:avLst/>
          </a:prstGeom>
        </p:spPr>
        <p:txBody>
          <a:bodyPr wrap="square">
            <a:spAutoFit/>
          </a:bodyPr>
          <a:lstStyle/>
          <a:p>
            <a:pPr algn="just">
              <a:lnSpc>
                <a:spcPct val="150000"/>
              </a:lnSpc>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Motivation: </a:t>
            </a:r>
          </a:p>
          <a:p>
            <a:pPr algn="just">
              <a:lnSpc>
                <a:spcPct val="150000"/>
              </a:lnSpc>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I</a:t>
            </a:r>
            <a:r>
              <a:rPr lang="en-IN" sz="2200" dirty="0">
                <a:latin typeface="Times New Roman" panose="02020603050405020304" pitchFamily="18" charset="0"/>
                <a:cs typeface="Times New Roman" panose="02020603050405020304" pitchFamily="18" charset="0"/>
              </a:rPr>
              <a:t>n most statistical problems we are concerned with one number or a few numbers that are associated with the outcomes of experiments.</a:t>
            </a:r>
          </a:p>
          <a:p>
            <a:pPr algn="just">
              <a:lnSpc>
                <a:spcPct val="150000"/>
              </a:lnSpc>
            </a:pPr>
            <a:r>
              <a:rPr lang="en-IN" sz="2200" dirty="0">
                <a:latin typeface="Times New Roman" panose="02020603050405020304" pitchFamily="18" charset="0"/>
                <a:cs typeface="Times New Roman" panose="02020603050405020304" pitchFamily="18" charset="0"/>
              </a:rPr>
              <a:t> When inspecting a manufactured product we may be interested only in the number of defectives; in the analysis of a road test we may be interested only in the average speed and the average fuel consumption; and in the study of the performance of a miniature rechargeable battery we may be interested only in its power and life length. All these numbers are associated with situations involving an element of chance—in other words, they are values of random variables.</a:t>
            </a:r>
            <a:endParaRPr lang="en-IN" sz="22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44AA98FF-6D8E-EFE9-CD03-2DF159E5F1B4}"/>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41B17ECA-C7D8-142C-9DA8-CB64046345AE}"/>
              </a:ext>
            </a:extLst>
          </p:cNvPr>
          <p:cNvSpPr>
            <a:spLocks noGrp="1"/>
          </p:cNvSpPr>
          <p:nvPr>
            <p:ph type="sldNum" sz="quarter" idx="12"/>
          </p:nvPr>
        </p:nvSpPr>
        <p:spPr/>
        <p:txBody>
          <a:bodyPr/>
          <a:lstStyle/>
          <a:p>
            <a:pPr>
              <a:defRPr/>
            </a:pPr>
            <a:fld id="{799C83C6-4F87-48B4-8CF0-6A2F9115491D}" type="slidenum">
              <a:rPr lang="en-IN" smtClean="0"/>
              <a:pPr>
                <a:defRPr/>
              </a:pPr>
              <a:t>32</a:t>
            </a:fld>
            <a:endParaRPr lang="en-IN"/>
          </a:p>
        </p:txBody>
      </p:sp>
    </p:spTree>
    <p:extLst>
      <p:ext uri="{BB962C8B-B14F-4D97-AF65-F5344CB8AC3E}">
        <p14:creationId xmlns:p14="http://schemas.microsoft.com/office/powerpoint/2010/main" val="28531995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A16BD0-60B4-577C-3BB6-A6A5AEC0CA04}"/>
              </a:ext>
            </a:extLst>
          </p:cNvPr>
          <p:cNvSpPr txBox="1"/>
          <p:nvPr/>
        </p:nvSpPr>
        <p:spPr>
          <a:xfrm>
            <a:off x="138793" y="197943"/>
            <a:ext cx="6097554" cy="707886"/>
          </a:xfrm>
          <a:prstGeom prst="rect">
            <a:avLst/>
          </a:prstGeom>
          <a:noFill/>
        </p:spPr>
        <p:txBody>
          <a:bodyPr wrap="square">
            <a:spAutoFit/>
          </a:bodyPr>
          <a:lstStyle/>
          <a:p>
            <a:pPr marL="0" marR="495935">
              <a:spcBef>
                <a:spcPts val="0"/>
              </a:spcBef>
              <a:spcAft>
                <a:spcPts val="0"/>
              </a:spcAft>
            </a:pPr>
            <a:r>
              <a:rPr lang="en-IN" sz="4000" b="1" kern="50" dirty="0">
                <a:solidFill>
                  <a:srgbClr val="FF0000"/>
                </a:solidFill>
                <a:effectLst/>
                <a:latin typeface="+mj-lt"/>
                <a:ea typeface="Calibri" panose="020F0502020204030204" pitchFamily="34" charset="0"/>
                <a:cs typeface="Calibri" panose="020F0502020204030204" pitchFamily="34" charset="0"/>
              </a:rPr>
              <a:t>Random Variables</a:t>
            </a:r>
          </a:p>
        </p:txBody>
      </p:sp>
      <p:sp>
        <p:nvSpPr>
          <p:cNvPr id="6" name="TextBox 5">
            <a:extLst>
              <a:ext uri="{FF2B5EF4-FFF2-40B4-BE49-F238E27FC236}">
                <a16:creationId xmlns:a16="http://schemas.microsoft.com/office/drawing/2014/main" id="{75738468-000C-12AF-D461-DD6C60DBCA17}"/>
              </a:ext>
            </a:extLst>
          </p:cNvPr>
          <p:cNvSpPr txBox="1"/>
          <p:nvPr/>
        </p:nvSpPr>
        <p:spPr>
          <a:xfrm>
            <a:off x="376918" y="1620097"/>
            <a:ext cx="7940740" cy="1047210"/>
          </a:xfrm>
          <a:prstGeom prst="rect">
            <a:avLst/>
          </a:prstGeom>
          <a:noFill/>
        </p:spPr>
        <p:txBody>
          <a:bodyPr wrap="square">
            <a:spAutoFit/>
          </a:bodyPr>
          <a:lstStyle/>
          <a:p>
            <a:pPr>
              <a:lnSpc>
                <a:spcPct val="150000"/>
              </a:lnSpc>
            </a:pPr>
            <a:r>
              <a:rPr lang="en-IN" sz="2200" dirty="0">
                <a:solidFill>
                  <a:srgbClr val="231F20"/>
                </a:solidFill>
                <a:latin typeface="Times New Roman" panose="02020603050405020304" pitchFamily="18" charset="0"/>
                <a:cs typeface="Times New Roman" panose="02020603050405020304" pitchFamily="18" charset="0"/>
              </a:rPr>
              <a:t>The random variable is the observation.</a:t>
            </a:r>
          </a:p>
          <a:p>
            <a:pPr>
              <a:lnSpc>
                <a:spcPct val="150000"/>
              </a:lnSpc>
            </a:pPr>
            <a:r>
              <a:rPr lang="en-IN" sz="2200" dirty="0">
                <a:latin typeface="Times New Roman" panose="02020603050405020304" pitchFamily="18" charset="0"/>
                <a:cs typeface="Times New Roman" panose="02020603050405020304" pitchFamily="18" charset="0"/>
              </a:rPr>
              <a:t>The random variable is a function of the observation.</a:t>
            </a:r>
          </a:p>
        </p:txBody>
      </p:sp>
      <p:sp>
        <p:nvSpPr>
          <p:cNvPr id="8" name="TextBox 7">
            <a:extLst>
              <a:ext uri="{FF2B5EF4-FFF2-40B4-BE49-F238E27FC236}">
                <a16:creationId xmlns:a16="http://schemas.microsoft.com/office/drawing/2014/main" id="{B434F8AB-B14A-B700-2AD6-F07FA5B7979E}"/>
              </a:ext>
            </a:extLst>
          </p:cNvPr>
          <p:cNvSpPr txBox="1"/>
          <p:nvPr/>
        </p:nvSpPr>
        <p:spPr>
          <a:xfrm>
            <a:off x="291193" y="1084906"/>
            <a:ext cx="11007790" cy="430887"/>
          </a:xfrm>
          <a:prstGeom prst="rect">
            <a:avLst/>
          </a:prstGeom>
          <a:noFill/>
        </p:spPr>
        <p:txBody>
          <a:bodyPr wrap="square">
            <a:spAutoFit/>
          </a:bodyPr>
          <a:lstStyle/>
          <a:p>
            <a:pPr>
              <a:spcAft>
                <a:spcPts val="0"/>
              </a:spcAft>
            </a:pPr>
            <a:r>
              <a:rPr lang="en-US" sz="2200" dirty="0">
                <a:solidFill>
                  <a:srgbClr val="002060"/>
                </a:solidFill>
                <a:latin typeface="Times New Roman" panose="02020603050405020304" pitchFamily="18" charset="0"/>
                <a:cs typeface="Times New Roman" panose="02020603050405020304" pitchFamily="18" charset="0"/>
              </a:rPr>
              <a:t>A random variable is a real valued function defined on the sample space</a:t>
            </a:r>
          </a:p>
        </p:txBody>
      </p:sp>
      <p:sp>
        <p:nvSpPr>
          <p:cNvPr id="10" name="TextBox 9">
            <a:extLst>
              <a:ext uri="{FF2B5EF4-FFF2-40B4-BE49-F238E27FC236}">
                <a16:creationId xmlns:a16="http://schemas.microsoft.com/office/drawing/2014/main" id="{160E6DDE-86C7-C036-835F-7808D35F7646}"/>
              </a:ext>
            </a:extLst>
          </p:cNvPr>
          <p:cNvSpPr txBox="1"/>
          <p:nvPr/>
        </p:nvSpPr>
        <p:spPr>
          <a:xfrm>
            <a:off x="291193" y="2802358"/>
            <a:ext cx="11427668" cy="1555041"/>
          </a:xfrm>
          <a:prstGeom prst="rect">
            <a:avLst/>
          </a:prstGeom>
          <a:noFill/>
        </p:spPr>
        <p:txBody>
          <a:bodyPr wrap="square">
            <a:spAutoFit/>
          </a:bodyPr>
          <a:lstStyle/>
          <a:p>
            <a:pPr>
              <a:lnSpc>
                <a:spcPct val="150000"/>
              </a:lnSpc>
            </a:pPr>
            <a:r>
              <a:rPr lang="en-IN" sz="2200" dirty="0">
                <a:latin typeface="Times New Roman" panose="02020603050405020304" pitchFamily="18" charset="0"/>
                <a:cs typeface="Times New Roman" panose="02020603050405020304" pitchFamily="18" charset="0"/>
              </a:rPr>
              <a:t>A </a:t>
            </a:r>
            <a:r>
              <a:rPr lang="en-IN" sz="2200" b="1" dirty="0">
                <a:latin typeface="Times New Roman" panose="02020603050405020304" pitchFamily="18" charset="0"/>
                <a:cs typeface="Times New Roman" panose="02020603050405020304" pitchFamily="18" charset="0"/>
              </a:rPr>
              <a:t>random variable </a:t>
            </a:r>
            <a:r>
              <a:rPr lang="en-IN" sz="2200" dirty="0">
                <a:latin typeface="Times New Roman" panose="02020603050405020304" pitchFamily="18" charset="0"/>
                <a:cs typeface="Times New Roman" panose="02020603050405020304" pitchFamily="18" charset="0"/>
              </a:rPr>
              <a:t>consists of an experiment with a probability measure P[·] defined on a sample space S and a function that assigns a real number to each outcome in the sample space of the experiment.</a:t>
            </a:r>
          </a:p>
        </p:txBody>
      </p:sp>
      <p:sp>
        <p:nvSpPr>
          <p:cNvPr id="4" name="TextBox 3">
            <a:extLst>
              <a:ext uri="{FF2B5EF4-FFF2-40B4-BE49-F238E27FC236}">
                <a16:creationId xmlns:a16="http://schemas.microsoft.com/office/drawing/2014/main" id="{7395BB2B-DC4E-2418-18ED-113CA15DAC9F}"/>
              </a:ext>
            </a:extLst>
          </p:cNvPr>
          <p:cNvSpPr txBox="1"/>
          <p:nvPr/>
        </p:nvSpPr>
        <p:spPr>
          <a:xfrm>
            <a:off x="291193" y="4413151"/>
            <a:ext cx="11427668" cy="1785104"/>
          </a:xfrm>
          <a:prstGeom prst="rect">
            <a:avLst/>
          </a:prstGeom>
          <a:noFill/>
        </p:spPr>
        <p:txBody>
          <a:bodyPr wrap="square">
            <a:spAutoFit/>
          </a:bodyPr>
          <a:lstStyle/>
          <a:p>
            <a:pPr algn="just">
              <a:spcAft>
                <a:spcPts val="0"/>
              </a:spcAft>
            </a:pPr>
            <a:r>
              <a:rPr lang="en-US" sz="2200" b="1" dirty="0">
                <a:latin typeface="Times New Roman" panose="02020603050405020304" pitchFamily="18" charset="0"/>
                <a:ea typeface="Times New Roman" panose="02020603050405020304" pitchFamily="18" charset="0"/>
                <a:cs typeface="Times New Roman" panose="02020603050405020304" pitchFamily="18" charset="0"/>
              </a:rPr>
              <a:t>Advantages:</a:t>
            </a:r>
          </a:p>
          <a:p>
            <a:pPr marL="285750" indent="-285750" algn="just">
              <a:spcAft>
                <a:spcPts val="0"/>
              </a:spcAft>
              <a:buFont typeface="Arial" panose="020B0604020202020204" pitchFamily="34" charset="0"/>
              <a:buChar char="•"/>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When the elements of the sample space are non-numeric, they can be quantified by assigning a real number to every event of the sample space. </a:t>
            </a:r>
            <a:r>
              <a:rPr lang="en-US" sz="2200" dirty="0">
                <a:latin typeface="Times New Roman" panose="02020603050405020304" pitchFamily="18" charset="0"/>
                <a:cs typeface="Times New Roman" panose="02020603050405020304" pitchFamily="18" charset="0"/>
              </a:rPr>
              <a:t>A real  number X associated with the outcome of  a random experiment.</a:t>
            </a:r>
          </a:p>
          <a:p>
            <a:pPr marL="285750" indent="-285750" algn="just">
              <a:spcAft>
                <a:spcPts val="0"/>
              </a:spcAft>
              <a:buFont typeface="Arial" panose="020B0604020202020204" pitchFamily="34" charset="0"/>
              <a:buChar char="•"/>
            </a:pPr>
            <a:r>
              <a:rPr lang="en-US" sz="2200" dirty="0">
                <a:latin typeface="Times New Roman" panose="02020603050405020304" pitchFamily="18" charset="0"/>
                <a:ea typeface="Times New Roman" panose="02020603050405020304" pitchFamily="18" charset="0"/>
                <a:cs typeface="Times New Roman" panose="02020603050405020304" pitchFamily="18" charset="0"/>
              </a:rPr>
              <a:t>Infinite sample space can be converted to finite</a:t>
            </a:r>
          </a:p>
        </p:txBody>
      </p:sp>
      <p:sp>
        <p:nvSpPr>
          <p:cNvPr id="2" name="Footer Placeholder 1">
            <a:extLst>
              <a:ext uri="{FF2B5EF4-FFF2-40B4-BE49-F238E27FC236}">
                <a16:creationId xmlns:a16="http://schemas.microsoft.com/office/drawing/2014/main" id="{117C6FFC-E02E-E4BF-900D-BE5B547EAE7B}"/>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754B669F-D609-3B2E-FC88-50A6615BF576}"/>
              </a:ext>
            </a:extLst>
          </p:cNvPr>
          <p:cNvSpPr>
            <a:spLocks noGrp="1"/>
          </p:cNvSpPr>
          <p:nvPr>
            <p:ph type="sldNum" sz="quarter" idx="12"/>
          </p:nvPr>
        </p:nvSpPr>
        <p:spPr/>
        <p:txBody>
          <a:bodyPr/>
          <a:lstStyle/>
          <a:p>
            <a:pPr>
              <a:defRPr/>
            </a:pPr>
            <a:fld id="{799C83C6-4F87-48B4-8CF0-6A2F9115491D}" type="slidenum">
              <a:rPr lang="en-IN" smtClean="0"/>
              <a:pPr>
                <a:defRPr/>
              </a:pPr>
              <a:t>33</a:t>
            </a:fld>
            <a:endParaRPr lang="en-IN"/>
          </a:p>
        </p:txBody>
      </p:sp>
    </p:spTree>
    <p:extLst>
      <p:ext uri="{BB962C8B-B14F-4D97-AF65-F5344CB8AC3E}">
        <p14:creationId xmlns:p14="http://schemas.microsoft.com/office/powerpoint/2010/main" val="30523196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A16BD0-60B4-577C-3BB6-A6A5AEC0CA04}"/>
              </a:ext>
            </a:extLst>
          </p:cNvPr>
          <p:cNvSpPr txBox="1"/>
          <p:nvPr/>
        </p:nvSpPr>
        <p:spPr>
          <a:xfrm>
            <a:off x="81643" y="580869"/>
            <a:ext cx="10405382" cy="707886"/>
          </a:xfrm>
          <a:prstGeom prst="rect">
            <a:avLst/>
          </a:prstGeom>
          <a:noFill/>
        </p:spPr>
        <p:txBody>
          <a:bodyPr wrap="square">
            <a:spAutoFit/>
          </a:bodyPr>
          <a:lstStyle/>
          <a:p>
            <a:pPr marL="0" marR="495935">
              <a:spcBef>
                <a:spcPts val="0"/>
              </a:spcBef>
              <a:spcAft>
                <a:spcPts val="0"/>
              </a:spcAft>
            </a:pPr>
            <a:r>
              <a:rPr lang="en-IN" sz="4000" b="1" kern="50" dirty="0">
                <a:solidFill>
                  <a:srgbClr val="FF0000"/>
                </a:solidFill>
                <a:effectLst/>
                <a:latin typeface="+mj-lt"/>
                <a:ea typeface="Calibri" panose="020F0502020204030204" pitchFamily="34" charset="0"/>
                <a:cs typeface="Calibri" panose="020F0502020204030204" pitchFamily="34" charset="0"/>
              </a:rPr>
              <a:t>Random Variables - Classification</a:t>
            </a:r>
          </a:p>
        </p:txBody>
      </p:sp>
      <p:sp>
        <p:nvSpPr>
          <p:cNvPr id="2" name="Rectangle 1">
            <a:extLst>
              <a:ext uri="{FF2B5EF4-FFF2-40B4-BE49-F238E27FC236}">
                <a16:creationId xmlns:a16="http://schemas.microsoft.com/office/drawing/2014/main" id="{E8EED177-5029-7A45-B98A-03B75C8CEA8D}"/>
              </a:ext>
            </a:extLst>
          </p:cNvPr>
          <p:cNvSpPr/>
          <p:nvPr/>
        </p:nvSpPr>
        <p:spPr>
          <a:xfrm>
            <a:off x="291169" y="1605424"/>
            <a:ext cx="11609662" cy="3903954"/>
          </a:xfrm>
          <a:prstGeom prst="rect">
            <a:avLst/>
          </a:prstGeom>
        </p:spPr>
        <p:txBody>
          <a:bodyPr wrap="square">
            <a:spAutoFit/>
          </a:bodyPr>
          <a:lstStyle/>
          <a:p>
            <a:pPr lvl="0" algn="just" eaLnBrk="0" hangingPunct="0">
              <a:lnSpc>
                <a:spcPct val="150000"/>
              </a:lnSpc>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Random variables are usually classified according to the number of values they can assume. Random variable can be classified as </a:t>
            </a:r>
          </a:p>
          <a:p>
            <a:pPr marL="457200" lvl="0" indent="-457200" algn="just" eaLnBrk="0" hangingPunct="0">
              <a:lnSpc>
                <a:spcPct val="150000"/>
              </a:lnSpc>
              <a:buAutoNum type="arabicParenR"/>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discrete random variables, which can take on only a finite number</a:t>
            </a:r>
          </a:p>
          <a:p>
            <a:pPr marL="457200" lvl="0" indent="-457200" algn="just" eaLnBrk="0" hangingPunct="0">
              <a:lnSpc>
                <a:spcPct val="150000"/>
              </a:lnSpc>
              <a:buAutoNum type="arabicParenR"/>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an uncountable infinity of values; called continuous random variables</a:t>
            </a:r>
          </a:p>
          <a:p>
            <a:pPr lvl="0" algn="just" eaLnBrk="0" hangingPunct="0">
              <a:lnSpc>
                <a:spcPct val="150000"/>
              </a:lnSpc>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Examples:</a:t>
            </a:r>
          </a:p>
          <a:p>
            <a:pPr marL="342900" lvl="0" indent="-342900" algn="just" eaLnBrk="0" hangingPunct="0">
              <a:lnSpc>
                <a:spcPct val="150000"/>
              </a:lnSpc>
              <a:buFontTx/>
              <a:buChar cha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Number of accidents on a highway  – Discrete</a:t>
            </a:r>
          </a:p>
          <a:p>
            <a:pPr marL="342900" lvl="0" indent="-342900" algn="just" eaLnBrk="0" hangingPunct="0">
              <a:lnSpc>
                <a:spcPct val="150000"/>
              </a:lnSpc>
              <a:buFontTx/>
              <a:buChar char="-"/>
            </a:pP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Weights of the students of the class – Continuous </a:t>
            </a:r>
          </a:p>
        </p:txBody>
      </p:sp>
      <p:sp>
        <p:nvSpPr>
          <p:cNvPr id="4" name="Footer Placeholder 3">
            <a:extLst>
              <a:ext uri="{FF2B5EF4-FFF2-40B4-BE49-F238E27FC236}">
                <a16:creationId xmlns:a16="http://schemas.microsoft.com/office/drawing/2014/main" id="{6D1A6F8A-A066-CC7A-8954-C8B290FBB8FB}"/>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4170C835-C5C3-D398-7530-977EA8C5BD9A}"/>
              </a:ext>
            </a:extLst>
          </p:cNvPr>
          <p:cNvSpPr>
            <a:spLocks noGrp="1"/>
          </p:cNvSpPr>
          <p:nvPr>
            <p:ph type="sldNum" sz="quarter" idx="12"/>
          </p:nvPr>
        </p:nvSpPr>
        <p:spPr/>
        <p:txBody>
          <a:bodyPr/>
          <a:lstStyle/>
          <a:p>
            <a:pPr>
              <a:defRPr/>
            </a:pPr>
            <a:fld id="{799C83C6-4F87-48B4-8CF0-6A2F9115491D}" type="slidenum">
              <a:rPr lang="en-IN" smtClean="0"/>
              <a:pPr>
                <a:defRPr/>
              </a:pPr>
              <a:t>34</a:t>
            </a:fld>
            <a:endParaRPr lang="en-IN"/>
          </a:p>
        </p:txBody>
      </p:sp>
    </p:spTree>
    <p:extLst>
      <p:ext uri="{BB962C8B-B14F-4D97-AF65-F5344CB8AC3E}">
        <p14:creationId xmlns:p14="http://schemas.microsoft.com/office/powerpoint/2010/main" val="1607242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A16BD0-60B4-577C-3BB6-A6A5AEC0CA04}"/>
              </a:ext>
            </a:extLst>
          </p:cNvPr>
          <p:cNvSpPr txBox="1"/>
          <p:nvPr/>
        </p:nvSpPr>
        <p:spPr>
          <a:xfrm>
            <a:off x="81643" y="580869"/>
            <a:ext cx="10538732" cy="1323439"/>
          </a:xfrm>
          <a:prstGeom prst="rect">
            <a:avLst/>
          </a:prstGeom>
          <a:noFill/>
        </p:spPr>
        <p:txBody>
          <a:bodyPr wrap="square">
            <a:spAutoFit/>
          </a:bodyPr>
          <a:lstStyle/>
          <a:p>
            <a:pPr marL="0" marR="495935">
              <a:spcBef>
                <a:spcPts val="0"/>
              </a:spcBef>
              <a:spcAft>
                <a:spcPts val="0"/>
              </a:spcAft>
            </a:pPr>
            <a:r>
              <a:rPr lang="en-IN" sz="4000" b="1" kern="50" dirty="0">
                <a:solidFill>
                  <a:srgbClr val="00000A"/>
                </a:solidFill>
                <a:effectLst/>
                <a:latin typeface="+mj-lt"/>
                <a:ea typeface="Calibri" panose="020F0502020204030204" pitchFamily="34" charset="0"/>
                <a:cs typeface="Calibri" panose="020F0502020204030204" pitchFamily="34" charset="0"/>
              </a:rPr>
              <a:t>Discrete Random Variables – Problem 8</a:t>
            </a:r>
          </a:p>
          <a:p>
            <a:pPr marL="0" marR="495935">
              <a:spcBef>
                <a:spcPts val="0"/>
              </a:spcBef>
              <a:spcAft>
                <a:spcPts val="0"/>
              </a:spcAft>
            </a:pPr>
            <a:endParaRPr lang="en-IN" sz="4000" b="1" kern="50" dirty="0">
              <a:solidFill>
                <a:srgbClr val="00000A"/>
              </a:solidFill>
              <a:effectLst/>
              <a:latin typeface="+mj-lt"/>
              <a:ea typeface="Ubuntu" panose="020B0504030602030204" pitchFamily="34" charset="0"/>
              <a:cs typeface="Times New Roman" panose="02020603050405020304" pitchFamily="18" charset="0"/>
            </a:endParaRPr>
          </a:p>
        </p:txBody>
      </p:sp>
      <p:sp>
        <p:nvSpPr>
          <p:cNvPr id="4" name="Explosion: 8 Points 3">
            <a:extLst>
              <a:ext uri="{FF2B5EF4-FFF2-40B4-BE49-F238E27FC236}">
                <a16:creationId xmlns:a16="http://schemas.microsoft.com/office/drawing/2014/main" id="{D1BC7B29-002E-A5C4-8BB1-2594C9401492}"/>
              </a:ext>
            </a:extLst>
          </p:cNvPr>
          <p:cNvSpPr/>
          <p:nvPr/>
        </p:nvSpPr>
        <p:spPr>
          <a:xfrm>
            <a:off x="9654851" y="0"/>
            <a:ext cx="2379306" cy="1425987"/>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8737A80-C2BF-8181-2FB6-61489BEB6DAD}"/>
              </a:ext>
            </a:extLst>
          </p:cNvPr>
          <p:cNvSpPr txBox="1"/>
          <p:nvPr/>
        </p:nvSpPr>
        <p:spPr>
          <a:xfrm>
            <a:off x="9982200" y="448265"/>
            <a:ext cx="1857375" cy="338554"/>
          </a:xfrm>
          <a:prstGeom prst="rect">
            <a:avLst/>
          </a:prstGeom>
          <a:noFill/>
        </p:spPr>
        <p:txBody>
          <a:bodyPr wrap="square">
            <a:spAutoFit/>
          </a:bodyPr>
          <a:lstStyle/>
          <a:p>
            <a:r>
              <a:rPr lang="en-US" sz="1600" b="1" dirty="0">
                <a:solidFill>
                  <a:srgbClr val="FFFF00"/>
                </a:solidFill>
                <a:effectLst/>
                <a:latin typeface="Times New Roman" panose="02020603050405020304" pitchFamily="18" charset="0"/>
                <a:ea typeface="MTMI"/>
              </a:rPr>
              <a:t>EC2M July 2022</a:t>
            </a:r>
            <a:endParaRPr lang="en-US" sz="1600" b="1" dirty="0">
              <a:solidFill>
                <a:srgbClr val="FFFF00"/>
              </a:solidFill>
            </a:endParaRPr>
          </a:p>
        </p:txBody>
      </p:sp>
      <p:pic>
        <p:nvPicPr>
          <p:cNvPr id="7" name="Picture 6">
            <a:extLst>
              <a:ext uri="{FF2B5EF4-FFF2-40B4-BE49-F238E27FC236}">
                <a16:creationId xmlns:a16="http://schemas.microsoft.com/office/drawing/2014/main" id="{A45E0101-6481-7C2E-BCF6-EA8AFF6F1500}"/>
              </a:ext>
            </a:extLst>
          </p:cNvPr>
          <p:cNvPicPr>
            <a:picLocks noChangeAspect="1"/>
          </p:cNvPicPr>
          <p:nvPr/>
        </p:nvPicPr>
        <p:blipFill>
          <a:blip r:embed="rId2"/>
          <a:stretch>
            <a:fillRect/>
          </a:stretch>
        </p:blipFill>
        <p:spPr>
          <a:xfrm>
            <a:off x="335900" y="1740139"/>
            <a:ext cx="10372531" cy="4484930"/>
          </a:xfrm>
          <a:prstGeom prst="rect">
            <a:avLst/>
          </a:prstGeom>
        </p:spPr>
      </p:pic>
      <p:sp>
        <p:nvSpPr>
          <p:cNvPr id="2" name="Footer Placeholder 1">
            <a:extLst>
              <a:ext uri="{FF2B5EF4-FFF2-40B4-BE49-F238E27FC236}">
                <a16:creationId xmlns:a16="http://schemas.microsoft.com/office/drawing/2014/main" id="{9A1C4F8A-F366-4B99-A04F-2D80309BA654}"/>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3A4D879D-C9E0-C053-D743-79BAA6904A01}"/>
              </a:ext>
            </a:extLst>
          </p:cNvPr>
          <p:cNvSpPr>
            <a:spLocks noGrp="1"/>
          </p:cNvSpPr>
          <p:nvPr>
            <p:ph type="sldNum" sz="quarter" idx="12"/>
          </p:nvPr>
        </p:nvSpPr>
        <p:spPr/>
        <p:txBody>
          <a:bodyPr/>
          <a:lstStyle/>
          <a:p>
            <a:pPr>
              <a:defRPr/>
            </a:pPr>
            <a:fld id="{799C83C6-4F87-48B4-8CF0-6A2F9115491D}" type="slidenum">
              <a:rPr lang="en-IN" smtClean="0"/>
              <a:pPr>
                <a:defRPr/>
              </a:pPr>
              <a:t>35</a:t>
            </a:fld>
            <a:endParaRPr lang="en-IN"/>
          </a:p>
        </p:txBody>
      </p:sp>
    </p:spTree>
    <p:extLst>
      <p:ext uri="{BB962C8B-B14F-4D97-AF65-F5344CB8AC3E}">
        <p14:creationId xmlns:p14="http://schemas.microsoft.com/office/powerpoint/2010/main" val="39570250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04FC-DA4B-9156-364C-6E069631691C}"/>
              </a:ext>
            </a:extLst>
          </p:cNvPr>
          <p:cNvSpPr>
            <a:spLocks noGrp="1"/>
          </p:cNvSpPr>
          <p:nvPr>
            <p:ph type="title" idx="4294967295"/>
          </p:nvPr>
        </p:nvSpPr>
        <p:spPr>
          <a:xfrm>
            <a:off x="0" y="274638"/>
            <a:ext cx="8159750"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8 - Solution</a:t>
            </a:r>
            <a:endParaRPr lang="en-IN" sz="3600" dirty="0"/>
          </a:p>
        </p:txBody>
      </p:sp>
      <p:sp>
        <p:nvSpPr>
          <p:cNvPr id="5" name="TextBox 4">
            <a:extLst>
              <a:ext uri="{FF2B5EF4-FFF2-40B4-BE49-F238E27FC236}">
                <a16:creationId xmlns:a16="http://schemas.microsoft.com/office/drawing/2014/main" id="{F380EF3E-97D8-7E15-A4F1-4672D7882575}"/>
              </a:ext>
            </a:extLst>
          </p:cNvPr>
          <p:cNvSpPr txBox="1"/>
          <p:nvPr/>
        </p:nvSpPr>
        <p:spPr>
          <a:xfrm>
            <a:off x="425495" y="2727660"/>
            <a:ext cx="5199681" cy="3693319"/>
          </a:xfrm>
          <a:prstGeom prst="rect">
            <a:avLst/>
          </a:prstGeom>
          <a:noFill/>
        </p:spPr>
        <p:txBody>
          <a:bodyPr wrap="square">
            <a:spAutoFit/>
          </a:bodyPr>
          <a:lstStyle/>
          <a:p>
            <a:r>
              <a:rPr lang="en-IN" dirty="0"/>
              <a:t>(</a:t>
            </a:r>
            <a:r>
              <a:rPr lang="en-IN" dirty="0" err="1"/>
              <a:t>i</a:t>
            </a:r>
            <a:r>
              <a:rPr lang="en-IN" dirty="0"/>
              <a:t>) We know that,</a:t>
            </a:r>
          </a:p>
          <a:p>
            <a:r>
              <a:rPr lang="en-IN" dirty="0"/>
              <a:t>∑ P(x) = 1</a:t>
            </a:r>
          </a:p>
          <a:p>
            <a:r>
              <a:rPr lang="en-IN" dirty="0"/>
              <a:t>⇒ 0.1 + 0.25 + 0.25 + P(3) + 0.2 = 1</a:t>
            </a:r>
          </a:p>
          <a:p>
            <a:r>
              <a:rPr lang="en-IN" dirty="0"/>
              <a:t>⇒ 0.8 + P(3) = 1</a:t>
            </a:r>
          </a:p>
          <a:p>
            <a:r>
              <a:rPr lang="en-IN" dirty="0"/>
              <a:t>⇒ P(3) = 1 − 0.8</a:t>
            </a:r>
          </a:p>
          <a:p>
            <a:r>
              <a:rPr lang="en-IN" dirty="0"/>
              <a:t>⇒ P(3) = 0.2</a:t>
            </a:r>
          </a:p>
          <a:p>
            <a:endParaRPr lang="en-IN" dirty="0"/>
          </a:p>
          <a:p>
            <a:r>
              <a:rPr lang="en-IN" dirty="0"/>
              <a:t>(ii) Mean = E(X) = ∑ x P(x)</a:t>
            </a:r>
          </a:p>
          <a:p>
            <a:r>
              <a:rPr lang="en-IN" dirty="0"/>
              <a:t>= 0(0.1) + 1(0.25) + 2(0.25) + 3(0.2) + 4(0.2)</a:t>
            </a:r>
          </a:p>
          <a:p>
            <a:r>
              <a:rPr lang="en-IN" dirty="0"/>
              <a:t>= 0 + 0.25 + 0.5 + 0.6 + 0.8</a:t>
            </a:r>
          </a:p>
          <a:p>
            <a:r>
              <a:rPr lang="en-IN" dirty="0"/>
              <a:t>= 2.15</a:t>
            </a:r>
          </a:p>
          <a:p>
            <a:endParaRPr lang="en-IN" dirty="0"/>
          </a:p>
          <a:p>
            <a:r>
              <a:rPr lang="en-IN" dirty="0"/>
              <a:t>∴ Mean = 2.15</a:t>
            </a:r>
          </a:p>
        </p:txBody>
      </p:sp>
      <p:sp>
        <p:nvSpPr>
          <p:cNvPr id="8" name="TextBox 7">
            <a:extLst>
              <a:ext uri="{FF2B5EF4-FFF2-40B4-BE49-F238E27FC236}">
                <a16:creationId xmlns:a16="http://schemas.microsoft.com/office/drawing/2014/main" id="{A8162788-9BE3-673F-DF64-DEE3F8AAFD1D}"/>
              </a:ext>
            </a:extLst>
          </p:cNvPr>
          <p:cNvSpPr txBox="1"/>
          <p:nvPr/>
        </p:nvSpPr>
        <p:spPr>
          <a:xfrm>
            <a:off x="6224860" y="889843"/>
            <a:ext cx="5419272" cy="5078313"/>
          </a:xfrm>
          <a:prstGeom prst="rect">
            <a:avLst/>
          </a:prstGeom>
          <a:noFill/>
        </p:spPr>
        <p:txBody>
          <a:bodyPr wrap="square">
            <a:spAutoFit/>
          </a:bodyPr>
          <a:lstStyle/>
          <a:p>
            <a:r>
              <a:rPr lang="en-IN" dirty="0"/>
              <a:t>(iii) P(X &gt; 3) = P(X = 4) = 0.2</a:t>
            </a:r>
          </a:p>
          <a:p>
            <a:endParaRPr lang="en-IN" dirty="0"/>
          </a:p>
          <a:p>
            <a:r>
              <a:rPr lang="en-IN" dirty="0"/>
              <a:t>∴  P(X &gt; 3) = 0.2</a:t>
            </a:r>
          </a:p>
          <a:p>
            <a:endParaRPr lang="en-IN" dirty="0"/>
          </a:p>
          <a:p>
            <a:endParaRPr lang="en-IN" dirty="0"/>
          </a:p>
          <a:p>
            <a:r>
              <a:rPr lang="en-IN" dirty="0"/>
              <a:t>(iv) P(X ≤ 3) = P(X = 0) + P(X = 1)</a:t>
            </a:r>
          </a:p>
          <a:p>
            <a:r>
              <a:rPr lang="en-IN" dirty="0"/>
              <a:t>                + P(X = 2) + P(X = 3)</a:t>
            </a:r>
          </a:p>
          <a:p>
            <a:endParaRPr lang="en-IN" dirty="0"/>
          </a:p>
          <a:p>
            <a:r>
              <a:rPr lang="en-IN" dirty="0"/>
              <a:t>              = 0.1 + 0.25 + 0.25 + 0.2</a:t>
            </a:r>
          </a:p>
          <a:p>
            <a:endParaRPr lang="en-IN" dirty="0"/>
          </a:p>
          <a:p>
            <a:r>
              <a:rPr lang="en-IN" dirty="0"/>
              <a:t>              = 0.8</a:t>
            </a:r>
          </a:p>
          <a:p>
            <a:endParaRPr lang="en-IN" dirty="0"/>
          </a:p>
          <a:p>
            <a:r>
              <a:rPr lang="en-IN" dirty="0"/>
              <a:t>∴  P(X ≤ 3) = 0.8</a:t>
            </a:r>
          </a:p>
          <a:p>
            <a:endParaRPr lang="en-IN" dirty="0"/>
          </a:p>
          <a:p>
            <a:endParaRPr lang="en-IN" dirty="0"/>
          </a:p>
          <a:p>
            <a:r>
              <a:rPr lang="en-IN" dirty="0"/>
              <a:t>(v) P(1 &lt; X &lt; 3) = P(X = 2) = 0.25</a:t>
            </a:r>
          </a:p>
          <a:p>
            <a:endParaRPr lang="en-IN" dirty="0"/>
          </a:p>
          <a:p>
            <a:r>
              <a:rPr lang="en-IN" dirty="0"/>
              <a:t>∴  P(1 &lt; X &lt; 3) = 0.25</a:t>
            </a:r>
          </a:p>
        </p:txBody>
      </p:sp>
      <p:graphicFrame>
        <p:nvGraphicFramePr>
          <p:cNvPr id="3" name="Table 2">
            <a:extLst>
              <a:ext uri="{FF2B5EF4-FFF2-40B4-BE49-F238E27FC236}">
                <a16:creationId xmlns:a16="http://schemas.microsoft.com/office/drawing/2014/main" id="{2FB584AF-337B-FBE5-D228-462536325F70}"/>
              </a:ext>
            </a:extLst>
          </p:cNvPr>
          <p:cNvGraphicFramePr>
            <a:graphicFrameLocks noGrp="1"/>
          </p:cNvGraphicFramePr>
          <p:nvPr>
            <p:extLst>
              <p:ext uri="{D42A27DB-BD31-4B8C-83A1-F6EECF244321}">
                <p14:modId xmlns:p14="http://schemas.microsoft.com/office/powerpoint/2010/main" val="3333392000"/>
              </p:ext>
            </p:extLst>
          </p:nvPr>
        </p:nvGraphicFramePr>
        <p:xfrm>
          <a:off x="547868" y="1804993"/>
          <a:ext cx="5199683" cy="731520"/>
        </p:xfrm>
        <a:graphic>
          <a:graphicData uri="http://schemas.openxmlformats.org/drawingml/2006/table">
            <a:tbl>
              <a:tblPr>
                <a:tableStyleId>{5940675A-B579-460E-94D1-54222C63F5DA}</a:tableStyleId>
              </a:tblPr>
              <a:tblGrid>
                <a:gridCol w="1042290">
                  <a:extLst>
                    <a:ext uri="{9D8B030D-6E8A-4147-A177-3AD203B41FA5}">
                      <a16:colId xmlns:a16="http://schemas.microsoft.com/office/drawing/2014/main" val="2909194469"/>
                    </a:ext>
                  </a:extLst>
                </a:gridCol>
                <a:gridCol w="690937">
                  <a:extLst>
                    <a:ext uri="{9D8B030D-6E8A-4147-A177-3AD203B41FA5}">
                      <a16:colId xmlns:a16="http://schemas.microsoft.com/office/drawing/2014/main" val="2412287259"/>
                    </a:ext>
                  </a:extLst>
                </a:gridCol>
                <a:gridCol w="866614">
                  <a:extLst>
                    <a:ext uri="{9D8B030D-6E8A-4147-A177-3AD203B41FA5}">
                      <a16:colId xmlns:a16="http://schemas.microsoft.com/office/drawing/2014/main" val="3733657016"/>
                    </a:ext>
                  </a:extLst>
                </a:gridCol>
                <a:gridCol w="866614">
                  <a:extLst>
                    <a:ext uri="{9D8B030D-6E8A-4147-A177-3AD203B41FA5}">
                      <a16:colId xmlns:a16="http://schemas.microsoft.com/office/drawing/2014/main" val="1783073074"/>
                    </a:ext>
                  </a:extLst>
                </a:gridCol>
                <a:gridCol w="866614">
                  <a:extLst>
                    <a:ext uri="{9D8B030D-6E8A-4147-A177-3AD203B41FA5}">
                      <a16:colId xmlns:a16="http://schemas.microsoft.com/office/drawing/2014/main" val="3938113601"/>
                    </a:ext>
                  </a:extLst>
                </a:gridCol>
                <a:gridCol w="866614">
                  <a:extLst>
                    <a:ext uri="{9D8B030D-6E8A-4147-A177-3AD203B41FA5}">
                      <a16:colId xmlns:a16="http://schemas.microsoft.com/office/drawing/2014/main" val="2443826436"/>
                    </a:ext>
                  </a:extLst>
                </a:gridCol>
              </a:tblGrid>
              <a:tr h="313452">
                <a:tc>
                  <a:txBody>
                    <a:bodyPr/>
                    <a:lstStyle/>
                    <a:p>
                      <a:pPr algn="ctr">
                        <a:buNone/>
                      </a:pPr>
                      <a:r>
                        <a:rPr lang="en-IN"/>
                        <a:t>(X)</a:t>
                      </a:r>
                    </a:p>
                  </a:txBody>
                  <a:tcPr anchor="ctr"/>
                </a:tc>
                <a:tc>
                  <a:txBody>
                    <a:bodyPr/>
                    <a:lstStyle/>
                    <a:p>
                      <a:pPr algn="ctr">
                        <a:buNone/>
                      </a:pPr>
                      <a:r>
                        <a:rPr lang="en-IN" dirty="0"/>
                        <a:t>0</a:t>
                      </a:r>
                    </a:p>
                  </a:txBody>
                  <a:tcPr anchor="ctr"/>
                </a:tc>
                <a:tc>
                  <a:txBody>
                    <a:bodyPr/>
                    <a:lstStyle/>
                    <a:p>
                      <a:pPr algn="ctr">
                        <a:buNone/>
                      </a:pPr>
                      <a:r>
                        <a:rPr lang="en-IN"/>
                        <a:t>1</a:t>
                      </a:r>
                    </a:p>
                  </a:txBody>
                  <a:tcPr anchor="ctr"/>
                </a:tc>
                <a:tc>
                  <a:txBody>
                    <a:bodyPr/>
                    <a:lstStyle/>
                    <a:p>
                      <a:pPr algn="ctr">
                        <a:buNone/>
                      </a:pPr>
                      <a:r>
                        <a:rPr lang="en-IN"/>
                        <a:t>2</a:t>
                      </a:r>
                    </a:p>
                  </a:txBody>
                  <a:tcPr anchor="ctr"/>
                </a:tc>
                <a:tc>
                  <a:txBody>
                    <a:bodyPr/>
                    <a:lstStyle/>
                    <a:p>
                      <a:pPr algn="ctr">
                        <a:buNone/>
                      </a:pPr>
                      <a:r>
                        <a:rPr lang="en-IN"/>
                        <a:t>3</a:t>
                      </a:r>
                    </a:p>
                  </a:txBody>
                  <a:tcPr anchor="ctr"/>
                </a:tc>
                <a:tc>
                  <a:txBody>
                    <a:bodyPr/>
                    <a:lstStyle/>
                    <a:p>
                      <a:pPr algn="ctr">
                        <a:buNone/>
                      </a:pPr>
                      <a:r>
                        <a:rPr lang="en-IN"/>
                        <a:t>4</a:t>
                      </a:r>
                    </a:p>
                  </a:txBody>
                  <a:tcPr anchor="ctr"/>
                </a:tc>
                <a:extLst>
                  <a:ext uri="{0D108BD9-81ED-4DB2-BD59-A6C34878D82A}">
                    <a16:rowId xmlns:a16="http://schemas.microsoft.com/office/drawing/2014/main" val="1214555603"/>
                  </a:ext>
                </a:extLst>
              </a:tr>
              <a:tr h="313452">
                <a:tc>
                  <a:txBody>
                    <a:bodyPr/>
                    <a:lstStyle/>
                    <a:p>
                      <a:pPr algn="ctr">
                        <a:buNone/>
                      </a:pPr>
                      <a:r>
                        <a:rPr lang="en-IN" dirty="0"/>
                        <a:t>(P(X=x))</a:t>
                      </a:r>
                    </a:p>
                  </a:txBody>
                  <a:tcPr anchor="ctr"/>
                </a:tc>
                <a:tc>
                  <a:txBody>
                    <a:bodyPr/>
                    <a:lstStyle/>
                    <a:p>
                      <a:pPr algn="ctr">
                        <a:buNone/>
                      </a:pPr>
                      <a:r>
                        <a:rPr lang="en-IN"/>
                        <a:t>0.10</a:t>
                      </a:r>
                    </a:p>
                  </a:txBody>
                  <a:tcPr anchor="ctr"/>
                </a:tc>
                <a:tc>
                  <a:txBody>
                    <a:bodyPr/>
                    <a:lstStyle/>
                    <a:p>
                      <a:pPr algn="ctr">
                        <a:buNone/>
                      </a:pPr>
                      <a:r>
                        <a:rPr lang="en-IN"/>
                        <a:t>0.25</a:t>
                      </a:r>
                    </a:p>
                  </a:txBody>
                  <a:tcPr anchor="ctr"/>
                </a:tc>
                <a:tc>
                  <a:txBody>
                    <a:bodyPr/>
                    <a:lstStyle/>
                    <a:p>
                      <a:pPr algn="ctr">
                        <a:buNone/>
                      </a:pPr>
                      <a:r>
                        <a:rPr lang="en-IN" dirty="0"/>
                        <a:t>0.25</a:t>
                      </a:r>
                    </a:p>
                  </a:txBody>
                  <a:tcPr anchor="ctr"/>
                </a:tc>
                <a:tc>
                  <a:txBody>
                    <a:bodyPr/>
                    <a:lstStyle/>
                    <a:p>
                      <a:pPr algn="ctr">
                        <a:buNone/>
                      </a:pPr>
                      <a:r>
                        <a:rPr lang="en-IN" dirty="0"/>
                        <a:t>?</a:t>
                      </a:r>
                    </a:p>
                  </a:txBody>
                  <a:tcPr anchor="ctr"/>
                </a:tc>
                <a:tc>
                  <a:txBody>
                    <a:bodyPr/>
                    <a:lstStyle/>
                    <a:p>
                      <a:pPr algn="ctr">
                        <a:buNone/>
                      </a:pPr>
                      <a:r>
                        <a:rPr lang="en-IN" dirty="0"/>
                        <a:t>0.20</a:t>
                      </a:r>
                    </a:p>
                  </a:txBody>
                  <a:tcPr anchor="ctr"/>
                </a:tc>
                <a:extLst>
                  <a:ext uri="{0D108BD9-81ED-4DB2-BD59-A6C34878D82A}">
                    <a16:rowId xmlns:a16="http://schemas.microsoft.com/office/drawing/2014/main" val="2111401988"/>
                  </a:ext>
                </a:extLst>
              </a:tr>
            </a:tbl>
          </a:graphicData>
        </a:graphic>
      </p:graphicFrame>
      <p:sp>
        <p:nvSpPr>
          <p:cNvPr id="6" name="TextBox 5">
            <a:extLst>
              <a:ext uri="{FF2B5EF4-FFF2-40B4-BE49-F238E27FC236}">
                <a16:creationId xmlns:a16="http://schemas.microsoft.com/office/drawing/2014/main" id="{FCB076B3-3862-FA8D-7F6A-9FB058E842C9}"/>
              </a:ext>
            </a:extLst>
          </p:cNvPr>
          <p:cNvSpPr txBox="1"/>
          <p:nvPr/>
        </p:nvSpPr>
        <p:spPr>
          <a:xfrm>
            <a:off x="263570" y="1375959"/>
            <a:ext cx="6105524" cy="369332"/>
          </a:xfrm>
          <a:prstGeom prst="rect">
            <a:avLst/>
          </a:prstGeom>
          <a:noFill/>
        </p:spPr>
        <p:txBody>
          <a:bodyPr wrap="square">
            <a:spAutoFit/>
          </a:bodyPr>
          <a:lstStyle/>
          <a:p>
            <a:r>
              <a:rPr lang="en-IN" sz="1800" dirty="0"/>
              <a:t>Given probability distribution is</a:t>
            </a:r>
          </a:p>
        </p:txBody>
      </p:sp>
      <p:sp>
        <p:nvSpPr>
          <p:cNvPr id="10" name="Footer Placeholder 9">
            <a:extLst>
              <a:ext uri="{FF2B5EF4-FFF2-40B4-BE49-F238E27FC236}">
                <a16:creationId xmlns:a16="http://schemas.microsoft.com/office/drawing/2014/main" id="{DF2FEB09-963C-4876-9FA6-AB09AA9E0DA7}"/>
              </a:ext>
            </a:extLst>
          </p:cNvPr>
          <p:cNvSpPr>
            <a:spLocks noGrp="1"/>
          </p:cNvSpPr>
          <p:nvPr>
            <p:ph type="ftr" sz="quarter" idx="11"/>
          </p:nvPr>
        </p:nvSpPr>
        <p:spPr/>
        <p:txBody>
          <a:bodyPr/>
          <a:lstStyle/>
          <a:p>
            <a:r>
              <a:rPr lang="en-IN"/>
              <a:t>W-2</a:t>
            </a:r>
          </a:p>
        </p:txBody>
      </p:sp>
      <p:sp>
        <p:nvSpPr>
          <p:cNvPr id="11" name="Slide Number Placeholder 10">
            <a:extLst>
              <a:ext uri="{FF2B5EF4-FFF2-40B4-BE49-F238E27FC236}">
                <a16:creationId xmlns:a16="http://schemas.microsoft.com/office/drawing/2014/main" id="{EF8D1F96-42CB-C566-95B8-EA69750B0FB0}"/>
              </a:ext>
            </a:extLst>
          </p:cNvPr>
          <p:cNvSpPr>
            <a:spLocks noGrp="1"/>
          </p:cNvSpPr>
          <p:nvPr>
            <p:ph type="sldNum" sz="quarter" idx="12"/>
          </p:nvPr>
        </p:nvSpPr>
        <p:spPr/>
        <p:txBody>
          <a:bodyPr/>
          <a:lstStyle/>
          <a:p>
            <a:pPr>
              <a:defRPr/>
            </a:pPr>
            <a:fld id="{799C83C6-4F87-48B4-8CF0-6A2F9115491D}" type="slidenum">
              <a:rPr lang="en-IN" smtClean="0"/>
              <a:pPr>
                <a:defRPr/>
              </a:pPr>
              <a:t>36</a:t>
            </a:fld>
            <a:endParaRPr lang="en-IN"/>
          </a:p>
        </p:txBody>
      </p:sp>
    </p:spTree>
    <p:extLst>
      <p:ext uri="{BB962C8B-B14F-4D97-AF65-F5344CB8AC3E}">
        <p14:creationId xmlns:p14="http://schemas.microsoft.com/office/powerpoint/2010/main" val="4140317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A1EC56-D9B2-6529-4CFE-7927EAA3F766}"/>
              </a:ext>
            </a:extLst>
          </p:cNvPr>
          <p:cNvPicPr>
            <a:picLocks noChangeAspect="1"/>
          </p:cNvPicPr>
          <p:nvPr/>
        </p:nvPicPr>
        <p:blipFill>
          <a:blip r:embed="rId2"/>
          <a:stretch>
            <a:fillRect/>
          </a:stretch>
        </p:blipFill>
        <p:spPr>
          <a:xfrm>
            <a:off x="342507" y="1569562"/>
            <a:ext cx="10304965" cy="4712099"/>
          </a:xfrm>
          <a:prstGeom prst="rect">
            <a:avLst/>
          </a:prstGeom>
        </p:spPr>
      </p:pic>
      <p:sp>
        <p:nvSpPr>
          <p:cNvPr id="2" name="Title 1">
            <a:extLst>
              <a:ext uri="{FF2B5EF4-FFF2-40B4-BE49-F238E27FC236}">
                <a16:creationId xmlns:a16="http://schemas.microsoft.com/office/drawing/2014/main" id="{06F1E590-F5BA-995C-C492-295531BB8DC0}"/>
              </a:ext>
            </a:extLst>
          </p:cNvPr>
          <p:cNvSpPr>
            <a:spLocks noGrp="1"/>
          </p:cNvSpPr>
          <p:nvPr>
            <p:ph type="title" idx="4294967295"/>
          </p:nvPr>
        </p:nvSpPr>
        <p:spPr>
          <a:xfrm>
            <a:off x="85725" y="437498"/>
            <a:ext cx="9896475" cy="849312"/>
          </a:xfrm>
        </p:spPr>
        <p:txBody>
          <a:bodyPr>
            <a:noAutofit/>
          </a:bodyPr>
          <a:lstStyle/>
          <a:p>
            <a:pPr algn="l"/>
            <a:r>
              <a:rPr lang="en-IN" sz="4000" b="1" kern="50" dirty="0">
                <a:solidFill>
                  <a:srgbClr val="00000A"/>
                </a:solidFill>
                <a:effectLst/>
                <a:ea typeface="Calibri" panose="020F0502020204030204" pitchFamily="34" charset="0"/>
                <a:cs typeface="Calibri" panose="020F0502020204030204" pitchFamily="34" charset="0"/>
              </a:rPr>
              <a:t>Discrete Random Variables – Problem </a:t>
            </a:r>
            <a:r>
              <a:rPr lang="en-IN" sz="4000" b="1" kern="50" dirty="0">
                <a:solidFill>
                  <a:srgbClr val="00000A"/>
                </a:solidFill>
                <a:ea typeface="Calibri" panose="020F0502020204030204" pitchFamily="34" charset="0"/>
                <a:cs typeface="Calibri" panose="020F0502020204030204" pitchFamily="34" charset="0"/>
              </a:rPr>
              <a:t>9</a:t>
            </a:r>
            <a:br>
              <a:rPr lang="en-IN" sz="4000" b="1" kern="50" dirty="0">
                <a:solidFill>
                  <a:srgbClr val="00000A"/>
                </a:solidFill>
                <a:effectLst/>
                <a:ea typeface="Calibri" panose="020F0502020204030204" pitchFamily="34" charset="0"/>
                <a:cs typeface="Calibri" panose="020F0502020204030204" pitchFamily="34" charset="0"/>
              </a:rPr>
            </a:br>
            <a:endParaRPr lang="en-IN" sz="4000" dirty="0"/>
          </a:p>
        </p:txBody>
      </p:sp>
      <p:sp>
        <p:nvSpPr>
          <p:cNvPr id="5" name="Explosion: 8 Points 4">
            <a:extLst>
              <a:ext uri="{FF2B5EF4-FFF2-40B4-BE49-F238E27FC236}">
                <a16:creationId xmlns:a16="http://schemas.microsoft.com/office/drawing/2014/main" id="{3BB8F1A1-5DA3-3B13-8637-FF91B4DAC08E}"/>
              </a:ext>
            </a:extLst>
          </p:cNvPr>
          <p:cNvSpPr/>
          <p:nvPr/>
        </p:nvSpPr>
        <p:spPr>
          <a:xfrm>
            <a:off x="9675728" y="594737"/>
            <a:ext cx="1943488" cy="1045405"/>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b="1" dirty="0">
              <a:solidFill>
                <a:srgbClr val="FFFF00"/>
              </a:solidFill>
              <a:effectLst/>
              <a:latin typeface="Times New Roman" panose="02020603050405020304" pitchFamily="18" charset="0"/>
              <a:ea typeface="MTMI"/>
            </a:endParaRPr>
          </a:p>
          <a:p>
            <a:pPr algn="ctr"/>
            <a:r>
              <a:rPr lang="en-US" sz="1800" b="1" dirty="0">
                <a:solidFill>
                  <a:srgbClr val="FFFF00"/>
                </a:solidFill>
                <a:effectLst/>
                <a:latin typeface="Times New Roman" panose="02020603050405020304" pitchFamily="18" charset="0"/>
                <a:ea typeface="MTMI"/>
              </a:rPr>
              <a:t>APR EC2 22</a:t>
            </a:r>
            <a:endParaRPr lang="en-US" b="1" dirty="0">
              <a:solidFill>
                <a:srgbClr val="FFFF00"/>
              </a:solidFill>
            </a:endParaRPr>
          </a:p>
          <a:p>
            <a:pPr algn="ctr"/>
            <a:endParaRPr lang="en-US" dirty="0"/>
          </a:p>
        </p:txBody>
      </p:sp>
      <p:sp>
        <p:nvSpPr>
          <p:cNvPr id="3" name="Footer Placeholder 2">
            <a:extLst>
              <a:ext uri="{FF2B5EF4-FFF2-40B4-BE49-F238E27FC236}">
                <a16:creationId xmlns:a16="http://schemas.microsoft.com/office/drawing/2014/main" id="{C32C02D2-19CD-F02F-B577-8BF1E0397D1D}"/>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CC9E56E2-3D4C-C9C9-1FC3-474EC0A45B46}"/>
              </a:ext>
            </a:extLst>
          </p:cNvPr>
          <p:cNvSpPr>
            <a:spLocks noGrp="1"/>
          </p:cNvSpPr>
          <p:nvPr>
            <p:ph type="sldNum" sz="quarter" idx="12"/>
          </p:nvPr>
        </p:nvSpPr>
        <p:spPr/>
        <p:txBody>
          <a:bodyPr/>
          <a:lstStyle/>
          <a:p>
            <a:pPr>
              <a:defRPr/>
            </a:pPr>
            <a:fld id="{799C83C6-4F87-48B4-8CF0-6A2F9115491D}" type="slidenum">
              <a:rPr lang="en-IN" smtClean="0"/>
              <a:pPr>
                <a:defRPr/>
              </a:pPr>
              <a:t>37</a:t>
            </a:fld>
            <a:endParaRPr lang="en-IN"/>
          </a:p>
        </p:txBody>
      </p:sp>
    </p:spTree>
    <p:extLst>
      <p:ext uri="{BB962C8B-B14F-4D97-AF65-F5344CB8AC3E}">
        <p14:creationId xmlns:p14="http://schemas.microsoft.com/office/powerpoint/2010/main" val="4107578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6B72209-B557-C71A-FEC6-2BFCB13B577F}"/>
              </a:ext>
            </a:extLst>
          </p:cNvPr>
          <p:cNvSpPr txBox="1"/>
          <p:nvPr/>
        </p:nvSpPr>
        <p:spPr>
          <a:xfrm>
            <a:off x="468892" y="749423"/>
            <a:ext cx="5945554" cy="5632311"/>
          </a:xfrm>
          <a:prstGeom prst="rect">
            <a:avLst/>
          </a:prstGeom>
          <a:noFill/>
        </p:spPr>
        <p:txBody>
          <a:bodyPr wrap="square">
            <a:spAutoFit/>
          </a:bodyPr>
          <a:lstStyle/>
          <a:p>
            <a:r>
              <a:rPr lang="en-IN" dirty="0"/>
              <a:t>Given probability distribution is</a:t>
            </a:r>
          </a:p>
          <a:p>
            <a:endParaRPr lang="en-IN" dirty="0"/>
          </a:p>
          <a:p>
            <a:endParaRPr lang="en-IN" dirty="0"/>
          </a:p>
          <a:p>
            <a:endParaRPr lang="en-IN" dirty="0"/>
          </a:p>
          <a:p>
            <a:endParaRPr lang="en-IN" dirty="0"/>
          </a:p>
          <a:p>
            <a:endParaRPr lang="en-IN" dirty="0"/>
          </a:p>
          <a:p>
            <a:r>
              <a:rPr lang="en-IN" dirty="0"/>
              <a:t>(a) We know that</a:t>
            </a:r>
          </a:p>
          <a:p>
            <a:r>
              <a:rPr lang="en-IN" dirty="0"/>
              <a:t>∑ P(x) = 1</a:t>
            </a:r>
          </a:p>
          <a:p>
            <a:r>
              <a:rPr lang="en-IN" dirty="0"/>
              <a:t>⇒ 0.17 + K + 0.27 + 0.16 + 0.07 + 0.03 + 0.01 = 1</a:t>
            </a:r>
          </a:p>
          <a:p>
            <a:r>
              <a:rPr lang="en-IN" dirty="0"/>
              <a:t>⇒ 0.71 + K = 1</a:t>
            </a:r>
          </a:p>
          <a:p>
            <a:r>
              <a:rPr lang="en-IN" dirty="0"/>
              <a:t>⇒ K = 1 − 0.71</a:t>
            </a:r>
          </a:p>
          <a:p>
            <a:r>
              <a:rPr lang="en-IN" dirty="0"/>
              <a:t>⇒ K = 0.29</a:t>
            </a:r>
          </a:p>
          <a:p>
            <a:r>
              <a:rPr lang="en-IN" dirty="0"/>
              <a:t>(b) Mean = E(X) = ∑ </a:t>
            </a:r>
            <a:r>
              <a:rPr lang="en-IN" dirty="0" err="1"/>
              <a:t>xP</a:t>
            </a:r>
            <a:r>
              <a:rPr lang="en-IN" dirty="0"/>
              <a:t>(x)</a:t>
            </a:r>
          </a:p>
          <a:p>
            <a:endParaRPr lang="en-IN" dirty="0"/>
          </a:p>
          <a:p>
            <a:r>
              <a:rPr lang="en-IN" dirty="0"/>
              <a:t>= 0(0.17) + 1(0.29) + 2(0.27) + 3(0.16)</a:t>
            </a:r>
          </a:p>
          <a:p>
            <a:r>
              <a:rPr lang="en-IN" dirty="0"/>
              <a:t>  + 4(0.07) + 5(0.03) + 6(0.01)</a:t>
            </a:r>
          </a:p>
          <a:p>
            <a:endParaRPr lang="en-IN" dirty="0"/>
          </a:p>
          <a:p>
            <a:r>
              <a:rPr lang="en-IN" dirty="0"/>
              <a:t>= 0 + 0.29 + 0.54 + 0.48 + 0.28 + 0.15 + 0.06</a:t>
            </a:r>
          </a:p>
          <a:p>
            <a:r>
              <a:rPr lang="en-IN" dirty="0"/>
              <a:t>= 1.8</a:t>
            </a:r>
          </a:p>
          <a:p>
            <a:r>
              <a:rPr lang="en-IN" dirty="0"/>
              <a:t>∴ Mean = 1.8</a:t>
            </a:r>
          </a:p>
        </p:txBody>
      </p:sp>
      <p:sp>
        <p:nvSpPr>
          <p:cNvPr id="9" name="TextBox 8">
            <a:extLst>
              <a:ext uri="{FF2B5EF4-FFF2-40B4-BE49-F238E27FC236}">
                <a16:creationId xmlns:a16="http://schemas.microsoft.com/office/drawing/2014/main" id="{2C014DE1-8C56-415A-6CB7-0DFCA4948C04}"/>
              </a:ext>
            </a:extLst>
          </p:cNvPr>
          <p:cNvSpPr txBox="1"/>
          <p:nvPr/>
        </p:nvSpPr>
        <p:spPr>
          <a:xfrm>
            <a:off x="6791204" y="659722"/>
            <a:ext cx="5162671" cy="5909310"/>
          </a:xfrm>
          <a:prstGeom prst="rect">
            <a:avLst/>
          </a:prstGeom>
          <a:noFill/>
        </p:spPr>
        <p:txBody>
          <a:bodyPr wrap="square">
            <a:spAutoFit/>
          </a:bodyPr>
          <a:lstStyle/>
          <a:p>
            <a:r>
              <a:rPr lang="en-IN" dirty="0"/>
              <a:t>Var(X) = E(X²) − (E(X))²</a:t>
            </a:r>
          </a:p>
          <a:p>
            <a:endParaRPr lang="en-IN" dirty="0"/>
          </a:p>
          <a:p>
            <a:endParaRPr lang="en-IN" dirty="0"/>
          </a:p>
          <a:p>
            <a:r>
              <a:rPr lang="en-IN" dirty="0"/>
              <a:t>E(X²) = ∑ x² P(x)</a:t>
            </a:r>
          </a:p>
          <a:p>
            <a:r>
              <a:rPr lang="en-IN" dirty="0"/>
              <a:t>= (0)²(0.17) + (1)²(0.29) + (2)²(0.27)</a:t>
            </a:r>
          </a:p>
          <a:p>
            <a:r>
              <a:rPr lang="en-IN" dirty="0"/>
              <a:t>  + (3)²(0.16) + (4)²(0.07)</a:t>
            </a:r>
          </a:p>
          <a:p>
            <a:r>
              <a:rPr lang="en-IN" dirty="0"/>
              <a:t>  + (5)²(0.03) + (6)²(0.01)</a:t>
            </a:r>
          </a:p>
          <a:p>
            <a:endParaRPr lang="en-IN" dirty="0"/>
          </a:p>
          <a:p>
            <a:r>
              <a:rPr lang="en-IN" dirty="0"/>
              <a:t>= 0 + 0.29 + 4(0.27) + 9(0.16)</a:t>
            </a:r>
          </a:p>
          <a:p>
            <a:r>
              <a:rPr lang="en-IN" dirty="0"/>
              <a:t>  + 16(0.07) + 25(0.03) + 36(0.01)</a:t>
            </a:r>
          </a:p>
          <a:p>
            <a:endParaRPr lang="en-IN" dirty="0"/>
          </a:p>
          <a:p>
            <a:r>
              <a:rPr lang="en-IN" dirty="0"/>
              <a:t>= 0.29 + 1.08 + 1.44 + 1.12 + 0.75 + 0.36</a:t>
            </a:r>
          </a:p>
          <a:p>
            <a:r>
              <a:rPr lang="en-IN" dirty="0"/>
              <a:t>= 5.04</a:t>
            </a:r>
          </a:p>
          <a:p>
            <a:r>
              <a:rPr lang="en-IN" dirty="0"/>
              <a:t>∴  E(X²) = 5.04</a:t>
            </a:r>
          </a:p>
          <a:p>
            <a:r>
              <a:rPr lang="en-IN" dirty="0"/>
              <a:t>Var(X) = E(X²) − (E(X))²</a:t>
            </a:r>
          </a:p>
          <a:p>
            <a:endParaRPr lang="en-IN" dirty="0"/>
          </a:p>
          <a:p>
            <a:r>
              <a:rPr lang="en-IN" dirty="0"/>
              <a:t>= 5.04 − (1.8)²</a:t>
            </a:r>
          </a:p>
          <a:p>
            <a:endParaRPr lang="en-IN" dirty="0"/>
          </a:p>
          <a:p>
            <a:r>
              <a:rPr lang="en-IN" dirty="0"/>
              <a:t>= 5.04 − 3.24</a:t>
            </a:r>
          </a:p>
          <a:p>
            <a:r>
              <a:rPr lang="en-IN" dirty="0"/>
              <a:t>= 1.8</a:t>
            </a:r>
          </a:p>
          <a:p>
            <a:r>
              <a:rPr lang="en-IN" dirty="0"/>
              <a:t>∴  Var(X) = 1.8</a:t>
            </a:r>
          </a:p>
        </p:txBody>
      </p:sp>
      <p:graphicFrame>
        <p:nvGraphicFramePr>
          <p:cNvPr id="2" name="Table 1">
            <a:extLst>
              <a:ext uri="{FF2B5EF4-FFF2-40B4-BE49-F238E27FC236}">
                <a16:creationId xmlns:a16="http://schemas.microsoft.com/office/drawing/2014/main" id="{F8FD534E-BF64-6584-252B-F3492FCF0C8E}"/>
              </a:ext>
            </a:extLst>
          </p:cNvPr>
          <p:cNvGraphicFramePr>
            <a:graphicFrameLocks noGrp="1"/>
          </p:cNvGraphicFramePr>
          <p:nvPr>
            <p:extLst>
              <p:ext uri="{D42A27DB-BD31-4B8C-83A1-F6EECF244321}">
                <p14:modId xmlns:p14="http://schemas.microsoft.com/office/powerpoint/2010/main" val="1360273995"/>
              </p:ext>
            </p:extLst>
          </p:nvPr>
        </p:nvGraphicFramePr>
        <p:xfrm>
          <a:off x="296823" y="1395754"/>
          <a:ext cx="6264001" cy="883920"/>
        </p:xfrm>
        <a:graphic>
          <a:graphicData uri="http://schemas.openxmlformats.org/drawingml/2006/table">
            <a:tbl>
              <a:tblPr>
                <a:tableStyleId>{5940675A-B579-460E-94D1-54222C63F5DA}</a:tableStyleId>
              </a:tblPr>
              <a:tblGrid>
                <a:gridCol w="1519270">
                  <a:extLst>
                    <a:ext uri="{9D8B030D-6E8A-4147-A177-3AD203B41FA5}">
                      <a16:colId xmlns:a16="http://schemas.microsoft.com/office/drawing/2014/main" val="995656831"/>
                    </a:ext>
                  </a:extLst>
                </a:gridCol>
                <a:gridCol w="747801">
                  <a:extLst>
                    <a:ext uri="{9D8B030D-6E8A-4147-A177-3AD203B41FA5}">
                      <a16:colId xmlns:a16="http://schemas.microsoft.com/office/drawing/2014/main" val="1395663267"/>
                    </a:ext>
                  </a:extLst>
                </a:gridCol>
                <a:gridCol w="609600">
                  <a:extLst>
                    <a:ext uri="{9D8B030D-6E8A-4147-A177-3AD203B41FA5}">
                      <a16:colId xmlns:a16="http://schemas.microsoft.com/office/drawing/2014/main" val="3790882535"/>
                    </a:ext>
                  </a:extLst>
                </a:gridCol>
                <a:gridCol w="685800">
                  <a:extLst>
                    <a:ext uri="{9D8B030D-6E8A-4147-A177-3AD203B41FA5}">
                      <a16:colId xmlns:a16="http://schemas.microsoft.com/office/drawing/2014/main" val="3452320454"/>
                    </a:ext>
                  </a:extLst>
                </a:gridCol>
                <a:gridCol w="657225">
                  <a:extLst>
                    <a:ext uri="{9D8B030D-6E8A-4147-A177-3AD203B41FA5}">
                      <a16:colId xmlns:a16="http://schemas.microsoft.com/office/drawing/2014/main" val="459634638"/>
                    </a:ext>
                  </a:extLst>
                </a:gridCol>
                <a:gridCol w="714375">
                  <a:extLst>
                    <a:ext uri="{9D8B030D-6E8A-4147-A177-3AD203B41FA5}">
                      <a16:colId xmlns:a16="http://schemas.microsoft.com/office/drawing/2014/main" val="1268824724"/>
                    </a:ext>
                  </a:extLst>
                </a:gridCol>
                <a:gridCol w="695325">
                  <a:extLst>
                    <a:ext uri="{9D8B030D-6E8A-4147-A177-3AD203B41FA5}">
                      <a16:colId xmlns:a16="http://schemas.microsoft.com/office/drawing/2014/main" val="610411593"/>
                    </a:ext>
                  </a:extLst>
                </a:gridCol>
                <a:gridCol w="634605">
                  <a:extLst>
                    <a:ext uri="{9D8B030D-6E8A-4147-A177-3AD203B41FA5}">
                      <a16:colId xmlns:a16="http://schemas.microsoft.com/office/drawing/2014/main" val="3452693178"/>
                    </a:ext>
                  </a:extLst>
                </a:gridCol>
              </a:tblGrid>
              <a:tr h="0">
                <a:tc>
                  <a:txBody>
                    <a:bodyPr/>
                    <a:lstStyle/>
                    <a:p>
                      <a:pPr algn="ctr">
                        <a:buNone/>
                      </a:pPr>
                      <a:r>
                        <a:rPr lang="en-IN" sz="1400" dirty="0">
                          <a:latin typeface="Times New Roman" panose="02020603050405020304" pitchFamily="18" charset="0"/>
                          <a:cs typeface="Times New Roman" panose="02020603050405020304" pitchFamily="18" charset="0"/>
                        </a:rPr>
                        <a:t>Number of Malfunctions, (X)</a:t>
                      </a:r>
                    </a:p>
                  </a:txBody>
                  <a:tcPr anchor="ctr"/>
                </a:tc>
                <a:tc>
                  <a:txBody>
                    <a:bodyPr/>
                    <a:lstStyle/>
                    <a:p>
                      <a:pPr algn="ctr">
                        <a:buNone/>
                      </a:pPr>
                      <a:r>
                        <a:rPr lang="en-IN" dirty="0"/>
                        <a:t>0</a:t>
                      </a:r>
                    </a:p>
                  </a:txBody>
                  <a:tcPr anchor="ctr"/>
                </a:tc>
                <a:tc>
                  <a:txBody>
                    <a:bodyPr/>
                    <a:lstStyle/>
                    <a:p>
                      <a:pPr algn="ctr">
                        <a:buNone/>
                      </a:pPr>
                      <a:r>
                        <a:rPr lang="en-IN" dirty="0"/>
                        <a:t>1</a:t>
                      </a:r>
                    </a:p>
                  </a:txBody>
                  <a:tcPr anchor="ctr"/>
                </a:tc>
                <a:tc>
                  <a:txBody>
                    <a:bodyPr/>
                    <a:lstStyle/>
                    <a:p>
                      <a:pPr algn="ctr">
                        <a:buNone/>
                      </a:pPr>
                      <a:r>
                        <a:rPr lang="en-IN" dirty="0"/>
                        <a:t>2</a:t>
                      </a:r>
                    </a:p>
                  </a:txBody>
                  <a:tcPr anchor="ctr"/>
                </a:tc>
                <a:tc>
                  <a:txBody>
                    <a:bodyPr/>
                    <a:lstStyle/>
                    <a:p>
                      <a:pPr algn="ctr">
                        <a:buNone/>
                      </a:pPr>
                      <a:r>
                        <a:rPr lang="en-IN" dirty="0"/>
                        <a:t>3</a:t>
                      </a:r>
                    </a:p>
                  </a:txBody>
                  <a:tcPr anchor="ctr"/>
                </a:tc>
                <a:tc>
                  <a:txBody>
                    <a:bodyPr/>
                    <a:lstStyle/>
                    <a:p>
                      <a:pPr algn="ctr">
                        <a:buNone/>
                      </a:pPr>
                      <a:r>
                        <a:rPr lang="en-IN"/>
                        <a:t>4</a:t>
                      </a:r>
                    </a:p>
                  </a:txBody>
                  <a:tcPr anchor="ctr"/>
                </a:tc>
                <a:tc>
                  <a:txBody>
                    <a:bodyPr/>
                    <a:lstStyle/>
                    <a:p>
                      <a:pPr algn="ctr">
                        <a:buNone/>
                      </a:pPr>
                      <a:r>
                        <a:rPr lang="en-IN" dirty="0"/>
                        <a:t>5</a:t>
                      </a:r>
                    </a:p>
                  </a:txBody>
                  <a:tcPr anchor="ctr"/>
                </a:tc>
                <a:tc>
                  <a:txBody>
                    <a:bodyPr/>
                    <a:lstStyle/>
                    <a:p>
                      <a:pPr algn="ctr">
                        <a:buNone/>
                      </a:pPr>
                      <a:r>
                        <a:rPr lang="en-IN"/>
                        <a:t>6</a:t>
                      </a:r>
                    </a:p>
                  </a:txBody>
                  <a:tcPr anchor="ctr"/>
                </a:tc>
                <a:extLst>
                  <a:ext uri="{0D108BD9-81ED-4DB2-BD59-A6C34878D82A}">
                    <a16:rowId xmlns:a16="http://schemas.microsoft.com/office/drawing/2014/main" val="1371919038"/>
                  </a:ext>
                </a:extLst>
              </a:tr>
              <a:tr h="0">
                <a:tc>
                  <a:txBody>
                    <a:bodyPr/>
                    <a:lstStyle/>
                    <a:p>
                      <a:pPr algn="ctr">
                        <a:buNone/>
                      </a:pPr>
                      <a:r>
                        <a:rPr lang="en-IN" dirty="0"/>
                        <a:t>P(X=x)</a:t>
                      </a:r>
                    </a:p>
                  </a:txBody>
                  <a:tcPr anchor="ctr"/>
                </a:tc>
                <a:tc>
                  <a:txBody>
                    <a:bodyPr/>
                    <a:lstStyle/>
                    <a:p>
                      <a:pPr algn="ctr">
                        <a:buNone/>
                      </a:pPr>
                      <a:r>
                        <a:rPr lang="en-IN"/>
                        <a:t>0.17</a:t>
                      </a:r>
                    </a:p>
                  </a:txBody>
                  <a:tcPr anchor="ctr"/>
                </a:tc>
                <a:tc>
                  <a:txBody>
                    <a:bodyPr/>
                    <a:lstStyle/>
                    <a:p>
                      <a:pPr algn="ctr">
                        <a:buNone/>
                      </a:pPr>
                      <a:r>
                        <a:rPr lang="en-IN"/>
                        <a:t>(k)</a:t>
                      </a:r>
                    </a:p>
                  </a:txBody>
                  <a:tcPr anchor="ctr"/>
                </a:tc>
                <a:tc>
                  <a:txBody>
                    <a:bodyPr/>
                    <a:lstStyle/>
                    <a:p>
                      <a:pPr algn="ctr">
                        <a:buNone/>
                      </a:pPr>
                      <a:r>
                        <a:rPr lang="en-IN"/>
                        <a:t>0.27</a:t>
                      </a:r>
                    </a:p>
                  </a:txBody>
                  <a:tcPr anchor="ctr"/>
                </a:tc>
                <a:tc>
                  <a:txBody>
                    <a:bodyPr/>
                    <a:lstStyle/>
                    <a:p>
                      <a:pPr algn="ctr">
                        <a:buNone/>
                      </a:pPr>
                      <a:r>
                        <a:rPr lang="en-IN"/>
                        <a:t>0.16</a:t>
                      </a:r>
                    </a:p>
                  </a:txBody>
                  <a:tcPr anchor="ctr"/>
                </a:tc>
                <a:tc>
                  <a:txBody>
                    <a:bodyPr/>
                    <a:lstStyle/>
                    <a:p>
                      <a:pPr algn="ctr">
                        <a:buNone/>
                      </a:pPr>
                      <a:r>
                        <a:rPr lang="en-IN" dirty="0"/>
                        <a:t>0.07</a:t>
                      </a:r>
                    </a:p>
                  </a:txBody>
                  <a:tcPr anchor="ctr"/>
                </a:tc>
                <a:tc>
                  <a:txBody>
                    <a:bodyPr/>
                    <a:lstStyle/>
                    <a:p>
                      <a:pPr algn="ctr">
                        <a:buNone/>
                      </a:pPr>
                      <a:r>
                        <a:rPr lang="en-IN" dirty="0"/>
                        <a:t>0.03</a:t>
                      </a:r>
                    </a:p>
                  </a:txBody>
                  <a:tcPr anchor="ctr"/>
                </a:tc>
                <a:tc>
                  <a:txBody>
                    <a:bodyPr/>
                    <a:lstStyle/>
                    <a:p>
                      <a:pPr algn="ctr">
                        <a:buNone/>
                      </a:pPr>
                      <a:r>
                        <a:rPr lang="en-IN" dirty="0"/>
                        <a:t>0.01</a:t>
                      </a:r>
                    </a:p>
                  </a:txBody>
                  <a:tcPr anchor="ctr"/>
                </a:tc>
                <a:extLst>
                  <a:ext uri="{0D108BD9-81ED-4DB2-BD59-A6C34878D82A}">
                    <a16:rowId xmlns:a16="http://schemas.microsoft.com/office/drawing/2014/main" val="3834679742"/>
                  </a:ext>
                </a:extLst>
              </a:tr>
            </a:tbl>
          </a:graphicData>
        </a:graphic>
      </p:graphicFrame>
      <p:sp>
        <p:nvSpPr>
          <p:cNvPr id="4" name="TextBox 3">
            <a:extLst>
              <a:ext uri="{FF2B5EF4-FFF2-40B4-BE49-F238E27FC236}">
                <a16:creationId xmlns:a16="http://schemas.microsoft.com/office/drawing/2014/main" id="{81322298-6354-FB81-CADB-D16269439561}"/>
              </a:ext>
            </a:extLst>
          </p:cNvPr>
          <p:cNvSpPr txBox="1"/>
          <p:nvPr/>
        </p:nvSpPr>
        <p:spPr>
          <a:xfrm>
            <a:off x="234445" y="160103"/>
            <a:ext cx="6096000" cy="646331"/>
          </a:xfrm>
          <a:prstGeom prst="rect">
            <a:avLst/>
          </a:prstGeom>
          <a:noFill/>
        </p:spPr>
        <p:txBody>
          <a:bodyPr wrap="square">
            <a:spAutoFit/>
          </a:bodyPr>
          <a:lstStyle/>
          <a:p>
            <a:r>
              <a:rPr lang="en-US" sz="3600" b="1" dirty="0">
                <a:solidFill>
                  <a:srgbClr val="00B050"/>
                </a:solidFill>
                <a:latin typeface="+mj-lt"/>
                <a:ea typeface="Calibri" panose="020F0502020204030204" pitchFamily="34" charset="0"/>
                <a:cs typeface="Calibri" panose="020F0502020204030204" pitchFamily="34" charset="0"/>
              </a:rPr>
              <a:t>Solution</a:t>
            </a:r>
            <a:endParaRPr lang="en-IN" dirty="0">
              <a:latin typeface="+mj-lt"/>
            </a:endParaRPr>
          </a:p>
        </p:txBody>
      </p:sp>
      <p:sp>
        <p:nvSpPr>
          <p:cNvPr id="8" name="Footer Placeholder 7">
            <a:extLst>
              <a:ext uri="{FF2B5EF4-FFF2-40B4-BE49-F238E27FC236}">
                <a16:creationId xmlns:a16="http://schemas.microsoft.com/office/drawing/2014/main" id="{8CF50F26-FCC6-B38A-6792-CA0232A024EB}"/>
              </a:ext>
            </a:extLst>
          </p:cNvPr>
          <p:cNvSpPr>
            <a:spLocks noGrp="1"/>
          </p:cNvSpPr>
          <p:nvPr>
            <p:ph type="ftr" sz="quarter" idx="11"/>
          </p:nvPr>
        </p:nvSpPr>
        <p:spPr/>
        <p:txBody>
          <a:bodyPr/>
          <a:lstStyle/>
          <a:p>
            <a:r>
              <a:rPr lang="en-IN"/>
              <a:t>W-2</a:t>
            </a:r>
          </a:p>
        </p:txBody>
      </p:sp>
      <p:sp>
        <p:nvSpPr>
          <p:cNvPr id="10" name="Slide Number Placeholder 9">
            <a:extLst>
              <a:ext uri="{FF2B5EF4-FFF2-40B4-BE49-F238E27FC236}">
                <a16:creationId xmlns:a16="http://schemas.microsoft.com/office/drawing/2014/main" id="{7C34D83F-5637-BB81-25A5-AAF68C33AA2B}"/>
              </a:ext>
            </a:extLst>
          </p:cNvPr>
          <p:cNvSpPr>
            <a:spLocks noGrp="1"/>
          </p:cNvSpPr>
          <p:nvPr>
            <p:ph type="sldNum" sz="quarter" idx="12"/>
          </p:nvPr>
        </p:nvSpPr>
        <p:spPr/>
        <p:txBody>
          <a:bodyPr/>
          <a:lstStyle/>
          <a:p>
            <a:pPr>
              <a:defRPr/>
            </a:pPr>
            <a:fld id="{799C83C6-4F87-48B4-8CF0-6A2F9115491D}" type="slidenum">
              <a:rPr lang="en-IN" smtClean="0"/>
              <a:pPr>
                <a:defRPr/>
              </a:pPr>
              <a:t>38</a:t>
            </a:fld>
            <a:endParaRPr lang="en-IN"/>
          </a:p>
        </p:txBody>
      </p:sp>
    </p:spTree>
    <p:extLst>
      <p:ext uri="{BB962C8B-B14F-4D97-AF65-F5344CB8AC3E}">
        <p14:creationId xmlns:p14="http://schemas.microsoft.com/office/powerpoint/2010/main" val="1055978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A16BD0-60B4-577C-3BB6-A6A5AEC0CA04}"/>
              </a:ext>
            </a:extLst>
          </p:cNvPr>
          <p:cNvSpPr txBox="1"/>
          <p:nvPr/>
        </p:nvSpPr>
        <p:spPr>
          <a:xfrm>
            <a:off x="162096" y="289237"/>
            <a:ext cx="11977007" cy="1200329"/>
          </a:xfrm>
          <a:prstGeom prst="rect">
            <a:avLst/>
          </a:prstGeom>
          <a:noFill/>
        </p:spPr>
        <p:txBody>
          <a:bodyPr wrap="square">
            <a:spAutoFit/>
          </a:bodyPr>
          <a:lstStyle/>
          <a:p>
            <a:pPr marL="0" marR="495935">
              <a:spcBef>
                <a:spcPts val="0"/>
              </a:spcBef>
              <a:spcAft>
                <a:spcPts val="0"/>
              </a:spcAft>
            </a:pPr>
            <a:r>
              <a:rPr lang="en-IN" sz="3600" b="1" kern="50" dirty="0">
                <a:solidFill>
                  <a:srgbClr val="FF0000"/>
                </a:solidFill>
                <a:effectLst/>
                <a:latin typeface="+mj-lt"/>
                <a:ea typeface="Calibri" panose="020F0502020204030204" pitchFamily="34" charset="0"/>
                <a:cs typeface="Calibri" panose="020F0502020204030204" pitchFamily="34" charset="0"/>
              </a:rPr>
              <a:t>Random Variable – Probability Distribution: </a:t>
            </a:r>
          </a:p>
          <a:p>
            <a:pPr marL="0" marR="495935">
              <a:spcBef>
                <a:spcPts val="0"/>
              </a:spcBef>
              <a:spcAft>
                <a:spcPts val="0"/>
              </a:spcAft>
            </a:pPr>
            <a:r>
              <a:rPr lang="en-IN" sz="3600" b="1" kern="50" dirty="0">
                <a:solidFill>
                  <a:srgbClr val="FF0000"/>
                </a:solidFill>
                <a:effectLst/>
                <a:latin typeface="+mj-lt"/>
                <a:ea typeface="Calibri" panose="020F0502020204030204" pitchFamily="34" charset="0"/>
                <a:cs typeface="Calibri" panose="020F0502020204030204" pitchFamily="34" charset="0"/>
              </a:rPr>
              <a:t>Problem 10</a:t>
            </a:r>
          </a:p>
        </p:txBody>
      </p:sp>
      <p:pic>
        <p:nvPicPr>
          <p:cNvPr id="11" name="Picture 10">
            <a:extLst>
              <a:ext uri="{FF2B5EF4-FFF2-40B4-BE49-F238E27FC236}">
                <a16:creationId xmlns:a16="http://schemas.microsoft.com/office/drawing/2014/main" id="{2B0DDEA9-44E1-BC0C-5E1A-54EFE3E83BE6}"/>
              </a:ext>
            </a:extLst>
          </p:cNvPr>
          <p:cNvPicPr>
            <a:picLocks noChangeAspect="1"/>
          </p:cNvPicPr>
          <p:nvPr/>
        </p:nvPicPr>
        <p:blipFill>
          <a:blip r:embed="rId2"/>
          <a:stretch>
            <a:fillRect/>
          </a:stretch>
        </p:blipFill>
        <p:spPr>
          <a:xfrm>
            <a:off x="162096" y="1644043"/>
            <a:ext cx="11896553" cy="1679421"/>
          </a:xfrm>
          <a:prstGeom prst="rect">
            <a:avLst/>
          </a:prstGeom>
        </p:spPr>
      </p:pic>
      <p:pic>
        <p:nvPicPr>
          <p:cNvPr id="2" name="Picture 1">
            <a:extLst>
              <a:ext uri="{FF2B5EF4-FFF2-40B4-BE49-F238E27FC236}">
                <a16:creationId xmlns:a16="http://schemas.microsoft.com/office/drawing/2014/main" id="{D625B2DC-F686-AFF2-ACD7-BD0CAE949F53}"/>
              </a:ext>
            </a:extLst>
          </p:cNvPr>
          <p:cNvPicPr>
            <a:picLocks noChangeAspect="1"/>
          </p:cNvPicPr>
          <p:nvPr/>
        </p:nvPicPr>
        <p:blipFill>
          <a:blip r:embed="rId3"/>
          <a:stretch>
            <a:fillRect/>
          </a:stretch>
        </p:blipFill>
        <p:spPr>
          <a:xfrm>
            <a:off x="848110" y="3632418"/>
            <a:ext cx="9696066" cy="2794428"/>
          </a:xfrm>
          <a:prstGeom prst="rect">
            <a:avLst/>
          </a:prstGeom>
        </p:spPr>
      </p:pic>
      <p:sp>
        <p:nvSpPr>
          <p:cNvPr id="4" name="Footer Placeholder 3">
            <a:extLst>
              <a:ext uri="{FF2B5EF4-FFF2-40B4-BE49-F238E27FC236}">
                <a16:creationId xmlns:a16="http://schemas.microsoft.com/office/drawing/2014/main" id="{C72B6080-1134-68AD-2360-D30DD987F7D5}"/>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5E4E8446-F16E-4E26-15E5-07D1BC19D794}"/>
              </a:ext>
            </a:extLst>
          </p:cNvPr>
          <p:cNvSpPr>
            <a:spLocks noGrp="1"/>
          </p:cNvSpPr>
          <p:nvPr>
            <p:ph type="sldNum" sz="quarter" idx="12"/>
          </p:nvPr>
        </p:nvSpPr>
        <p:spPr/>
        <p:txBody>
          <a:bodyPr/>
          <a:lstStyle/>
          <a:p>
            <a:pPr>
              <a:defRPr/>
            </a:pPr>
            <a:fld id="{799C83C6-4F87-48B4-8CF0-6A2F9115491D}" type="slidenum">
              <a:rPr lang="en-IN" smtClean="0"/>
              <a:pPr>
                <a:defRPr/>
              </a:pPr>
              <a:t>39</a:t>
            </a:fld>
            <a:endParaRPr lang="en-IN"/>
          </a:p>
        </p:txBody>
      </p:sp>
    </p:spTree>
    <p:extLst>
      <p:ext uri="{BB962C8B-B14F-4D97-AF65-F5344CB8AC3E}">
        <p14:creationId xmlns:p14="http://schemas.microsoft.com/office/powerpoint/2010/main" val="3545998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1ED3FDE-8A2F-586F-33D6-2295F7DB0344}"/>
                  </a:ext>
                </a:extLst>
              </p:cNvPr>
              <p:cNvSpPr>
                <a:spLocks noGrp="1"/>
              </p:cNvSpPr>
              <p:nvPr>
                <p:ph idx="4294967295"/>
              </p:nvPr>
            </p:nvSpPr>
            <p:spPr>
              <a:xfrm>
                <a:off x="0" y="1493838"/>
                <a:ext cx="10972800" cy="4525962"/>
              </a:xfrm>
            </p:spPr>
            <p:txBody>
              <a:bodyPr/>
              <a:lstStyle/>
              <a:p>
                <a:pPr algn="just">
                  <a:buNone/>
                </a:pPr>
                <a:r>
                  <a:rPr lang="en-IN" dirty="0">
                    <a:solidFill>
                      <a:srgbClr val="FF0000"/>
                    </a:solidFill>
                    <a:effectLst/>
                    <a:latin typeface="Times New Roman" panose="02020603050405020304" pitchFamily="18" charset="0"/>
                    <a:ea typeface="Times New Roman" panose="02020603050405020304" pitchFamily="18" charset="0"/>
                  </a:rPr>
                  <a:t>A data scientist is working on a machine learning model that predicts house prices based on various features such as size, location, and number of bedrooms. The model has some error in its predictions, represented by the random variable X. The error X follows the following  probability density function (PDF):</a:t>
                </a:r>
                <a:endParaRPr lang="en-IN" dirty="0">
                  <a:effectLst/>
                  <a:latin typeface="Times New Roman" panose="02020603050405020304" pitchFamily="18" charset="0"/>
                  <a:ea typeface="Times New Roman" panose="02020603050405020304" pitchFamily="18" charset="0"/>
                </a:endParaRPr>
              </a:p>
              <a:p>
                <a:pPr marL="457200" algn="just">
                  <a:buNone/>
                </a:pPr>
                <a14:m>
                  <m:oMathPara xmlns:m="http://schemas.openxmlformats.org/officeDocument/2006/math">
                    <m:oMathParaPr>
                      <m:jc m:val="centerGroup"/>
                    </m:oMathParaPr>
                    <m:oMath xmlns:m="http://schemas.openxmlformats.org/officeDocument/2006/math">
                      <m:r>
                        <a:rPr lang="en-IN" i="1">
                          <a:solidFill>
                            <a:srgbClr val="FF0000"/>
                          </a:solidFill>
                          <a:effectLst/>
                          <a:latin typeface="Cambria Math" panose="02040503050406030204" pitchFamily="18" charset="0"/>
                          <a:ea typeface="Times New Roman" panose="02020603050405020304" pitchFamily="18" charset="0"/>
                        </a:rPr>
                        <m:t>𝑓</m:t>
                      </m:r>
                      <m:d>
                        <m:dPr>
                          <m:ctrlPr>
                            <a:rPr lang="en-IN" i="1">
                              <a:solidFill>
                                <a:srgbClr val="FF0000"/>
                              </a:solidFill>
                              <a:effectLst/>
                              <a:latin typeface="Cambria Math" panose="02040503050406030204" pitchFamily="18" charset="0"/>
                              <a:ea typeface="Times New Roman" panose="02020603050405020304" pitchFamily="18" charset="0"/>
                            </a:rPr>
                          </m:ctrlPr>
                        </m:dPr>
                        <m:e>
                          <m:r>
                            <a:rPr lang="en-IN" i="1">
                              <a:solidFill>
                                <a:srgbClr val="FF0000"/>
                              </a:solidFill>
                              <a:effectLst/>
                              <a:latin typeface="Cambria Math" panose="02040503050406030204" pitchFamily="18" charset="0"/>
                              <a:ea typeface="Times New Roman" panose="02020603050405020304" pitchFamily="18" charset="0"/>
                            </a:rPr>
                            <m:t>𝑥</m:t>
                          </m:r>
                        </m:e>
                      </m:d>
                      <m:r>
                        <a:rPr lang="en-IN" i="1">
                          <a:solidFill>
                            <a:srgbClr val="FF0000"/>
                          </a:solidFill>
                          <a:effectLst/>
                          <a:latin typeface="Cambria Math" panose="02040503050406030204" pitchFamily="18" charset="0"/>
                          <a:ea typeface="Times New Roman" panose="02020603050405020304" pitchFamily="18" charset="0"/>
                        </a:rPr>
                        <m:t>=</m:t>
                      </m:r>
                      <m:d>
                        <m:dPr>
                          <m:begChr m:val="{"/>
                          <m:endChr m:val=""/>
                          <m:ctrlPr>
                            <a:rPr lang="en-IN" i="1">
                              <a:solidFill>
                                <a:srgbClr val="FF0000"/>
                              </a:solidFill>
                              <a:effectLst/>
                              <a:latin typeface="Cambria Math" panose="02040503050406030204" pitchFamily="18" charset="0"/>
                              <a:ea typeface="Times New Roman" panose="02020603050405020304" pitchFamily="18" charset="0"/>
                            </a:rPr>
                          </m:ctrlPr>
                        </m:dPr>
                        <m:e>
                          <m:m>
                            <m:mPr>
                              <m:mcs>
                                <m:mc>
                                  <m:mcPr>
                                    <m:count m:val="2"/>
                                    <m:mcJc m:val="center"/>
                                  </m:mcPr>
                                </m:mc>
                              </m:mcs>
                              <m:ctrlPr>
                                <a:rPr lang="en-IN" i="1">
                                  <a:solidFill>
                                    <a:srgbClr val="FF0000"/>
                                  </a:solidFill>
                                  <a:effectLst/>
                                  <a:latin typeface="Cambria Math" panose="02040503050406030204" pitchFamily="18" charset="0"/>
                                  <a:ea typeface="Times New Roman" panose="02020603050405020304" pitchFamily="18" charset="0"/>
                                </a:rPr>
                              </m:ctrlPr>
                            </m:mPr>
                            <m:mr>
                              <m:e>
                                <m:f>
                                  <m:fPr>
                                    <m:ctrlPr>
                                      <a:rPr lang="en-IN" i="1">
                                        <a:solidFill>
                                          <a:srgbClr val="FF0000"/>
                                        </a:solidFill>
                                        <a:effectLst/>
                                        <a:latin typeface="Cambria Math" panose="02040503050406030204" pitchFamily="18" charset="0"/>
                                        <a:ea typeface="Times New Roman" panose="02020603050405020304" pitchFamily="18" charset="0"/>
                                      </a:rPr>
                                    </m:ctrlPr>
                                  </m:fPr>
                                  <m:num>
                                    <m:r>
                                      <a:rPr lang="en-IN" i="1">
                                        <a:solidFill>
                                          <a:srgbClr val="FF0000"/>
                                        </a:solidFill>
                                        <a:effectLst/>
                                        <a:latin typeface="Cambria Math" panose="02040503050406030204" pitchFamily="18" charset="0"/>
                                        <a:ea typeface="Times New Roman" panose="02020603050405020304" pitchFamily="18" charset="0"/>
                                      </a:rPr>
                                      <m:t>𝑘</m:t>
                                    </m:r>
                                  </m:num>
                                  <m:den>
                                    <m:r>
                                      <a:rPr lang="en-IN" i="1">
                                        <a:solidFill>
                                          <a:srgbClr val="FF0000"/>
                                        </a:solidFill>
                                        <a:effectLst/>
                                        <a:latin typeface="Cambria Math" panose="02040503050406030204" pitchFamily="18" charset="0"/>
                                        <a:ea typeface="Times New Roman" panose="02020603050405020304" pitchFamily="18" charset="0"/>
                                      </a:rPr>
                                      <m:t>6</m:t>
                                    </m:r>
                                  </m:den>
                                </m:f>
                              </m:e>
                              <m:e>
                                <m:r>
                                  <a:rPr lang="en-IN" i="1">
                                    <a:solidFill>
                                      <a:srgbClr val="FF0000"/>
                                    </a:solidFill>
                                    <a:effectLst/>
                                    <a:latin typeface="Cambria Math" panose="02040503050406030204" pitchFamily="18" charset="0"/>
                                    <a:ea typeface="Times New Roman" panose="02020603050405020304" pitchFamily="18" charset="0"/>
                                  </a:rPr>
                                  <m:t>−3≤</m:t>
                                </m:r>
                                <m:r>
                                  <a:rPr lang="en-IN" i="1">
                                    <a:solidFill>
                                      <a:srgbClr val="FF0000"/>
                                    </a:solidFill>
                                    <a:effectLst/>
                                    <a:latin typeface="Cambria Math" panose="02040503050406030204" pitchFamily="18" charset="0"/>
                                    <a:ea typeface="Times New Roman" panose="02020603050405020304" pitchFamily="18" charset="0"/>
                                  </a:rPr>
                                  <m:t>𝑥</m:t>
                                </m:r>
                                <m:r>
                                  <a:rPr lang="en-IN" i="1">
                                    <a:solidFill>
                                      <a:srgbClr val="FF0000"/>
                                    </a:solidFill>
                                    <a:effectLst/>
                                    <a:latin typeface="Cambria Math" panose="02040503050406030204" pitchFamily="18" charset="0"/>
                                    <a:ea typeface="Times New Roman" panose="02020603050405020304" pitchFamily="18" charset="0"/>
                                  </a:rPr>
                                  <m:t>≤ 3</m:t>
                                </m:r>
                              </m:e>
                            </m:mr>
                            <m:mr>
                              <m:e>
                                <m:r>
                                  <a:rPr lang="en-IN" i="1">
                                    <a:solidFill>
                                      <a:srgbClr val="FF0000"/>
                                    </a:solidFill>
                                    <a:effectLst/>
                                    <a:latin typeface="Cambria Math" panose="02040503050406030204" pitchFamily="18" charset="0"/>
                                    <a:ea typeface="Times New Roman" panose="02020603050405020304" pitchFamily="18" charset="0"/>
                                  </a:rPr>
                                  <m:t>0</m:t>
                                </m:r>
                              </m:e>
                              <m:e>
                                <m:r>
                                  <a:rPr lang="en-IN" i="1">
                                    <a:solidFill>
                                      <a:srgbClr val="FF0000"/>
                                    </a:solidFill>
                                    <a:effectLst/>
                                    <a:latin typeface="Cambria Math" panose="02040503050406030204" pitchFamily="18" charset="0"/>
                                    <a:ea typeface="Times New Roman" panose="02020603050405020304" pitchFamily="18" charset="0"/>
                                  </a:rPr>
                                  <m:t>𝑜𝑡h𝑒𝑟𝑤𝑖𝑠𝑒</m:t>
                                </m:r>
                              </m:e>
                            </m:mr>
                          </m:m>
                        </m:e>
                      </m:d>
                    </m:oMath>
                  </m:oMathPara>
                </a14:m>
                <a:endParaRPr lang="en-IN" dirty="0">
                  <a:effectLst/>
                  <a:latin typeface="Times New Roman" panose="02020603050405020304" pitchFamily="18" charset="0"/>
                  <a:ea typeface="Times New Roman" panose="02020603050405020304" pitchFamily="18" charset="0"/>
                </a:endParaRPr>
              </a:p>
              <a:p>
                <a:pPr>
                  <a:buNone/>
                </a:pPr>
                <a:r>
                  <a:rPr lang="en-US" dirty="0">
                    <a:solidFill>
                      <a:srgbClr val="FF0000"/>
                    </a:solidFill>
                    <a:effectLst/>
                    <a:latin typeface="Times New Roman" panose="02020603050405020304" pitchFamily="18" charset="0"/>
                    <a:ea typeface="Calibri" panose="020F0502020204030204" pitchFamily="34" charset="0"/>
                  </a:rPr>
                  <a:t>Calculate </a:t>
                </a:r>
                <a14:m>
                  <m:oMath xmlns:m="http://schemas.openxmlformats.org/officeDocument/2006/math">
                    <m:r>
                      <a:rPr lang="en-US"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𝑖</m:t>
                    </m:r>
                    <m:r>
                      <a:rPr lang="en-US"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solidFill>
                      <a:srgbClr val="FF0000"/>
                    </a:solidFill>
                    <a:effectLst/>
                    <a:latin typeface="Times New Roman" panose="02020603050405020304" pitchFamily="18" charset="0"/>
                    <a:ea typeface="Calibri" panose="020F0502020204030204" pitchFamily="34" charset="0"/>
                  </a:rPr>
                  <a:t>  the value of k  , </a:t>
                </a:r>
                <a14:m>
                  <m:oMath xmlns:m="http://schemas.openxmlformats.org/officeDocument/2006/math">
                    <m:r>
                      <a:rPr lang="en-US"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𝑖𝑖</m:t>
                    </m:r>
                    <m:r>
                      <a:rPr lang="en-US"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solidFill>
                      <a:srgbClr val="FF0000"/>
                    </a:solidFill>
                    <a:effectLst/>
                    <a:latin typeface="Times New Roman" panose="02020603050405020304" pitchFamily="18" charset="0"/>
                    <a:ea typeface="Calibri" panose="020F0502020204030204" pitchFamily="34" charset="0"/>
                  </a:rPr>
                  <a:t>the expected value of error </a:t>
                </a:r>
                <a14:m>
                  <m:oMath xmlns:m="http://schemas.openxmlformats.org/officeDocument/2006/math">
                    <m:r>
                      <a:rPr lang="en-US"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𝑖𝑖𝑖</m:t>
                    </m:r>
                    <m:r>
                      <a:rPr lang="en-US" i="1">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solidFill>
                      <a:srgbClr val="FF0000"/>
                    </a:solidFill>
                    <a:effectLst/>
                    <a:latin typeface="Times New Roman" panose="02020603050405020304" pitchFamily="18" charset="0"/>
                    <a:ea typeface="Calibri" panose="020F0502020204030204" pitchFamily="34" charset="0"/>
                  </a:rPr>
                  <a:t> Compute the variance of the error.										 </a:t>
                </a:r>
                <a:endParaRPr lang="en-IN" dirty="0"/>
              </a:p>
            </p:txBody>
          </p:sp>
        </mc:Choice>
        <mc:Fallback xmlns="">
          <p:sp>
            <p:nvSpPr>
              <p:cNvPr id="2" name="Content Placeholder 1">
                <a:extLst>
                  <a:ext uri="{FF2B5EF4-FFF2-40B4-BE49-F238E27FC236}">
                    <a16:creationId xmlns:a16="http://schemas.microsoft.com/office/drawing/2014/main" id="{81ED3FDE-8A2F-586F-33D6-2295F7DB0344}"/>
                  </a:ext>
                </a:extLst>
              </p:cNvPr>
              <p:cNvSpPr>
                <a:spLocks noGrp="1" noRot="1" noChangeAspect="1" noMove="1" noResize="1" noEditPoints="1" noAdjustHandles="1" noChangeArrowheads="1" noChangeShapeType="1" noTextEdit="1"/>
              </p:cNvSpPr>
              <p:nvPr>
                <p:ph idx="4294967295"/>
              </p:nvPr>
            </p:nvSpPr>
            <p:spPr>
              <a:xfrm>
                <a:off x="0" y="1493838"/>
                <a:ext cx="10972800" cy="4525962"/>
              </a:xfrm>
              <a:blipFill>
                <a:blip r:embed="rId2"/>
                <a:stretch>
                  <a:fillRect l="-1111" t="-2288" r="-1111"/>
                </a:stretch>
              </a:blipFill>
            </p:spPr>
            <p:txBody>
              <a:bodyPr/>
              <a:lstStyle/>
              <a:p>
                <a:r>
                  <a:rPr lang="en-IN">
                    <a:noFill/>
                  </a:rPr>
                  <a:t> </a:t>
                </a:r>
              </a:p>
            </p:txBody>
          </p:sp>
        </mc:Fallback>
      </mc:AlternateContent>
      <p:sp>
        <p:nvSpPr>
          <p:cNvPr id="3" name="Content Placeholder 2">
            <a:extLst>
              <a:ext uri="{FF2B5EF4-FFF2-40B4-BE49-F238E27FC236}">
                <a16:creationId xmlns:a16="http://schemas.microsoft.com/office/drawing/2014/main" id="{C75B5CDA-E213-D64C-425C-7C2316B8A9B7}"/>
              </a:ext>
            </a:extLst>
          </p:cNvPr>
          <p:cNvSpPr>
            <a:spLocks noGrp="1"/>
          </p:cNvSpPr>
          <p:nvPr>
            <p:ph sz="quarter" idx="4294967295"/>
          </p:nvPr>
        </p:nvSpPr>
        <p:spPr>
          <a:xfrm>
            <a:off x="0" y="152400"/>
            <a:ext cx="8432800" cy="1143000"/>
          </a:xfrm>
        </p:spPr>
        <p:txBody>
          <a:bodyPr>
            <a:normAutofit/>
          </a:bodyPr>
          <a:lstStyle/>
          <a:p>
            <a:pPr marL="0" indent="0">
              <a:buNone/>
            </a:pPr>
            <a:r>
              <a:rPr lang="en-IN" sz="3600" b="1" kern="50" dirty="0">
                <a:solidFill>
                  <a:srgbClr val="00000A"/>
                </a:solidFill>
                <a:latin typeface="+mj-lt"/>
                <a:ea typeface="Calibri" panose="020F0502020204030204" pitchFamily="34" charset="0"/>
                <a:cs typeface="Calibri" panose="020F0502020204030204" pitchFamily="34" charset="0"/>
              </a:rPr>
              <a:t>Continuous</a:t>
            </a:r>
            <a:r>
              <a:rPr lang="en-IN" sz="3600" b="1" kern="50" dirty="0">
                <a:solidFill>
                  <a:srgbClr val="00000A"/>
                </a:solidFill>
                <a:effectLst/>
                <a:latin typeface="+mj-lt"/>
                <a:ea typeface="Calibri" panose="020F0502020204030204" pitchFamily="34" charset="0"/>
                <a:cs typeface="Calibri" panose="020F0502020204030204" pitchFamily="34" charset="0"/>
              </a:rPr>
              <a:t> Random Variables: Problem 11</a:t>
            </a:r>
          </a:p>
          <a:p>
            <a:endParaRPr lang="en-IN" sz="3600" b="1" dirty="0">
              <a:latin typeface="+mj-lt"/>
            </a:endParaRPr>
          </a:p>
        </p:txBody>
      </p:sp>
      <p:sp>
        <p:nvSpPr>
          <p:cNvPr id="5" name="Explosion: 8 Points 4">
            <a:extLst>
              <a:ext uri="{FF2B5EF4-FFF2-40B4-BE49-F238E27FC236}">
                <a16:creationId xmlns:a16="http://schemas.microsoft.com/office/drawing/2014/main" id="{E0E2ECCF-E7A1-329B-DE3A-CB8696FDE9A8}"/>
              </a:ext>
            </a:extLst>
          </p:cNvPr>
          <p:cNvSpPr/>
          <p:nvPr/>
        </p:nvSpPr>
        <p:spPr>
          <a:xfrm>
            <a:off x="8839200" y="180681"/>
            <a:ext cx="2821757" cy="1506718"/>
          </a:xfrm>
          <a:prstGeom prst="irregularSeal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EC2 M S1-24</a:t>
            </a:r>
          </a:p>
        </p:txBody>
      </p:sp>
      <p:sp>
        <p:nvSpPr>
          <p:cNvPr id="4" name="Footer Placeholder 3">
            <a:extLst>
              <a:ext uri="{FF2B5EF4-FFF2-40B4-BE49-F238E27FC236}">
                <a16:creationId xmlns:a16="http://schemas.microsoft.com/office/drawing/2014/main" id="{520BE2CF-CC42-D21F-81F9-F9A0CB70F5BB}"/>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9700986B-8A9A-23E8-CD56-D6573F8B40E3}"/>
              </a:ext>
            </a:extLst>
          </p:cNvPr>
          <p:cNvSpPr>
            <a:spLocks noGrp="1"/>
          </p:cNvSpPr>
          <p:nvPr>
            <p:ph type="sldNum" sz="quarter" idx="12"/>
          </p:nvPr>
        </p:nvSpPr>
        <p:spPr/>
        <p:txBody>
          <a:bodyPr/>
          <a:lstStyle/>
          <a:p>
            <a:pPr>
              <a:defRPr/>
            </a:pPr>
            <a:fld id="{799C83C6-4F87-48B4-8CF0-6A2F9115491D}" type="slidenum">
              <a:rPr lang="en-IN" smtClean="0"/>
              <a:pPr>
                <a:defRPr/>
              </a:pPr>
              <a:t>40</a:t>
            </a:fld>
            <a:endParaRPr lang="en-IN"/>
          </a:p>
        </p:txBody>
      </p:sp>
    </p:spTree>
    <p:extLst>
      <p:ext uri="{BB962C8B-B14F-4D97-AF65-F5344CB8AC3E}">
        <p14:creationId xmlns:p14="http://schemas.microsoft.com/office/powerpoint/2010/main" val="17516664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610CA-A9E0-8CF7-5A69-4078210B72B8}"/>
              </a:ext>
            </a:extLst>
          </p:cNvPr>
          <p:cNvSpPr>
            <a:spLocks noGrp="1"/>
          </p:cNvSpPr>
          <p:nvPr>
            <p:ph type="title" idx="4294967295"/>
          </p:nvPr>
        </p:nvSpPr>
        <p:spPr>
          <a:xfrm>
            <a:off x="0" y="274638"/>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11 - Solution</a:t>
            </a:r>
            <a:endParaRPr lang="en-IN" sz="3600" dirty="0"/>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AD6D2CE9-0A11-F8B2-F02B-E774A07E7530}"/>
                  </a:ext>
                </a:extLst>
              </p:cNvPr>
              <p:cNvSpPr>
                <a:spLocks noGrp="1"/>
              </p:cNvSpPr>
              <p:nvPr>
                <p:ph type="subTitle" idx="4294967295"/>
              </p:nvPr>
            </p:nvSpPr>
            <p:spPr>
              <a:xfrm>
                <a:off x="904875" y="1391443"/>
                <a:ext cx="10972800" cy="4964907"/>
              </a:xfrm>
            </p:spPr>
            <p:txBody>
              <a:bodyPr>
                <a:noAutofit/>
              </a:bodyPr>
              <a:lstStyle/>
              <a:p>
                <a:pPr marL="0" marR="0" lvl="0" indent="0" algn="l" defTabSz="914400" rtl="0" eaLnBrk="0" fontAlgn="base" latinLnBrk="0" hangingPunct="0">
                  <a:lnSpc>
                    <a:spcPct val="107000"/>
                  </a:lnSpc>
                  <a:spcBef>
                    <a:spcPct val="0"/>
                  </a:spcBef>
                  <a:spcAft>
                    <a:spcPts val="800"/>
                  </a:spcAft>
                  <a:buClrTx/>
                  <a:buSzTx/>
                  <a:buFontTx/>
                  <a:buNone/>
                  <a:tabLst/>
                  <a:defRPr/>
                </a:pPr>
                <a14:m>
                  <m:oMath xmlns:m="http://schemas.openxmlformats.org/officeDocument/2006/math">
                    <m:r>
                      <a:rPr kumimoji="0" lang="en-US" sz="2400" b="0" i="1" u="none" strike="noStrike" kern="0" cap="none" spc="0" normalizeH="0" baseline="0" noProof="0" smtClean="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𝑖</m:t>
                    </m:r>
                    <m:r>
                      <a:rPr kumimoji="0" lang="en-US" sz="2400" b="0" i="1" u="none" strike="noStrike" kern="0" cap="none" spc="0" normalizeH="0" baseline="0" noProof="0" smtClean="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 ) </m:t>
                    </m:r>
                  </m:oMath>
                </a14:m>
                <a:r>
                  <a:rPr kumimoji="0" lang="en-IN" sz="24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For a valid probability distribution, the total probability over the range must equal 1. </a:t>
                </a:r>
              </a:p>
              <a:p>
                <a:pPr marL="457200" marR="0" lvl="0" indent="0" algn="l" defTabSz="914400" rtl="0" eaLnBrk="0" fontAlgn="base" latinLnBrk="0" hangingPunct="0">
                  <a:lnSpc>
                    <a:spcPct val="107000"/>
                  </a:lnSpc>
                  <a:spcBef>
                    <a:spcPct val="0"/>
                  </a:spcBef>
                  <a:spcAft>
                    <a:spcPct val="0"/>
                  </a:spcAft>
                  <a:buClrTx/>
                  <a:buSzTx/>
                  <a:buFontTx/>
                  <a:buNone/>
                  <a:tabLst/>
                  <a:defRPr/>
                </a:pPr>
                <a14:m>
                  <m:oMath xmlns:m="http://schemas.openxmlformats.org/officeDocument/2006/math">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m:t>
                    </m:r>
                    <m:nary>
                      <m:naryPr>
                        <m:limLoc m:val="subSup"/>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ctrlPr>
                      </m:naryPr>
                      <m:sub>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3</m:t>
                        </m:r>
                      </m:sub>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3</m:t>
                        </m:r>
                      </m:sup>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𝑓</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𝑥</m:t>
                            </m:r>
                          </m:e>
                        </m:d>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𝑑𝑥</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Calibri" panose="020F0502020204030204" pitchFamily="34" charset="0"/>
                            <a:cs typeface="Times New Roman" panose="02020603050405020304" pitchFamily="18" charset="0"/>
                          </a:rPr>
                          <m:t>1</m:t>
                        </m:r>
                      </m:e>
                    </m:nary>
                  </m:oMath>
                </a14:m>
                <a:r>
                  <a:rPr kumimoji="0" lang="en-US" sz="2400"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nary>
                      <m:naryPr>
                        <m:limLoc m:val="subSup"/>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naryPr>
                      <m:sub>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b>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p>
                      <m:e>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𝑘</m:t>
                            </m:r>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m:t>
                            </m:r>
                          </m:den>
                        </m:f>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𝑑𝑥</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𝑘</m:t>
                            </m:r>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m:t>
                            </m:r>
                          </m:den>
                        </m:f>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e>
                            </m:d>
                          </m:e>
                        </m:d>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𝑘</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e>
                    </m:nary>
                  </m:oMath>
                </a14:m>
                <a:endParaRPr kumimoji="0" lang="en-IN" sz="24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0" algn="l" defTabSz="914400" rtl="0" eaLnBrk="0" fontAlgn="base" latinLnBrk="0" hangingPunct="0">
                  <a:lnSpc>
                    <a:spcPct val="107000"/>
                  </a:lnSpc>
                  <a:spcBef>
                    <a:spcPct val="0"/>
                  </a:spcBef>
                  <a:spcAft>
                    <a:spcPct val="0"/>
                  </a:spcAft>
                  <a:buClrTx/>
                  <a:buSzTx/>
                  <a:buFontTx/>
                  <a:buNone/>
                  <a:tabLst/>
                  <a:defRPr/>
                </a:pPr>
                <a:r>
                  <a:rPr kumimoji="0" lang="en-US" sz="2400"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𝑖𝑖</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r>
                  <a:rPr kumimoji="0" lang="en-US" sz="2400"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d>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nary>
                      <m:naryPr>
                        <m:limLoc m:val="subSup"/>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naryPr>
                      <m:sub>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b>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p>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𝑥</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m:t>
                            </m:r>
                          </m:den>
                        </m:f>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𝑑𝑥</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d>
                              <m:dPr>
                                <m:begChr m:val="["/>
                                <m:endChr m:val="]"/>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𝑥</m:t>
                                        </m:r>
                                      </m:e>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12</m:t>
                                    </m:r>
                                  </m:den>
                                </m:f>
                              </m:e>
                            </m:d>
                          </m:e>
                          <m:sub>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b>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p>
                        </m:sSub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nary>
                  </m:oMath>
                </a14:m>
                <a:endParaRPr kumimoji="0" lang="en-IN" sz="24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0" algn="l" defTabSz="914400" rtl="0" eaLnBrk="0" fontAlgn="base" latinLnBrk="0" hangingPunct="0">
                  <a:lnSpc>
                    <a:spcPct val="107000"/>
                  </a:lnSpc>
                  <a:spcBef>
                    <a:spcPct val="0"/>
                  </a:spcBef>
                  <a:spcAft>
                    <a:spcPct val="0"/>
                  </a:spcAft>
                  <a:buClrTx/>
                  <a:buSzTx/>
                  <a:buFontTx/>
                  <a:buNone/>
                  <a:tabLst/>
                  <a:defRPr/>
                </a:pPr>
                <a:endParaRPr kumimoji="0" lang="en-IN" sz="24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0" algn="l" defTabSz="914400" rtl="0" eaLnBrk="0" fontAlgn="base" latinLnBrk="0" hangingPunct="0">
                  <a:lnSpc>
                    <a:spcPct val="107000"/>
                  </a:lnSpc>
                  <a:spcBef>
                    <a:spcPct val="0"/>
                  </a:spcBef>
                  <a:spcAft>
                    <a:spcPct val="0"/>
                  </a:spcAft>
                  <a:buClrTx/>
                  <a:buSzTx/>
                  <a:buFontTx/>
                  <a:buNone/>
                  <a:tabLst/>
                  <a:defRPr/>
                </a:pPr>
                <a:r>
                  <a:rPr kumimoji="0" lang="en-US" sz="2400"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𝑖𝑖𝑖</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𝑉𝑎𝑟</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𝑥</m:t>
                        </m:r>
                      </m:e>
                    </m:d>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e>
                    </m:d>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p>
                      <m:s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d>
                          </m:e>
                        </m:d>
                      </m:e>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r>
                  <a:rPr kumimoji="0" lang="en-US" sz="2400"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24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457200" marR="0" lvl="0" indent="0" algn="l" defTabSz="914400" rtl="0" eaLnBrk="0" fontAlgn="base" latinLnBrk="0" hangingPunct="0">
                  <a:lnSpc>
                    <a:spcPct val="107000"/>
                  </a:lnSpc>
                  <a:spcBef>
                    <a:spcPct val="0"/>
                  </a:spcBef>
                  <a:spcAft>
                    <a:spcPct val="0"/>
                  </a:spcAft>
                  <a:buClrTx/>
                  <a:buSzTx/>
                  <a:buFontTx/>
                  <a:buNone/>
                  <a:tabLst/>
                  <a:defRPr/>
                </a:pPr>
                <a:r>
                  <a:rPr kumimoji="0" lang="en-US" sz="2400" b="0" i="0" u="none" strike="noStrike" kern="0" cap="none" spc="0" normalizeH="0" baseline="0" noProof="0" dirty="0">
                    <a:ln>
                      <a:noFill/>
                    </a:ln>
                    <a:solidFill>
                      <a:schemeClr val="tx1"/>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𝐸</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sSup>
                          <m:s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e>
                    </m:d>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SupPr>
                      <m:e>
                        <m:nary>
                          <m:naryPr>
                            <m:limLoc m:val="subSup"/>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naryPr>
                          <m:sub>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b>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p>
                          <m:e>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𝑥</m:t>
                                    </m:r>
                                  </m:e>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m:t>
                                </m:r>
                              </m:den>
                            </m:f>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𝑑𝑥</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d>
                              <m:dPr>
                                <m:begChr m:val="["/>
                                <m:endChr m:val="]"/>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𝑥</m:t>
                                        </m:r>
                                      </m:e>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p>
                                    </m:sSup>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18</m:t>
                                    </m:r>
                                  </m:den>
                                </m:f>
                              </m:e>
                            </m:d>
                          </m:e>
                        </m:nary>
                      </m:e>
                      <m:sub>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b>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sup>
                    </m:sSub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m:t>
                        </m:r>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m:t>
                        </m:r>
                      </m:den>
                    </m:f>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27</m:t>
                            </m:r>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den>
                        </m:f>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27</m:t>
                                </m:r>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den>
                            </m:f>
                          </m:e>
                        </m:d>
                      </m:e>
                    </m:d>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f>
                      <m:f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18</m:t>
                        </m:r>
                      </m:num>
                      <m:den>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6</m:t>
                        </m:r>
                      </m:den>
                    </m:f>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a14:m>
                <a:endParaRPr kumimoji="0" lang="en-IN" sz="24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133350" marR="0" lvl="0" indent="0" algn="l" defTabSz="914400" rtl="0" eaLnBrk="0" fontAlgn="base" latinLnBrk="0" hangingPunct="0">
                  <a:lnSpc>
                    <a:spcPct val="107000"/>
                  </a:lnSpc>
                  <a:spcBef>
                    <a:spcPct val="0"/>
                  </a:spcBef>
                  <a:spcAft>
                    <a:spcPts val="800"/>
                  </a:spcAft>
                  <a:buClrTx/>
                  <a:buSzTx/>
                  <a:buFontTx/>
                  <a:buNone/>
                  <a:tabLst/>
                  <a:defRPr/>
                </a:pPr>
                <a14:m>
                  <m:oMathPara xmlns:m="http://schemas.openxmlformats.org/officeDocument/2006/math">
                    <m:oMathParaPr>
                      <m:jc m:val="left"/>
                    </m:oMathParaPr>
                    <m:oMath xmlns:m="http://schemas.openxmlformats.org/officeDocument/2006/math">
                      <m:r>
                        <a:rPr kumimoji="0" lang="en-US" sz="2400" b="0" i="1" u="none" strike="noStrike" kern="0" cap="none" spc="0" normalizeH="0" baseline="0" noProof="0" smtClean="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kumimoji="0" lang="en-US" sz="2400" b="0" i="1" u="none" strike="noStrike" kern="0" cap="none" spc="0" normalizeH="0" baseline="0" noProof="0" dirty="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endParaRPr>
              </a:p>
              <a:p>
                <a:pPr marL="133350" marR="0" lvl="0" indent="0" algn="l" defTabSz="914400" rtl="0" eaLnBrk="0" fontAlgn="base" latinLnBrk="0" hangingPunct="0">
                  <a:lnSpc>
                    <a:spcPct val="107000"/>
                  </a:lnSpc>
                  <a:spcBef>
                    <a:spcPct val="0"/>
                  </a:spcBef>
                  <a:spcAft>
                    <a:spcPts val="800"/>
                  </a:spcAft>
                  <a:buClrTx/>
                  <a:buSzTx/>
                  <a:buFontTx/>
                  <a:buNone/>
                  <a:tabLst/>
                  <a:defRPr/>
                </a:pPr>
                <a:r>
                  <a:rPr kumimoji="0" lang="en-US" sz="2400" b="0" i="0" u="none" strike="noStrike" kern="0" cap="none" spc="0" normalizeH="0" baseline="0" noProof="0" dirty="0">
                    <a:ln>
                      <a:noFill/>
                    </a:ln>
                    <a:solidFill>
                      <a:schemeClr val="tx1"/>
                    </a:solidFill>
                    <a:effectLst/>
                    <a:uLnTx/>
                    <a:uFillTx/>
                    <a:latin typeface="Arial" panose="020B0604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𝑉𝑎𝑟</m:t>
                    </m:r>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𝑋</m:t>
                        </m:r>
                      </m:e>
                    </m:d>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p>
                      <m:sSup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dPr>
                          <m:e>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0</m:t>
                            </m:r>
                          </m:e>
                        </m:d>
                      </m:e>
                      <m: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2</m:t>
                        </m:r>
                      </m:sup>
                    </m:sSup>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3</m:t>
                    </m:r>
                    <m:r>
                      <a:rPr kumimoji="0" lang="en-US" sz="2400" b="0" i="1" u="none" strike="noStrike" kern="0" cap="none" spc="0" normalizeH="0" baseline="0" noProof="0">
                        <a:ln>
                          <a:noFill/>
                        </a:ln>
                        <a:solidFill>
                          <a:schemeClr val="tx1"/>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oMath>
                </a14:m>
                <a:endParaRPr kumimoji="0" lang="en-IN" sz="2400" b="0" i="0" u="none" strike="noStrike" kern="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107950" indent="0">
                  <a:buNone/>
                </a:pPr>
                <a:endParaRPr lang="en-IN" sz="2400" dirty="0">
                  <a:solidFill>
                    <a:schemeClr val="tx1"/>
                  </a:solidFill>
                </a:endParaRPr>
              </a:p>
            </p:txBody>
          </p:sp>
        </mc:Choice>
        <mc:Fallback xmlns="">
          <p:sp>
            <p:nvSpPr>
              <p:cNvPr id="3" name="Subtitle 2">
                <a:extLst>
                  <a:ext uri="{FF2B5EF4-FFF2-40B4-BE49-F238E27FC236}">
                    <a16:creationId xmlns:a16="http://schemas.microsoft.com/office/drawing/2014/main" id="{AD6D2CE9-0A11-F8B2-F02B-E774A07E7530}"/>
                  </a:ext>
                </a:extLst>
              </p:cNvPr>
              <p:cNvSpPr>
                <a:spLocks noGrp="1" noRot="1" noChangeAspect="1" noMove="1" noResize="1" noEditPoints="1" noAdjustHandles="1" noChangeArrowheads="1" noChangeShapeType="1" noTextEdit="1"/>
              </p:cNvSpPr>
              <p:nvPr>
                <p:ph type="subTitle" idx="4294967295"/>
              </p:nvPr>
            </p:nvSpPr>
            <p:spPr>
              <a:xfrm>
                <a:off x="904875" y="1391443"/>
                <a:ext cx="10972800" cy="4964907"/>
              </a:xfrm>
              <a:blipFill>
                <a:blip r:embed="rId2"/>
                <a:stretch>
                  <a:fillRect l="-111" t="-982" r="-333"/>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3C6DB379-A128-992B-9ACA-57250E11A4F7}"/>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D89B27B8-446E-1CB3-D2CF-8EB2686106FB}"/>
              </a:ext>
            </a:extLst>
          </p:cNvPr>
          <p:cNvSpPr>
            <a:spLocks noGrp="1"/>
          </p:cNvSpPr>
          <p:nvPr>
            <p:ph type="sldNum" sz="quarter" idx="12"/>
          </p:nvPr>
        </p:nvSpPr>
        <p:spPr/>
        <p:txBody>
          <a:bodyPr/>
          <a:lstStyle/>
          <a:p>
            <a:pPr>
              <a:defRPr/>
            </a:pPr>
            <a:fld id="{799C83C6-4F87-48B4-8CF0-6A2F9115491D}" type="slidenum">
              <a:rPr lang="en-IN" smtClean="0"/>
              <a:pPr>
                <a:defRPr/>
              </a:pPr>
              <a:t>41</a:t>
            </a:fld>
            <a:endParaRPr lang="en-IN"/>
          </a:p>
        </p:txBody>
      </p:sp>
    </p:spTree>
    <p:extLst>
      <p:ext uri="{BB962C8B-B14F-4D97-AF65-F5344CB8AC3E}">
        <p14:creationId xmlns:p14="http://schemas.microsoft.com/office/powerpoint/2010/main" val="337004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2721C-F80D-9380-1BAD-E7B9901E8248}"/>
              </a:ext>
            </a:extLst>
          </p:cNvPr>
          <p:cNvSpPr>
            <a:spLocks noGrp="1"/>
          </p:cNvSpPr>
          <p:nvPr>
            <p:ph type="title" idx="4294967295"/>
          </p:nvPr>
        </p:nvSpPr>
        <p:spPr>
          <a:xfrm>
            <a:off x="0" y="274638"/>
            <a:ext cx="10191750" cy="849312"/>
          </a:xfrm>
        </p:spPr>
        <p:txBody>
          <a:bodyPr>
            <a:noAutofit/>
          </a:bodyPr>
          <a:lstStyle/>
          <a:p>
            <a:pPr algn="l"/>
            <a:br>
              <a:rPr lang="en-IN" sz="3600" kern="50" dirty="0">
                <a:solidFill>
                  <a:srgbClr val="00000A"/>
                </a:solidFill>
                <a:ea typeface="Calibri" panose="020F0502020204030204" pitchFamily="34" charset="0"/>
                <a:cs typeface="Calibri" panose="020F0502020204030204" pitchFamily="34" charset="0"/>
              </a:rPr>
            </a:br>
            <a:r>
              <a:rPr lang="en-IN" sz="3600" b="1" kern="50" dirty="0">
                <a:solidFill>
                  <a:schemeClr val="tx1"/>
                </a:solidFill>
                <a:ea typeface="Calibri" panose="020F0502020204030204" pitchFamily="34" charset="0"/>
                <a:cs typeface="Calibri" panose="020F0502020204030204" pitchFamily="34" charset="0"/>
              </a:rPr>
              <a:t>Continuous</a:t>
            </a:r>
            <a:r>
              <a:rPr lang="en-IN" sz="3600" b="1" kern="50" dirty="0">
                <a:solidFill>
                  <a:schemeClr val="tx1"/>
                </a:solidFill>
                <a:effectLst/>
                <a:ea typeface="Calibri" panose="020F0502020204030204" pitchFamily="34" charset="0"/>
                <a:cs typeface="Calibri" panose="020F0502020204030204" pitchFamily="34" charset="0"/>
              </a:rPr>
              <a:t> Random Variables – Problem 12</a:t>
            </a:r>
            <a:br>
              <a:rPr lang="en-IN" sz="3600" b="1" kern="50" dirty="0">
                <a:solidFill>
                  <a:srgbClr val="00000A"/>
                </a:solidFill>
                <a:effectLst/>
                <a:ea typeface="Calibri" panose="020F0502020204030204" pitchFamily="34" charset="0"/>
                <a:cs typeface="Calibri" panose="020F0502020204030204" pitchFamily="34" charset="0"/>
              </a:rPr>
            </a:br>
            <a:endParaRPr lang="en-IN" sz="3600" dirty="0"/>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31D14741-E941-1465-483F-5B6A31F98451}"/>
                  </a:ext>
                </a:extLst>
              </p:cNvPr>
              <p:cNvSpPr>
                <a:spLocks noGrp="1"/>
              </p:cNvSpPr>
              <p:nvPr>
                <p:ph type="subTitle" idx="4294967295"/>
              </p:nvPr>
            </p:nvSpPr>
            <p:spPr>
              <a:xfrm>
                <a:off x="697583" y="1477168"/>
                <a:ext cx="10972800" cy="4525963"/>
              </a:xfrm>
            </p:spPr>
            <p:txBody>
              <a:bodyPr>
                <a:normAutofit/>
              </a:bodyPr>
              <a:lstStyle/>
              <a:p>
                <a:pPr marL="107950" indent="0" algn="l">
                  <a:buNone/>
                </a:pPr>
                <a:r>
                  <a:rPr lang="en-US" sz="2400" b="0" i="0" u="none" strike="noStrike" baseline="0" dirty="0">
                    <a:solidFill>
                      <a:srgbClr val="FF0000"/>
                    </a:solidFill>
                    <a:cs typeface="Times New Roman" panose="02020603050405020304" pitchFamily="18" charset="0"/>
                  </a:rPr>
                  <a:t>Let f(x) be a continuous random variable defined in [0,2] as </a:t>
                </a:r>
              </a:p>
              <a:p>
                <a:pPr marL="107950" indent="0" algn="l">
                  <a:buNone/>
                </a:pPr>
                <a:r>
                  <a:rPr lang="en-US" sz="2400" b="0" i="0" u="none" strike="noStrike" baseline="0" dirty="0">
                    <a:solidFill>
                      <a:srgbClr val="FF0000"/>
                    </a:solidFill>
                    <a:cs typeface="Times New Roman" panose="02020603050405020304" pitchFamily="18" charset="0"/>
                  </a:rPr>
                  <a:t>f(x) = k(x + 1)/4, then find </a:t>
                </a:r>
              </a:p>
              <a:p>
                <a:pPr marL="107950" indent="0" algn="l">
                  <a:buNone/>
                </a:pPr>
                <a:r>
                  <a:rPr lang="en-IN" sz="2400" b="0" i="0" u="none" strike="noStrike" baseline="0" dirty="0">
                    <a:solidFill>
                      <a:srgbClr val="FF0000"/>
                    </a:solidFill>
                    <a:cs typeface="Times New Roman" panose="02020603050405020304" pitchFamily="18" charset="0"/>
                  </a:rPr>
                  <a:t>(</a:t>
                </a:r>
                <a:r>
                  <a:rPr lang="en-IN" sz="2400" dirty="0">
                    <a:solidFill>
                      <a:srgbClr val="FF0000"/>
                    </a:solidFill>
                    <a:cs typeface="Times New Roman" panose="02020603050405020304" pitchFamily="18" charset="0"/>
                  </a:rPr>
                  <a:t>a)</a:t>
                </a:r>
                <a:r>
                  <a:rPr lang="en-IN" sz="2400" b="0" i="0" u="none" strike="noStrike" baseline="0" dirty="0">
                    <a:solidFill>
                      <a:srgbClr val="FF0000"/>
                    </a:solidFill>
                    <a:cs typeface="Times New Roman" panose="02020603050405020304" pitchFamily="18" charset="0"/>
                  </a:rPr>
                  <a:t> k value </a:t>
                </a:r>
              </a:p>
              <a:p>
                <a:pPr marL="107950" indent="0" algn="l">
                  <a:buNone/>
                </a:pPr>
                <a:r>
                  <a:rPr lang="en-IN" sz="2400" b="0" i="0" u="none" strike="noStrike" baseline="0" dirty="0">
                    <a:solidFill>
                      <a:srgbClr val="FF0000"/>
                    </a:solidFill>
                    <a:cs typeface="Times New Roman" panose="02020603050405020304" pitchFamily="18" charset="0"/>
                  </a:rPr>
                  <a:t>(b) mean of x </a:t>
                </a:r>
              </a:p>
              <a:p>
                <a:pPr marL="107950" indent="0" algn="l">
                  <a:buNone/>
                </a:pPr>
                <a:r>
                  <a:rPr lang="en-IN" sz="2400" dirty="0">
                    <a:solidFill>
                      <a:srgbClr val="FF0000"/>
                    </a:solidFill>
                    <a:cs typeface="Times New Roman" panose="02020603050405020304" pitchFamily="18" charset="0"/>
                  </a:rPr>
                  <a:t>(c) </a:t>
                </a:r>
                <a:r>
                  <a:rPr lang="en-IN" sz="2400" b="0" i="0" u="none" strike="noStrike" baseline="0" dirty="0">
                    <a:solidFill>
                      <a:srgbClr val="FF0000"/>
                    </a:solidFill>
                    <a:cs typeface="Times New Roman" panose="02020603050405020304" pitchFamily="18" charset="0"/>
                  </a:rPr>
                  <a:t>Expectation of </a:t>
                </a:r>
                <a14:m>
                  <m:oMath xmlns:m="http://schemas.openxmlformats.org/officeDocument/2006/math">
                    <m:sSup>
                      <m:sSupPr>
                        <m:ctrlPr>
                          <a:rPr lang="en-US" sz="2400" b="0" i="1" u="none" strike="noStrike" baseline="0" smtClean="0">
                            <a:solidFill>
                              <a:srgbClr val="FF0000"/>
                            </a:solidFill>
                            <a:latin typeface="Cambria Math" panose="02040503050406030204" pitchFamily="18" charset="0"/>
                            <a:cs typeface="Times New Roman" panose="02020603050405020304" pitchFamily="18" charset="0"/>
                          </a:rPr>
                        </m:ctrlPr>
                      </m:sSupPr>
                      <m:e>
                        <m:r>
                          <a:rPr lang="en-US" sz="2400" b="0" i="1" u="none" strike="noStrike" baseline="0" smtClean="0">
                            <a:solidFill>
                              <a:srgbClr val="FF0000"/>
                            </a:solidFill>
                            <a:latin typeface="Cambria Math" panose="02040503050406030204" pitchFamily="18" charset="0"/>
                            <a:cs typeface="Times New Roman" panose="02020603050405020304" pitchFamily="18" charset="0"/>
                          </a:rPr>
                          <m:t>𝑥</m:t>
                        </m:r>
                      </m:e>
                      <m:sup>
                        <m:r>
                          <a:rPr lang="en-US" sz="2400" b="0" i="1" u="none" strike="noStrike" baseline="0" smtClean="0">
                            <a:solidFill>
                              <a:srgbClr val="FF0000"/>
                            </a:solidFill>
                            <a:latin typeface="Cambria Math" panose="02040503050406030204" pitchFamily="18" charset="0"/>
                            <a:cs typeface="Times New Roman" panose="02020603050405020304" pitchFamily="18" charset="0"/>
                          </a:rPr>
                          <m:t>2</m:t>
                        </m:r>
                      </m:sup>
                    </m:sSup>
                  </m:oMath>
                </a14:m>
                <a:r>
                  <a:rPr lang="en-IN" sz="2400" b="0" i="0" u="none" strike="noStrike" baseline="0" dirty="0">
                    <a:solidFill>
                      <a:srgbClr val="FF0000"/>
                    </a:solidFill>
                    <a:cs typeface="Times New Roman" panose="02020603050405020304" pitchFamily="18" charset="0"/>
                  </a:rPr>
                  <a:t> </a:t>
                </a:r>
              </a:p>
              <a:p>
                <a:pPr marL="107950" indent="0" algn="l">
                  <a:buNone/>
                </a:pPr>
                <a:r>
                  <a:rPr lang="en-IN" sz="2400" b="0" i="0" u="none" strike="noStrike" baseline="0" dirty="0">
                    <a:solidFill>
                      <a:srgbClr val="FF0000"/>
                    </a:solidFill>
                    <a:cs typeface="Times New Roman" panose="02020603050405020304" pitchFamily="18" charset="0"/>
                  </a:rPr>
                  <a:t>(d) Variance </a:t>
                </a:r>
              </a:p>
              <a:p>
                <a:pPr marL="107950" indent="0" algn="l">
                  <a:buNone/>
                </a:pPr>
                <a:r>
                  <a:rPr lang="en-IN" sz="2400" b="0" i="0" u="none" strike="noStrike" baseline="0" dirty="0">
                    <a:solidFill>
                      <a:srgbClr val="FF0000"/>
                    </a:solidFill>
                    <a:cs typeface="Times New Roman" panose="02020603050405020304" pitchFamily="18" charset="0"/>
                  </a:rPr>
                  <a:t>(e) P(0.5 &lt; x &lt; 1.5) </a:t>
                </a:r>
              </a:p>
              <a:p>
                <a:pPr marL="107950" indent="0">
                  <a:buNone/>
                </a:pPr>
                <a:endParaRPr lang="en-IN" dirty="0"/>
              </a:p>
            </p:txBody>
          </p:sp>
        </mc:Choice>
        <mc:Fallback xmlns="">
          <p:sp>
            <p:nvSpPr>
              <p:cNvPr id="3" name="Subtitle 2">
                <a:extLst>
                  <a:ext uri="{FF2B5EF4-FFF2-40B4-BE49-F238E27FC236}">
                    <a16:creationId xmlns:a16="http://schemas.microsoft.com/office/drawing/2014/main" id="{31D14741-E941-1465-483F-5B6A31F98451}"/>
                  </a:ext>
                </a:extLst>
              </p:cNvPr>
              <p:cNvSpPr>
                <a:spLocks noGrp="1" noRot="1" noChangeAspect="1" noMove="1" noResize="1" noEditPoints="1" noAdjustHandles="1" noChangeArrowheads="1" noChangeShapeType="1" noTextEdit="1"/>
              </p:cNvSpPr>
              <p:nvPr>
                <p:ph type="subTitle" idx="4294967295"/>
              </p:nvPr>
            </p:nvSpPr>
            <p:spPr>
              <a:xfrm>
                <a:off x="697583" y="1477168"/>
                <a:ext cx="10972800" cy="4525963"/>
              </a:xfrm>
              <a:blipFill>
                <a:blip r:embed="rId2"/>
                <a:stretch>
                  <a:fillRect t="-1884"/>
                </a:stretch>
              </a:blipFill>
            </p:spPr>
            <p:txBody>
              <a:bodyPr/>
              <a:lstStyle/>
              <a:p>
                <a:r>
                  <a:rPr lang="en-IN">
                    <a:noFill/>
                  </a:rPr>
                  <a:t> </a:t>
                </a:r>
              </a:p>
            </p:txBody>
          </p:sp>
        </mc:Fallback>
      </mc:AlternateContent>
      <p:sp>
        <p:nvSpPr>
          <p:cNvPr id="4" name="Star: 5 Points 3">
            <a:extLst>
              <a:ext uri="{FF2B5EF4-FFF2-40B4-BE49-F238E27FC236}">
                <a16:creationId xmlns:a16="http://schemas.microsoft.com/office/drawing/2014/main" id="{D9B5D4C1-281E-D417-D29E-FEE90637A430}"/>
              </a:ext>
            </a:extLst>
          </p:cNvPr>
          <p:cNvSpPr/>
          <p:nvPr/>
        </p:nvSpPr>
        <p:spPr>
          <a:xfrm>
            <a:off x="8373850" y="1123949"/>
            <a:ext cx="2541800" cy="1838326"/>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EC2R </a:t>
            </a:r>
          </a:p>
          <a:p>
            <a:pPr algn="ctr"/>
            <a:r>
              <a:rPr lang="en-US" b="1" dirty="0"/>
              <a:t>JULY 2024</a:t>
            </a:r>
            <a:endParaRPr lang="en-IN" b="1" dirty="0"/>
          </a:p>
        </p:txBody>
      </p:sp>
      <p:sp>
        <p:nvSpPr>
          <p:cNvPr id="5" name="Footer Placeholder 4">
            <a:extLst>
              <a:ext uri="{FF2B5EF4-FFF2-40B4-BE49-F238E27FC236}">
                <a16:creationId xmlns:a16="http://schemas.microsoft.com/office/drawing/2014/main" id="{582A1CC2-0337-15C3-4967-EF74882264C5}"/>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C7AC5AE9-101A-09A2-4339-5EE848BE9897}"/>
              </a:ext>
            </a:extLst>
          </p:cNvPr>
          <p:cNvSpPr>
            <a:spLocks noGrp="1"/>
          </p:cNvSpPr>
          <p:nvPr>
            <p:ph type="sldNum" sz="quarter" idx="12"/>
          </p:nvPr>
        </p:nvSpPr>
        <p:spPr/>
        <p:txBody>
          <a:bodyPr/>
          <a:lstStyle/>
          <a:p>
            <a:pPr>
              <a:defRPr/>
            </a:pPr>
            <a:fld id="{799C83C6-4F87-48B4-8CF0-6A2F9115491D}" type="slidenum">
              <a:rPr lang="en-IN" smtClean="0"/>
              <a:pPr>
                <a:defRPr/>
              </a:pPr>
              <a:t>42</a:t>
            </a:fld>
            <a:endParaRPr lang="en-IN"/>
          </a:p>
        </p:txBody>
      </p:sp>
    </p:spTree>
    <p:extLst>
      <p:ext uri="{BB962C8B-B14F-4D97-AF65-F5344CB8AC3E}">
        <p14:creationId xmlns:p14="http://schemas.microsoft.com/office/powerpoint/2010/main" val="3531511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6286E2-B5E5-D6B4-F0AF-FF3DEF54DA2C}"/>
              </a:ext>
            </a:extLst>
          </p:cNvPr>
          <p:cNvPicPr>
            <a:picLocks noChangeAspect="1"/>
          </p:cNvPicPr>
          <p:nvPr/>
        </p:nvPicPr>
        <p:blipFill>
          <a:blip r:embed="rId2"/>
          <a:stretch>
            <a:fillRect/>
          </a:stretch>
        </p:blipFill>
        <p:spPr>
          <a:xfrm>
            <a:off x="843928" y="1377413"/>
            <a:ext cx="7527664" cy="4304743"/>
          </a:xfrm>
          <a:prstGeom prst="rect">
            <a:avLst/>
          </a:prstGeom>
        </p:spPr>
      </p:pic>
      <p:sp>
        <p:nvSpPr>
          <p:cNvPr id="2" name="Title 1">
            <a:extLst>
              <a:ext uri="{FF2B5EF4-FFF2-40B4-BE49-F238E27FC236}">
                <a16:creationId xmlns:a16="http://schemas.microsoft.com/office/drawing/2014/main" id="{52D7F080-670E-D9DF-12FD-28E64362BA5A}"/>
              </a:ext>
            </a:extLst>
          </p:cNvPr>
          <p:cNvSpPr>
            <a:spLocks noGrp="1"/>
          </p:cNvSpPr>
          <p:nvPr>
            <p:ph type="title" idx="4294967295"/>
          </p:nvPr>
        </p:nvSpPr>
        <p:spPr>
          <a:xfrm>
            <a:off x="0" y="274638"/>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12 - Solution</a:t>
            </a:r>
            <a:endParaRPr lang="en-IN" sz="3600" dirty="0"/>
          </a:p>
        </p:txBody>
      </p:sp>
      <p:sp>
        <p:nvSpPr>
          <p:cNvPr id="3" name="Footer Placeholder 2">
            <a:extLst>
              <a:ext uri="{FF2B5EF4-FFF2-40B4-BE49-F238E27FC236}">
                <a16:creationId xmlns:a16="http://schemas.microsoft.com/office/drawing/2014/main" id="{B93FEA93-1249-62B3-F103-38E6A7E04965}"/>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51CF9F0C-617F-0AD5-DACB-3575A582DC2F}"/>
              </a:ext>
            </a:extLst>
          </p:cNvPr>
          <p:cNvSpPr>
            <a:spLocks noGrp="1"/>
          </p:cNvSpPr>
          <p:nvPr>
            <p:ph type="sldNum" sz="quarter" idx="12"/>
          </p:nvPr>
        </p:nvSpPr>
        <p:spPr/>
        <p:txBody>
          <a:bodyPr/>
          <a:lstStyle/>
          <a:p>
            <a:pPr>
              <a:defRPr/>
            </a:pPr>
            <a:fld id="{799C83C6-4F87-48B4-8CF0-6A2F9115491D}" type="slidenum">
              <a:rPr lang="en-IN" smtClean="0"/>
              <a:pPr>
                <a:defRPr/>
              </a:pPr>
              <a:t>43</a:t>
            </a:fld>
            <a:endParaRPr lang="en-IN"/>
          </a:p>
        </p:txBody>
      </p:sp>
    </p:spTree>
    <p:extLst>
      <p:ext uri="{BB962C8B-B14F-4D97-AF65-F5344CB8AC3E}">
        <p14:creationId xmlns:p14="http://schemas.microsoft.com/office/powerpoint/2010/main" val="3181056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91DABB-FD1D-525F-D00E-D4ACB20E0826}"/>
              </a:ext>
            </a:extLst>
          </p:cNvPr>
          <p:cNvPicPr>
            <a:picLocks noChangeAspect="1"/>
          </p:cNvPicPr>
          <p:nvPr/>
        </p:nvPicPr>
        <p:blipFill>
          <a:blip r:embed="rId2"/>
          <a:stretch>
            <a:fillRect/>
          </a:stretch>
        </p:blipFill>
        <p:spPr>
          <a:xfrm>
            <a:off x="625482" y="1691938"/>
            <a:ext cx="6636064" cy="3539938"/>
          </a:xfrm>
          <a:prstGeom prst="rect">
            <a:avLst/>
          </a:prstGeom>
        </p:spPr>
      </p:pic>
      <p:sp>
        <p:nvSpPr>
          <p:cNvPr id="2" name="Title 1">
            <a:extLst>
              <a:ext uri="{FF2B5EF4-FFF2-40B4-BE49-F238E27FC236}">
                <a16:creationId xmlns:a16="http://schemas.microsoft.com/office/drawing/2014/main" id="{31C305F8-1176-558C-5D45-DC51AE7C750D}"/>
              </a:ext>
            </a:extLst>
          </p:cNvPr>
          <p:cNvSpPr>
            <a:spLocks noGrp="1"/>
          </p:cNvSpPr>
          <p:nvPr>
            <p:ph type="title" idx="4294967295"/>
          </p:nvPr>
        </p:nvSpPr>
        <p:spPr>
          <a:xfrm>
            <a:off x="-1" y="306388"/>
            <a:ext cx="10220325" cy="850900"/>
          </a:xfrm>
        </p:spPr>
        <p:txBody>
          <a:bodyPr>
            <a:noAutofit/>
          </a:bodyPr>
          <a:lstStyle/>
          <a:p>
            <a:pPr algn="l"/>
            <a:r>
              <a:rPr lang="en-IN" sz="3600" b="1" kern="50" dirty="0">
                <a:solidFill>
                  <a:schemeClr val="tx1"/>
                </a:solidFill>
                <a:ea typeface="Calibri" panose="020F0502020204030204" pitchFamily="34" charset="0"/>
                <a:cs typeface="Calibri" panose="020F0502020204030204" pitchFamily="34" charset="0"/>
              </a:rPr>
              <a:t>Continuous</a:t>
            </a:r>
            <a:r>
              <a:rPr lang="en-IN" sz="3600" b="1" kern="50" dirty="0">
                <a:solidFill>
                  <a:schemeClr val="tx1"/>
                </a:solidFill>
                <a:effectLst/>
                <a:ea typeface="Calibri" panose="020F0502020204030204" pitchFamily="34" charset="0"/>
                <a:cs typeface="Calibri" panose="020F0502020204030204" pitchFamily="34" charset="0"/>
              </a:rPr>
              <a:t> Random Variables – Problem 13</a:t>
            </a:r>
            <a:endParaRPr lang="en-IN" sz="3600" dirty="0">
              <a:solidFill>
                <a:schemeClr val="tx1"/>
              </a:solidFill>
            </a:endParaRPr>
          </a:p>
        </p:txBody>
      </p:sp>
      <p:sp>
        <p:nvSpPr>
          <p:cNvPr id="6" name="Star: 5 Points 5">
            <a:extLst>
              <a:ext uri="{FF2B5EF4-FFF2-40B4-BE49-F238E27FC236}">
                <a16:creationId xmlns:a16="http://schemas.microsoft.com/office/drawing/2014/main" id="{D0524768-03CC-A5A5-C19B-D5361E0F97BB}"/>
              </a:ext>
            </a:extLst>
          </p:cNvPr>
          <p:cNvSpPr/>
          <p:nvPr/>
        </p:nvSpPr>
        <p:spPr>
          <a:xfrm>
            <a:off x="8429133" y="1025276"/>
            <a:ext cx="2743201" cy="1660773"/>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EC2R </a:t>
            </a:r>
          </a:p>
          <a:p>
            <a:pPr algn="ctr"/>
            <a:r>
              <a:rPr lang="en-US" b="1" dirty="0"/>
              <a:t>JAN 2024</a:t>
            </a:r>
            <a:endParaRPr lang="en-IN" b="1" dirty="0"/>
          </a:p>
        </p:txBody>
      </p:sp>
      <p:sp>
        <p:nvSpPr>
          <p:cNvPr id="3" name="Footer Placeholder 2">
            <a:extLst>
              <a:ext uri="{FF2B5EF4-FFF2-40B4-BE49-F238E27FC236}">
                <a16:creationId xmlns:a16="http://schemas.microsoft.com/office/drawing/2014/main" id="{A1234576-268E-A72F-FD69-6F9CD004C523}"/>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EEBDC1C5-A0C3-31B8-486D-F168B0DB5339}"/>
              </a:ext>
            </a:extLst>
          </p:cNvPr>
          <p:cNvSpPr>
            <a:spLocks noGrp="1"/>
          </p:cNvSpPr>
          <p:nvPr>
            <p:ph type="sldNum" sz="quarter" idx="12"/>
          </p:nvPr>
        </p:nvSpPr>
        <p:spPr/>
        <p:txBody>
          <a:bodyPr/>
          <a:lstStyle/>
          <a:p>
            <a:pPr>
              <a:defRPr/>
            </a:pPr>
            <a:fld id="{799C83C6-4F87-48B4-8CF0-6A2F9115491D}" type="slidenum">
              <a:rPr lang="en-IN" smtClean="0"/>
              <a:pPr>
                <a:defRPr/>
              </a:pPr>
              <a:t>44</a:t>
            </a:fld>
            <a:endParaRPr lang="en-IN"/>
          </a:p>
        </p:txBody>
      </p:sp>
    </p:spTree>
    <p:extLst>
      <p:ext uri="{BB962C8B-B14F-4D97-AF65-F5344CB8AC3E}">
        <p14:creationId xmlns:p14="http://schemas.microsoft.com/office/powerpoint/2010/main" val="31688006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24FBCC5-1242-1669-7EE4-149F1747D55C}"/>
              </a:ext>
            </a:extLst>
          </p:cNvPr>
          <p:cNvPicPr>
            <a:picLocks noChangeAspect="1"/>
          </p:cNvPicPr>
          <p:nvPr/>
        </p:nvPicPr>
        <p:blipFill>
          <a:blip r:embed="rId2"/>
          <a:stretch>
            <a:fillRect/>
          </a:stretch>
        </p:blipFill>
        <p:spPr>
          <a:xfrm>
            <a:off x="291055" y="1381027"/>
            <a:ext cx="11241069" cy="4982270"/>
          </a:xfrm>
          <a:prstGeom prst="rect">
            <a:avLst/>
          </a:prstGeom>
        </p:spPr>
      </p:pic>
      <p:sp>
        <p:nvSpPr>
          <p:cNvPr id="2" name="Title 1">
            <a:extLst>
              <a:ext uri="{FF2B5EF4-FFF2-40B4-BE49-F238E27FC236}">
                <a16:creationId xmlns:a16="http://schemas.microsoft.com/office/drawing/2014/main" id="{DF63A287-CC77-A95D-9195-DE1F0847DCEA}"/>
              </a:ext>
            </a:extLst>
          </p:cNvPr>
          <p:cNvSpPr>
            <a:spLocks noGrp="1"/>
          </p:cNvSpPr>
          <p:nvPr>
            <p:ph type="title" idx="4294967295"/>
          </p:nvPr>
        </p:nvSpPr>
        <p:spPr>
          <a:xfrm>
            <a:off x="0" y="274638"/>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13 - Solution</a:t>
            </a:r>
            <a:endParaRPr lang="en-IN" sz="3600" dirty="0"/>
          </a:p>
        </p:txBody>
      </p:sp>
      <p:sp>
        <p:nvSpPr>
          <p:cNvPr id="3" name="Footer Placeholder 2">
            <a:extLst>
              <a:ext uri="{FF2B5EF4-FFF2-40B4-BE49-F238E27FC236}">
                <a16:creationId xmlns:a16="http://schemas.microsoft.com/office/drawing/2014/main" id="{2FFD7DC6-BD68-598C-97E8-5F26F312CBDF}"/>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18D80224-9ACE-B920-B9DC-8833B10D9107}"/>
              </a:ext>
            </a:extLst>
          </p:cNvPr>
          <p:cNvSpPr>
            <a:spLocks noGrp="1"/>
          </p:cNvSpPr>
          <p:nvPr>
            <p:ph type="sldNum" sz="quarter" idx="12"/>
          </p:nvPr>
        </p:nvSpPr>
        <p:spPr/>
        <p:txBody>
          <a:bodyPr/>
          <a:lstStyle/>
          <a:p>
            <a:pPr>
              <a:defRPr/>
            </a:pPr>
            <a:fld id="{799C83C6-4F87-48B4-8CF0-6A2F9115491D}" type="slidenum">
              <a:rPr lang="en-IN" smtClean="0"/>
              <a:pPr>
                <a:defRPr/>
              </a:pPr>
              <a:t>45</a:t>
            </a:fld>
            <a:endParaRPr lang="en-IN"/>
          </a:p>
        </p:txBody>
      </p:sp>
    </p:spTree>
    <p:extLst>
      <p:ext uri="{BB962C8B-B14F-4D97-AF65-F5344CB8AC3E}">
        <p14:creationId xmlns:p14="http://schemas.microsoft.com/office/powerpoint/2010/main" val="33737117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A126D4-5B81-524E-E2BF-5DFAADA89CDD}"/>
              </a:ext>
            </a:extLst>
          </p:cNvPr>
          <p:cNvPicPr>
            <a:picLocks noChangeAspect="1"/>
          </p:cNvPicPr>
          <p:nvPr/>
        </p:nvPicPr>
        <p:blipFill>
          <a:blip r:embed="rId2"/>
          <a:stretch>
            <a:fillRect/>
          </a:stretch>
        </p:blipFill>
        <p:spPr>
          <a:xfrm>
            <a:off x="561680" y="1152525"/>
            <a:ext cx="10792120" cy="5086518"/>
          </a:xfrm>
          <a:prstGeom prst="rect">
            <a:avLst/>
          </a:prstGeom>
        </p:spPr>
      </p:pic>
      <p:sp>
        <p:nvSpPr>
          <p:cNvPr id="2" name="Title 1">
            <a:extLst>
              <a:ext uri="{FF2B5EF4-FFF2-40B4-BE49-F238E27FC236}">
                <a16:creationId xmlns:a16="http://schemas.microsoft.com/office/drawing/2014/main" id="{16591094-9314-E96D-924D-80F6DEF4FD91}"/>
              </a:ext>
            </a:extLst>
          </p:cNvPr>
          <p:cNvSpPr>
            <a:spLocks noGrp="1"/>
          </p:cNvSpPr>
          <p:nvPr>
            <p:ph type="title" idx="4294967295"/>
          </p:nvPr>
        </p:nvSpPr>
        <p:spPr>
          <a:xfrm>
            <a:off x="171449" y="194301"/>
            <a:ext cx="10296525" cy="849312"/>
          </a:xfrm>
        </p:spPr>
        <p:txBody>
          <a:bodyPr>
            <a:normAutofit/>
          </a:bodyPr>
          <a:lstStyle/>
          <a:p>
            <a:pPr algn="l"/>
            <a:r>
              <a:rPr lang="en-US" sz="4000" b="1" dirty="0">
                <a:solidFill>
                  <a:srgbClr val="FF0000"/>
                </a:solidFill>
                <a:ea typeface="Calibri" panose="020F0502020204030204" pitchFamily="34" charset="0"/>
                <a:cs typeface="Calibri" panose="020F0502020204030204" pitchFamily="34" charset="0"/>
              </a:rPr>
              <a:t>Joint Probability Distribution Function</a:t>
            </a:r>
            <a:endParaRPr lang="en-IN" sz="4000" dirty="0">
              <a:solidFill>
                <a:srgbClr val="FF0000"/>
              </a:solidFill>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DF09382-299F-8DD8-A446-AAE90F88A3DB}"/>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1ED9A2F6-E93F-248F-F5F9-360AD1AC696C}"/>
              </a:ext>
            </a:extLst>
          </p:cNvPr>
          <p:cNvSpPr>
            <a:spLocks noGrp="1"/>
          </p:cNvSpPr>
          <p:nvPr>
            <p:ph type="sldNum" sz="quarter" idx="12"/>
          </p:nvPr>
        </p:nvSpPr>
        <p:spPr/>
        <p:txBody>
          <a:bodyPr/>
          <a:lstStyle/>
          <a:p>
            <a:pPr>
              <a:defRPr/>
            </a:pPr>
            <a:fld id="{799C83C6-4F87-48B4-8CF0-6A2F9115491D}" type="slidenum">
              <a:rPr lang="en-IN" smtClean="0"/>
              <a:pPr>
                <a:defRPr/>
              </a:pPr>
              <a:t>46</a:t>
            </a:fld>
            <a:endParaRPr lang="en-IN"/>
          </a:p>
        </p:txBody>
      </p:sp>
    </p:spTree>
    <p:extLst>
      <p:ext uri="{BB962C8B-B14F-4D97-AF65-F5344CB8AC3E}">
        <p14:creationId xmlns:p14="http://schemas.microsoft.com/office/powerpoint/2010/main" val="14364113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4917-3CB9-B391-D379-B8AD4ACA53BB}"/>
              </a:ext>
            </a:extLst>
          </p:cNvPr>
          <p:cNvSpPr>
            <a:spLocks noGrp="1"/>
          </p:cNvSpPr>
          <p:nvPr>
            <p:ph type="title" idx="4294967295"/>
          </p:nvPr>
        </p:nvSpPr>
        <p:spPr>
          <a:xfrm>
            <a:off x="123824" y="257176"/>
            <a:ext cx="10677525" cy="849312"/>
          </a:xfrm>
        </p:spPr>
        <p:txBody>
          <a:bodyPr>
            <a:normAutofit/>
          </a:bodyPr>
          <a:lstStyle/>
          <a:p>
            <a:r>
              <a:rPr lang="en-US" sz="4000" b="1" dirty="0">
                <a:solidFill>
                  <a:schemeClr val="tx1"/>
                </a:solidFill>
                <a:ea typeface="Calibri" panose="020F0502020204030204" pitchFamily="34" charset="0"/>
                <a:cs typeface="Calibri" panose="020F0502020204030204" pitchFamily="34" charset="0"/>
              </a:rPr>
              <a:t>Joint Probability Distribution Function</a:t>
            </a:r>
            <a:endParaRPr lang="en-IN" sz="4000" dirty="0"/>
          </a:p>
        </p:txBody>
      </p:sp>
      <p:sp>
        <p:nvSpPr>
          <p:cNvPr id="3" name="Subtitle 2">
            <a:extLst>
              <a:ext uri="{FF2B5EF4-FFF2-40B4-BE49-F238E27FC236}">
                <a16:creationId xmlns:a16="http://schemas.microsoft.com/office/drawing/2014/main" id="{44F79195-A0C7-9760-F652-55B7AB122B3B}"/>
              </a:ext>
            </a:extLst>
          </p:cNvPr>
          <p:cNvSpPr>
            <a:spLocks noGrp="1"/>
          </p:cNvSpPr>
          <p:nvPr>
            <p:ph type="subTitle" idx="4294967295"/>
          </p:nvPr>
        </p:nvSpPr>
        <p:spPr>
          <a:xfrm>
            <a:off x="438150" y="1541463"/>
            <a:ext cx="10826750" cy="3944937"/>
          </a:xfrm>
        </p:spPr>
        <p:txBody>
          <a:bodyPr/>
          <a:lstStyle/>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dirty="0">
                <a:ln>
                  <a:noFill/>
                </a:ln>
                <a:solidFill>
                  <a:prstClr val="black"/>
                </a:solidFill>
                <a:effectLst/>
                <a:uLnTx/>
                <a:uFillTx/>
                <a:ea typeface="+mn-ea"/>
                <a:cs typeface="+mn-cs"/>
              </a:rPr>
              <a:t>If X and Y are discrete random variables, the joint probability distribution of X and Y is a description of the set of points (</a:t>
            </a:r>
            <a:r>
              <a:rPr kumimoji="0" lang="en-US" sz="2400" b="0" i="0" u="none" strike="noStrike" kern="1200" cap="none" spc="0" normalizeH="0" baseline="0" noProof="0" dirty="0" err="1">
                <a:ln>
                  <a:noFill/>
                </a:ln>
                <a:solidFill>
                  <a:prstClr val="black"/>
                </a:solidFill>
                <a:effectLst/>
                <a:uLnTx/>
                <a:uFillTx/>
                <a:ea typeface="+mn-ea"/>
                <a:cs typeface="+mn-cs"/>
              </a:rPr>
              <a:t>x,y</a:t>
            </a:r>
            <a:r>
              <a:rPr kumimoji="0" lang="en-US" sz="2400" b="0" i="0" u="none" strike="noStrike" kern="1200" cap="none" spc="0" normalizeH="0" baseline="0" noProof="0" dirty="0">
                <a:ln>
                  <a:noFill/>
                </a:ln>
                <a:solidFill>
                  <a:prstClr val="black"/>
                </a:solidFill>
                <a:effectLst/>
                <a:uLnTx/>
                <a:uFillTx/>
                <a:ea typeface="+mn-ea"/>
                <a:cs typeface="+mn-cs"/>
              </a:rPr>
              <a:t>)  in the range of (X,Y) along with the probability of each point.</a:t>
            </a:r>
          </a:p>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2400" b="0" i="0" u="none" strike="noStrike" kern="1200" cap="none" spc="0" normalizeH="0" baseline="0" noProof="0" dirty="0">
              <a:ln>
                <a:noFill/>
              </a:ln>
              <a:solidFill>
                <a:prstClr val="black"/>
              </a:solidFill>
              <a:effectLst/>
              <a:uLnTx/>
              <a:uFillTx/>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dirty="0">
                <a:ln>
                  <a:noFill/>
                </a:ln>
                <a:solidFill>
                  <a:prstClr val="black"/>
                </a:solidFill>
                <a:effectLst/>
                <a:uLnTx/>
                <a:uFillTx/>
                <a:ea typeface="+mn-ea"/>
                <a:cs typeface="+mn-cs"/>
              </a:rPr>
              <a:t>The joint probability distribution of two discrete random variables is sometimes referred to as the</a:t>
            </a:r>
            <a:r>
              <a:rPr kumimoji="0" lang="en-US" sz="2400" b="1" i="0" u="none" strike="noStrike" kern="1200" cap="none" spc="0" normalizeH="0" baseline="0" noProof="0" dirty="0">
                <a:ln>
                  <a:noFill/>
                </a:ln>
                <a:solidFill>
                  <a:srgbClr val="00B0F0"/>
                </a:solidFill>
                <a:effectLst/>
                <a:uLnTx/>
                <a:uFillTx/>
                <a:ea typeface="+mn-ea"/>
                <a:cs typeface="+mn-cs"/>
              </a:rPr>
              <a:t> bivariate probability distribution </a:t>
            </a:r>
            <a:r>
              <a:rPr kumimoji="0" lang="en-US" sz="2400" b="0" i="0" u="none" strike="noStrike" kern="1200" cap="none" spc="0" normalizeH="0" baseline="0" noProof="0" dirty="0">
                <a:ln>
                  <a:noFill/>
                </a:ln>
                <a:solidFill>
                  <a:prstClr val="black"/>
                </a:solidFill>
                <a:effectLst/>
                <a:uLnTx/>
                <a:uFillTx/>
                <a:ea typeface="+mn-ea"/>
                <a:cs typeface="+mn-cs"/>
              </a:rPr>
              <a:t>or</a:t>
            </a:r>
            <a:r>
              <a:rPr kumimoji="0" lang="en-US" sz="2400" b="1" i="0" u="none" strike="noStrike" kern="1200" cap="none" spc="0" normalizeH="0" baseline="0" noProof="0" dirty="0">
                <a:ln>
                  <a:noFill/>
                </a:ln>
                <a:solidFill>
                  <a:srgbClr val="00B0F0"/>
                </a:solidFill>
                <a:effectLst/>
                <a:uLnTx/>
                <a:uFillTx/>
                <a:ea typeface="+mn-ea"/>
                <a:cs typeface="+mn-cs"/>
              </a:rPr>
              <a:t> bivariate distribution.</a:t>
            </a:r>
          </a:p>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2400" b="1" i="0" u="none" strike="noStrike" kern="1200" cap="none" spc="0" normalizeH="0" baseline="0" noProof="0" dirty="0">
              <a:ln>
                <a:noFill/>
              </a:ln>
              <a:solidFill>
                <a:srgbClr val="00B0F0"/>
              </a:solidFill>
              <a:effectLst/>
              <a:uLnTx/>
              <a:uFillTx/>
              <a:ea typeface="+mn-ea"/>
              <a:cs typeface="+mn-cs"/>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dirty="0">
                <a:ln>
                  <a:noFill/>
                </a:ln>
                <a:solidFill>
                  <a:prstClr val="black"/>
                </a:solidFill>
                <a:effectLst/>
                <a:uLnTx/>
                <a:uFillTx/>
                <a:ea typeface="+mn-ea"/>
                <a:cs typeface="+mn-cs"/>
              </a:rPr>
              <a:t>Thus, we can describe the joint probability distribution of two discrete random variables is through a </a:t>
            </a:r>
            <a:r>
              <a:rPr kumimoji="0" lang="en-US" sz="2400" b="1" i="0" u="none" strike="noStrike" kern="1200" cap="none" spc="0" normalizeH="0" baseline="0" noProof="0" dirty="0">
                <a:ln>
                  <a:noFill/>
                </a:ln>
                <a:solidFill>
                  <a:srgbClr val="0070C0"/>
                </a:solidFill>
                <a:effectLst/>
                <a:uLnTx/>
                <a:uFillTx/>
                <a:ea typeface="+mn-ea"/>
                <a:cs typeface="+mn-cs"/>
              </a:rPr>
              <a:t>joint probability mass function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70C0"/>
                </a:solidFill>
                <a:effectLst/>
                <a:uLnTx/>
                <a:uFillTx/>
                <a:ea typeface="+mn-ea"/>
                <a:cs typeface="+mn-cs"/>
              </a:rPr>
              <a:t>				</a:t>
            </a:r>
            <a:r>
              <a:rPr kumimoji="0" lang="en-US" sz="2400" b="0" i="1" u="none" strike="noStrike" kern="1200" cap="none" spc="0" normalizeH="0" baseline="0" noProof="0" dirty="0">
                <a:ln>
                  <a:noFill/>
                </a:ln>
                <a:solidFill>
                  <a:srgbClr val="FF0000"/>
                </a:solidFill>
                <a:effectLst/>
                <a:uLnTx/>
                <a:uFillTx/>
                <a:ea typeface="+mn-ea"/>
                <a:cs typeface="+mn-cs"/>
              </a:rPr>
              <a:t>f(</a:t>
            </a:r>
            <a:r>
              <a:rPr kumimoji="0" lang="en-US" sz="2400" b="0" i="1" u="none" strike="noStrike" kern="1200" cap="none" spc="0" normalizeH="0" baseline="0" noProof="0" dirty="0" err="1">
                <a:ln>
                  <a:noFill/>
                </a:ln>
                <a:solidFill>
                  <a:srgbClr val="FF0000"/>
                </a:solidFill>
                <a:effectLst/>
                <a:uLnTx/>
                <a:uFillTx/>
                <a:ea typeface="+mn-ea"/>
                <a:cs typeface="+mn-cs"/>
              </a:rPr>
              <a:t>x,y</a:t>
            </a:r>
            <a:r>
              <a:rPr kumimoji="0" lang="en-US" sz="2400" b="0" i="1" u="none" strike="noStrike" kern="1200" cap="none" spc="0" normalizeH="0" baseline="0" noProof="0" dirty="0">
                <a:ln>
                  <a:noFill/>
                </a:ln>
                <a:solidFill>
                  <a:srgbClr val="FF0000"/>
                </a:solidFill>
                <a:effectLst/>
                <a:uLnTx/>
                <a:uFillTx/>
                <a:ea typeface="+mn-ea"/>
                <a:cs typeface="+mn-cs"/>
              </a:rPr>
              <a:t>) = P(X=x, Y=y)</a:t>
            </a:r>
          </a:p>
          <a:p>
            <a:pPr marL="107950" indent="0">
              <a:buNone/>
            </a:pPr>
            <a:endParaRPr lang="en-IN" dirty="0"/>
          </a:p>
        </p:txBody>
      </p:sp>
      <p:sp>
        <p:nvSpPr>
          <p:cNvPr id="4" name="Footer Placeholder 3">
            <a:extLst>
              <a:ext uri="{FF2B5EF4-FFF2-40B4-BE49-F238E27FC236}">
                <a16:creationId xmlns:a16="http://schemas.microsoft.com/office/drawing/2014/main" id="{4C82051D-0E3F-3114-F500-FE18D376FA2D}"/>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CFAEC4B9-3A5A-EAEC-4CBA-B3474D724C59}"/>
              </a:ext>
            </a:extLst>
          </p:cNvPr>
          <p:cNvSpPr>
            <a:spLocks noGrp="1"/>
          </p:cNvSpPr>
          <p:nvPr>
            <p:ph type="sldNum" sz="quarter" idx="12"/>
          </p:nvPr>
        </p:nvSpPr>
        <p:spPr/>
        <p:txBody>
          <a:bodyPr/>
          <a:lstStyle/>
          <a:p>
            <a:pPr>
              <a:defRPr/>
            </a:pPr>
            <a:fld id="{799C83C6-4F87-48B4-8CF0-6A2F9115491D}" type="slidenum">
              <a:rPr lang="en-IN" smtClean="0"/>
              <a:pPr>
                <a:defRPr/>
              </a:pPr>
              <a:t>47</a:t>
            </a:fld>
            <a:endParaRPr lang="en-IN"/>
          </a:p>
        </p:txBody>
      </p:sp>
    </p:spTree>
    <p:extLst>
      <p:ext uri="{BB962C8B-B14F-4D97-AF65-F5344CB8AC3E}">
        <p14:creationId xmlns:p14="http://schemas.microsoft.com/office/powerpoint/2010/main" val="664011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EC409BE9-906F-A45A-8A14-9F6E745D3A25}"/>
              </a:ext>
            </a:extLst>
          </p:cNvPr>
          <p:cNvPicPr>
            <a:picLocks noChangeAspect="1" noChangeArrowheads="1"/>
          </p:cNvPicPr>
          <p:nvPr/>
        </p:nvPicPr>
        <p:blipFill>
          <a:blip r:embed="rId2"/>
          <a:srcRect/>
          <a:stretch>
            <a:fillRect/>
          </a:stretch>
        </p:blipFill>
        <p:spPr bwMode="auto">
          <a:xfrm>
            <a:off x="206282" y="1336446"/>
            <a:ext cx="11557094" cy="1404594"/>
          </a:xfrm>
          <a:prstGeom prst="rect">
            <a:avLst/>
          </a:prstGeom>
          <a:noFill/>
          <a:ln w="9525">
            <a:noFill/>
            <a:miter lim="800000"/>
            <a:headEnd/>
            <a:tailEnd/>
          </a:ln>
          <a:effectLst/>
        </p:spPr>
      </p:pic>
      <p:sp>
        <p:nvSpPr>
          <p:cNvPr id="2" name="Title 1">
            <a:extLst>
              <a:ext uri="{FF2B5EF4-FFF2-40B4-BE49-F238E27FC236}">
                <a16:creationId xmlns:a16="http://schemas.microsoft.com/office/drawing/2014/main" id="{2F8EEB4D-FCC7-7D86-7B35-0D13730F9708}"/>
              </a:ext>
            </a:extLst>
          </p:cNvPr>
          <p:cNvSpPr>
            <a:spLocks noGrp="1"/>
          </p:cNvSpPr>
          <p:nvPr>
            <p:ph type="title" idx="4294967295"/>
          </p:nvPr>
        </p:nvSpPr>
        <p:spPr>
          <a:xfrm>
            <a:off x="0" y="274638"/>
            <a:ext cx="8161338" cy="849312"/>
          </a:xfrm>
        </p:spPr>
        <p:txBody>
          <a:bodyPr/>
          <a:lstStyle/>
          <a:p>
            <a:pPr algn="l"/>
            <a:r>
              <a:rPr lang="en-US" sz="4000" b="1" dirty="0">
                <a:solidFill>
                  <a:srgbClr val="FF0000"/>
                </a:solidFill>
                <a:ea typeface="Calibri" panose="020F0502020204030204" pitchFamily="34" charset="0"/>
                <a:cs typeface="Calibri" panose="020F0502020204030204" pitchFamily="34" charset="0"/>
              </a:rPr>
              <a:t>Joint Density Function</a:t>
            </a:r>
            <a:endParaRPr lang="en-IN" sz="4000" b="1" dirty="0">
              <a:solidFill>
                <a:srgbClr val="FF0000"/>
              </a:solidFill>
              <a:ea typeface="Calibri" panose="020F0502020204030204" pitchFamily="34" charset="0"/>
              <a:cs typeface="Calibri" panose="020F0502020204030204" pitchFamily="34" charset="0"/>
            </a:endParaRPr>
          </a:p>
        </p:txBody>
      </p:sp>
      <p:pic>
        <p:nvPicPr>
          <p:cNvPr id="5" name="Picture 3">
            <a:extLst>
              <a:ext uri="{FF2B5EF4-FFF2-40B4-BE49-F238E27FC236}">
                <a16:creationId xmlns:a16="http://schemas.microsoft.com/office/drawing/2014/main" id="{360BA4EE-6623-AD4D-C287-CAF507506DB6}"/>
              </a:ext>
            </a:extLst>
          </p:cNvPr>
          <p:cNvPicPr>
            <a:picLocks noChangeAspect="1" noChangeArrowheads="1"/>
          </p:cNvPicPr>
          <p:nvPr/>
        </p:nvPicPr>
        <p:blipFill>
          <a:blip r:embed="rId3"/>
          <a:srcRect/>
          <a:stretch>
            <a:fillRect/>
          </a:stretch>
        </p:blipFill>
        <p:spPr bwMode="auto">
          <a:xfrm>
            <a:off x="1404594" y="3267698"/>
            <a:ext cx="9115719" cy="2669442"/>
          </a:xfrm>
          <a:prstGeom prst="rect">
            <a:avLst/>
          </a:prstGeom>
          <a:noFill/>
          <a:ln w="9525">
            <a:noFill/>
            <a:miter lim="800000"/>
            <a:headEnd/>
            <a:tailEnd/>
          </a:ln>
          <a:effectLst/>
        </p:spPr>
      </p:pic>
      <p:sp>
        <p:nvSpPr>
          <p:cNvPr id="3" name="Footer Placeholder 2">
            <a:extLst>
              <a:ext uri="{FF2B5EF4-FFF2-40B4-BE49-F238E27FC236}">
                <a16:creationId xmlns:a16="http://schemas.microsoft.com/office/drawing/2014/main" id="{A03D8162-8937-542F-E201-7C8CB437B478}"/>
              </a:ext>
            </a:extLst>
          </p:cNvPr>
          <p:cNvSpPr>
            <a:spLocks noGrp="1"/>
          </p:cNvSpPr>
          <p:nvPr>
            <p:ph type="ftr" sz="quarter" idx="11"/>
          </p:nvPr>
        </p:nvSpPr>
        <p:spPr/>
        <p:txBody>
          <a:bodyPr/>
          <a:lstStyle/>
          <a:p>
            <a:r>
              <a:rPr lang="en-IN"/>
              <a:t>W-2</a:t>
            </a:r>
          </a:p>
        </p:txBody>
      </p:sp>
      <p:sp>
        <p:nvSpPr>
          <p:cNvPr id="6" name="Slide Number Placeholder 5">
            <a:extLst>
              <a:ext uri="{FF2B5EF4-FFF2-40B4-BE49-F238E27FC236}">
                <a16:creationId xmlns:a16="http://schemas.microsoft.com/office/drawing/2014/main" id="{CDFD6FC9-98C0-F12B-41BF-A12D248EC5B7}"/>
              </a:ext>
            </a:extLst>
          </p:cNvPr>
          <p:cNvSpPr>
            <a:spLocks noGrp="1"/>
          </p:cNvSpPr>
          <p:nvPr>
            <p:ph type="sldNum" sz="quarter" idx="12"/>
          </p:nvPr>
        </p:nvSpPr>
        <p:spPr/>
        <p:txBody>
          <a:bodyPr/>
          <a:lstStyle/>
          <a:p>
            <a:pPr>
              <a:defRPr/>
            </a:pPr>
            <a:fld id="{799C83C6-4F87-48B4-8CF0-6A2F9115491D}" type="slidenum">
              <a:rPr lang="en-IN" smtClean="0"/>
              <a:pPr>
                <a:defRPr/>
              </a:pPr>
              <a:t>48</a:t>
            </a:fld>
            <a:endParaRPr lang="en-IN"/>
          </a:p>
        </p:txBody>
      </p:sp>
    </p:spTree>
    <p:extLst>
      <p:ext uri="{BB962C8B-B14F-4D97-AF65-F5344CB8AC3E}">
        <p14:creationId xmlns:p14="http://schemas.microsoft.com/office/powerpoint/2010/main" val="49062928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F8D1BB-5232-6917-AB50-8B7E45F3DE63}"/>
              </a:ext>
            </a:extLst>
          </p:cNvPr>
          <p:cNvPicPr>
            <a:picLocks noChangeAspect="1" noChangeArrowheads="1"/>
          </p:cNvPicPr>
          <p:nvPr/>
        </p:nvPicPr>
        <p:blipFill>
          <a:blip r:embed="rId2"/>
          <a:srcRect/>
          <a:stretch>
            <a:fillRect/>
          </a:stretch>
        </p:blipFill>
        <p:spPr bwMode="auto">
          <a:xfrm>
            <a:off x="293704" y="1833860"/>
            <a:ext cx="11604591" cy="3190279"/>
          </a:xfrm>
          <a:prstGeom prst="rect">
            <a:avLst/>
          </a:prstGeom>
          <a:noFill/>
          <a:ln w="9525">
            <a:noFill/>
            <a:miter lim="800000"/>
            <a:headEnd/>
            <a:tailEnd/>
          </a:ln>
          <a:effectLst/>
        </p:spPr>
      </p:pic>
      <p:sp>
        <p:nvSpPr>
          <p:cNvPr id="2" name="Title 1">
            <a:extLst>
              <a:ext uri="{FF2B5EF4-FFF2-40B4-BE49-F238E27FC236}">
                <a16:creationId xmlns:a16="http://schemas.microsoft.com/office/drawing/2014/main" id="{985A0760-DB39-DA52-6024-0FF090D35EDE}"/>
              </a:ext>
            </a:extLst>
          </p:cNvPr>
          <p:cNvSpPr>
            <a:spLocks noGrp="1"/>
          </p:cNvSpPr>
          <p:nvPr>
            <p:ph type="title" idx="4294967295"/>
          </p:nvPr>
        </p:nvSpPr>
        <p:spPr>
          <a:xfrm>
            <a:off x="0" y="274638"/>
            <a:ext cx="8161338" cy="849312"/>
          </a:xfrm>
        </p:spPr>
        <p:txBody>
          <a:bodyPr/>
          <a:lstStyle/>
          <a:p>
            <a:pPr algn="l"/>
            <a:r>
              <a:rPr lang="en-US" sz="3800" b="1" dirty="0">
                <a:solidFill>
                  <a:srgbClr val="FF0000"/>
                </a:solidFill>
                <a:ea typeface="Calibri" panose="020F0502020204030204" pitchFamily="34" charset="0"/>
                <a:cs typeface="Calibri" panose="020F0502020204030204" pitchFamily="34" charset="0"/>
              </a:rPr>
              <a:t>Marginal Distributions</a:t>
            </a:r>
            <a:endParaRPr lang="en-IN" sz="3800" b="1" dirty="0">
              <a:solidFill>
                <a:srgbClr val="FF0000"/>
              </a:solidFill>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DEB66780-AB4E-4B71-526B-D1CA239153DE}"/>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CCE47F30-DB19-873B-F9E4-837539D3D32F}"/>
              </a:ext>
            </a:extLst>
          </p:cNvPr>
          <p:cNvSpPr>
            <a:spLocks noGrp="1"/>
          </p:cNvSpPr>
          <p:nvPr>
            <p:ph type="sldNum" sz="quarter" idx="12"/>
          </p:nvPr>
        </p:nvSpPr>
        <p:spPr/>
        <p:txBody>
          <a:bodyPr/>
          <a:lstStyle/>
          <a:p>
            <a:pPr>
              <a:defRPr/>
            </a:pPr>
            <a:fld id="{799C83C6-4F87-48B4-8CF0-6A2F9115491D}" type="slidenum">
              <a:rPr lang="en-IN" smtClean="0"/>
              <a:pPr>
                <a:defRPr/>
              </a:pPr>
              <a:t>49</a:t>
            </a:fld>
            <a:endParaRPr lang="en-IN"/>
          </a:p>
        </p:txBody>
      </p:sp>
    </p:spTree>
    <p:extLst>
      <p:ext uri="{BB962C8B-B14F-4D97-AF65-F5344CB8AC3E}">
        <p14:creationId xmlns:p14="http://schemas.microsoft.com/office/powerpoint/2010/main" val="9136147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42C32-DB11-205A-B2D1-64818718E809}"/>
              </a:ext>
            </a:extLst>
          </p:cNvPr>
          <p:cNvSpPr>
            <a:spLocks noGrp="1"/>
          </p:cNvSpPr>
          <p:nvPr>
            <p:ph type="title" idx="4294967295"/>
          </p:nvPr>
        </p:nvSpPr>
        <p:spPr>
          <a:xfrm>
            <a:off x="0" y="274638"/>
            <a:ext cx="8161338" cy="849312"/>
          </a:xfrm>
        </p:spPr>
        <p:txBody>
          <a:bodyPr>
            <a:normAutofit/>
          </a:bodyPr>
          <a:lstStyle/>
          <a:p>
            <a:pPr algn="l"/>
            <a:r>
              <a:rPr lang="en-US" sz="4000" b="1" dirty="0">
                <a:solidFill>
                  <a:srgbClr val="FF0000"/>
                </a:solidFill>
                <a:ea typeface="Calibri" panose="020F0502020204030204" pitchFamily="34" charset="0"/>
                <a:cs typeface="Calibri" panose="020F0502020204030204" pitchFamily="34" charset="0"/>
              </a:rPr>
              <a:t>Independent Random Variables</a:t>
            </a:r>
            <a:endParaRPr lang="en-IN" sz="4000" b="1" dirty="0">
              <a:solidFill>
                <a:srgbClr val="FF0000"/>
              </a:solidFill>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473151BE-CC88-F449-33BA-03630D396DB6}"/>
                  </a:ext>
                </a:extLst>
              </p:cNvPr>
              <p:cNvSpPr>
                <a:spLocks noGrp="1"/>
              </p:cNvSpPr>
              <p:nvPr>
                <p:ph type="subTitle" idx="4294967295"/>
              </p:nvPr>
            </p:nvSpPr>
            <p:spPr>
              <a:xfrm>
                <a:off x="677863" y="1200150"/>
                <a:ext cx="11161712" cy="4743450"/>
              </a:xfrm>
            </p:spPr>
            <p:txBody>
              <a:bodyPr>
                <a:normAutofit/>
              </a:bodyPr>
              <a:lstStyle/>
              <a:p>
                <a:pPr marL="342900" marR="0" lvl="0" indent="-342900" defTabSz="914400" rtl="0" eaLnBrk="1" fontAlgn="auto" latinLnBrk="0" hangingPunct="1">
                  <a:lnSpc>
                    <a:spcPct val="16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prstClr val="black"/>
                    </a:solidFill>
                    <a:effectLst/>
                    <a:uLnTx/>
                    <a:uFillTx/>
                  </a:rPr>
                  <a:t>Let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𝑋</m:t>
                    </m:r>
                  </m:oMath>
                </a14:m>
                <a:r>
                  <a:rPr kumimoji="0" lang="en-IN" sz="2400" b="0" i="0" u="none" strike="noStrike" kern="1200" cap="none" spc="0" normalizeH="0" baseline="0" noProof="0" dirty="0">
                    <a:ln>
                      <a:noFill/>
                    </a:ln>
                    <a:solidFill>
                      <a:prstClr val="black"/>
                    </a:solidFill>
                    <a:effectLst/>
                    <a:uLnTx/>
                    <a:uFillTx/>
                  </a:rPr>
                  <a:t> and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𝑌</m:t>
                    </m:r>
                  </m:oMath>
                </a14:m>
                <a:r>
                  <a:rPr kumimoji="0" lang="en-IN" sz="2400" b="0" i="0" u="none" strike="noStrike" kern="1200" cap="none" spc="0" normalizeH="0" baseline="0" noProof="0" dirty="0">
                    <a:ln>
                      <a:noFill/>
                    </a:ln>
                    <a:solidFill>
                      <a:prstClr val="black"/>
                    </a:solidFill>
                    <a:effectLst/>
                    <a:uLnTx/>
                    <a:uFillTx/>
                  </a:rPr>
                  <a:t> are two random variables with joint probability function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𝑓</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e>
                    </m:d>
                  </m:oMath>
                </a14:m>
                <a:r>
                  <a:rPr kumimoji="0" lang="en-IN" sz="2400" b="0" i="0" u="none" strike="noStrike" kern="1200" cap="none" spc="0" normalizeH="0" baseline="0" noProof="0" dirty="0">
                    <a:ln>
                      <a:noFill/>
                    </a:ln>
                    <a:solidFill>
                      <a:prstClr val="black"/>
                    </a:solidFill>
                    <a:effectLst/>
                    <a:uLnTx/>
                    <a:uFillTx/>
                  </a:rPr>
                  <a:t> are said to be independent if following condition satisfied:                                            </a:t>
                </a:r>
              </a:p>
              <a:p>
                <a:pPr marL="342900" marR="0" lvl="0" indent="-342900" defTabSz="914400" rtl="0" eaLnBrk="1" fontAlgn="auto" latinLnBrk="0" hangingPunct="1">
                  <a:lnSpc>
                    <a:spcPct val="160000"/>
                  </a:lnSpc>
                  <a:spcBef>
                    <a:spcPts val="0"/>
                  </a:spcBef>
                  <a:spcAft>
                    <a:spcPts val="0"/>
                  </a:spcAft>
                  <a:buClrTx/>
                  <a:buSzTx/>
                  <a:buFont typeface="Wingdings" panose="05000000000000000000" pitchFamily="2" charset="2"/>
                  <a:buChar char="q"/>
                  <a:tabLst/>
                  <a:defRPr/>
                </a:pP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𝑓</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𝑔</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h</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𝑓𝑜𝑟</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𝑎𝑙𝑙</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𝑎𝑛𝑑</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oMath>
                </a14:m>
                <a:r>
                  <a:rPr kumimoji="0" lang="en-IN" sz="2400" b="0" i="0" u="none" strike="noStrike" kern="1200" cap="none" spc="0" normalizeH="0" baseline="0" noProof="0" dirty="0">
                    <a:ln>
                      <a:noFill/>
                    </a:ln>
                    <a:solidFill>
                      <a:prstClr val="black"/>
                    </a:solidFill>
                    <a:effectLst/>
                    <a:uLnTx/>
                    <a:uFillTx/>
                  </a:rPr>
                  <a:t>, where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𝑔</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en-IN" sz="2400" b="0" i="0" u="none" strike="noStrike" kern="1200" cap="none" spc="0" normalizeH="0" baseline="0" noProof="0" dirty="0">
                    <a:ln>
                      <a:noFill/>
                    </a:ln>
                    <a:solidFill>
                      <a:prstClr val="black"/>
                    </a:solidFill>
                    <a:effectLst/>
                    <a:uLnTx/>
                    <a:uFillTx/>
                  </a:rPr>
                  <a:t> is marginal probability function of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𝑋</m:t>
                    </m:r>
                  </m:oMath>
                </a14:m>
                <a:r>
                  <a:rPr kumimoji="0" lang="en-IN" sz="2400" b="0" i="0" u="none" strike="noStrike" kern="1200" cap="none" spc="0" normalizeH="0" baseline="0" noProof="0" dirty="0">
                    <a:ln>
                      <a:noFill/>
                    </a:ln>
                    <a:solidFill>
                      <a:prstClr val="black"/>
                    </a:solidFill>
                    <a:effectLst/>
                    <a:uLnTx/>
                    <a:uFillTx/>
                  </a:rPr>
                  <a:t> and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en-IN" sz="2400" b="0" i="0" u="none" strike="noStrike" kern="1200" cap="none" spc="0" normalizeH="0" baseline="0" noProof="0" dirty="0">
                    <a:ln>
                      <a:noFill/>
                    </a:ln>
                    <a:solidFill>
                      <a:prstClr val="black"/>
                    </a:solidFill>
                    <a:effectLst/>
                    <a:uLnTx/>
                    <a:uFillTx/>
                  </a:rPr>
                  <a:t> is marginal probability function of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𝑌</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endParaRPr kumimoji="0" lang="en-IN" sz="2400" b="0" i="0" u="none" strike="noStrike" kern="1200" cap="none" spc="0" normalizeH="0" baseline="0" noProof="0" dirty="0">
                  <a:ln>
                    <a:noFill/>
                  </a:ln>
                  <a:solidFill>
                    <a:prstClr val="black"/>
                  </a:solidFill>
                  <a:effectLst/>
                  <a:uLnTx/>
                  <a:uFillTx/>
                </a:endParaRPr>
              </a:p>
              <a:p>
                <a:pPr marL="0" marR="0" lvl="0" indent="0" defTabSz="914400" rtl="0" eaLnBrk="1" fontAlgn="auto" latinLnBrk="0" hangingPunct="1">
                  <a:lnSpc>
                    <a:spcPct val="150000"/>
                  </a:lnSpc>
                  <a:spcBef>
                    <a:spcPts val="0"/>
                  </a:spcBef>
                  <a:spcAft>
                    <a:spcPts val="0"/>
                  </a:spcAft>
                  <a:buClrTx/>
                  <a:buSzTx/>
                  <a:buFontTx/>
                  <a:buNone/>
                  <a:tabLst/>
                  <a:defRPr/>
                </a:pPr>
                <a:r>
                  <a:rPr kumimoji="0" lang="en-US" sz="2400" b="0" i="0" u="sng" strike="noStrike" kern="1200" cap="none" spc="0" normalizeH="0" baseline="0" noProof="0" dirty="0">
                    <a:ln>
                      <a:noFill/>
                    </a:ln>
                    <a:solidFill>
                      <a:srgbClr val="FF0000"/>
                    </a:solidFill>
                    <a:effectLst/>
                    <a:uLnTx/>
                    <a:uFillTx/>
                  </a:rPr>
                  <a:t>E</a:t>
                </a:r>
                <a:r>
                  <a:rPr kumimoji="0" lang="en-IN" sz="2400" b="0" i="0" u="sng" strike="noStrike" kern="1200" cap="none" spc="0" normalizeH="0" baseline="0" noProof="0" dirty="0" err="1">
                    <a:ln>
                      <a:noFill/>
                    </a:ln>
                    <a:solidFill>
                      <a:srgbClr val="FF0000"/>
                    </a:solidFill>
                    <a:effectLst/>
                    <a:uLnTx/>
                    <a:uFillTx/>
                  </a:rPr>
                  <a:t>xample</a:t>
                </a:r>
                <a:r>
                  <a:rPr kumimoji="0" lang="en-IN" sz="2400" b="0" i="0" u="sng" strike="noStrike" kern="1200" cap="none" spc="0" normalizeH="0" baseline="0" noProof="0" dirty="0">
                    <a:ln>
                      <a:noFill/>
                    </a:ln>
                    <a:solidFill>
                      <a:srgbClr val="FF0000"/>
                    </a:solidFill>
                    <a:effectLst/>
                    <a:uLnTx/>
                    <a:uFillTx/>
                  </a:rPr>
                  <a:t>: </a:t>
                </a:r>
                <a:r>
                  <a:rPr kumimoji="0" lang="en-IN" sz="2400" b="0" i="0" u="none" strike="noStrike" kern="1200" cap="none" spc="0" normalizeH="0" baseline="0" noProof="0" dirty="0">
                    <a:ln>
                      <a:noFill/>
                    </a:ln>
                    <a:solidFill>
                      <a:prstClr val="black"/>
                    </a:solidFill>
                    <a:effectLst/>
                    <a:uLnTx/>
                    <a:uFillTx/>
                  </a:rPr>
                  <a:t>Suppose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𝑓</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𝑒</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e>
                        </m:d>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≥0,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≥0</m:t>
                    </m:r>
                  </m:oMath>
                </a14:m>
                <a:r>
                  <a:rPr kumimoji="0" lang="en-IN" sz="2400" b="0" i="0" u="none" strike="noStrike" kern="1200" cap="none" spc="0" normalizeH="0" baseline="0" noProof="0" dirty="0">
                    <a:ln>
                      <a:noFill/>
                    </a:ln>
                    <a:solidFill>
                      <a:prstClr val="black"/>
                    </a:solidFill>
                    <a:effectLst/>
                    <a:uLnTx/>
                    <a:uFillTx/>
                  </a:rPr>
                  <a:t>. For this probability function, marginal probability function for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𝑋</m:t>
                    </m:r>
                  </m:oMath>
                </a14:m>
                <a:r>
                  <a:rPr kumimoji="0" lang="en-IN" sz="2400" b="0" i="0" u="none" strike="noStrike" kern="1200" cap="none" spc="0" normalizeH="0" baseline="0" noProof="0" dirty="0">
                    <a:ln>
                      <a:noFill/>
                    </a:ln>
                    <a:solidFill>
                      <a:prstClr val="black"/>
                    </a:solidFill>
                    <a:effectLst/>
                    <a:uLnTx/>
                    <a:uFillTx/>
                  </a:rPr>
                  <a:t> is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𝑔</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𝑒</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𝑥</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≥0</m:t>
                    </m:r>
                  </m:oMath>
                </a14:m>
                <a:r>
                  <a:rPr kumimoji="0" lang="en-IN" sz="2400" b="0" i="0" u="none" strike="noStrike" kern="1200" cap="none" spc="0" normalizeH="0" baseline="0" noProof="0" dirty="0">
                    <a:ln>
                      <a:noFill/>
                    </a:ln>
                    <a:solidFill>
                      <a:prstClr val="black"/>
                    </a:solidFill>
                    <a:effectLst/>
                    <a:uLnTx/>
                    <a:uFillTx/>
                  </a:rPr>
                  <a:t> and </a:t>
                </a:r>
              </a:p>
              <a:p>
                <a:pPr marL="0" marR="0" lvl="0" indent="0" defTabSz="914400" rtl="0" eaLnBrk="1" fontAlgn="auto" latinLnBrk="0" hangingPunct="1">
                  <a:lnSpc>
                    <a:spcPct val="15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rPr>
                  <a:t>   marginal probability function for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𝑌</m:t>
                    </m:r>
                  </m:oMath>
                </a14:m>
                <a:r>
                  <a:rPr kumimoji="0" lang="en-IN" sz="2400" b="0" i="0" u="none" strike="noStrike" kern="1200" cap="none" spc="0" normalizeH="0" baseline="0" noProof="0" dirty="0">
                    <a:ln>
                      <a:noFill/>
                    </a:ln>
                    <a:solidFill>
                      <a:prstClr val="black"/>
                    </a:solidFill>
                    <a:effectLst/>
                    <a:uLnTx/>
                    <a:uFillTx/>
                  </a:rPr>
                  <a:t> is </a:t>
                </a:r>
                <a14:m>
                  <m:oMath xmlns:m="http://schemas.openxmlformats.org/officeDocument/2006/math">
                    <m:sSup>
                      <m:sSup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h</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𝑒</m:t>
                        </m:r>
                      </m:e>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sup>
                    </m:s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𝑦</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≥0.</m:t>
                    </m:r>
                  </m:oMath>
                </a14:m>
                <a:r>
                  <a:rPr kumimoji="0" lang="en-IN" sz="2400" b="0" i="0" u="none" strike="noStrike" kern="1200" cap="none" spc="0" normalizeH="0" baseline="0" noProof="0" dirty="0">
                    <a:ln>
                      <a:noFill/>
                    </a:ln>
                    <a:solidFill>
                      <a:prstClr val="black"/>
                    </a:solidFill>
                    <a:effectLst/>
                    <a:uLnTx/>
                    <a:uFillTx/>
                  </a:rPr>
                  <a:t> </a:t>
                </a:r>
              </a:p>
              <a:p>
                <a:pPr marL="0" marR="0" lvl="0" indent="0" defTabSz="914400" rtl="0" eaLnBrk="1" fontAlgn="auto" latinLnBrk="0" hangingPunct="1">
                  <a:lnSpc>
                    <a:spcPct val="15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rPr>
                  <a:t>   Clearly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𝑓</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𝑋</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𝑌</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𝑔</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ctrlPr>
                      </m:d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𝑋</m:t>
                        </m:r>
                      </m:e>
                    </m:d>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h</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𝑌</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en-IN" sz="2400" b="0" i="0" u="none" strike="noStrike" kern="1200" cap="none" spc="0" normalizeH="0" baseline="0" noProof="0" dirty="0">
                    <a:ln>
                      <a:noFill/>
                    </a:ln>
                    <a:solidFill>
                      <a:prstClr val="black"/>
                    </a:solidFill>
                    <a:effectLst/>
                    <a:uLnTx/>
                    <a:uFillTx/>
                  </a:rPr>
                  <a:t>     So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𝑋</m:t>
                    </m:r>
                  </m:oMath>
                </a14:m>
                <a:r>
                  <a:rPr kumimoji="0" lang="en-IN" sz="2400" b="0" i="0" u="none" strike="noStrike" kern="1200" cap="none" spc="0" normalizeH="0" baseline="0" noProof="0" dirty="0">
                    <a:ln>
                      <a:noFill/>
                    </a:ln>
                    <a:solidFill>
                      <a:prstClr val="black"/>
                    </a:solidFill>
                    <a:effectLst/>
                    <a:uLnTx/>
                    <a:uFillTx/>
                  </a:rPr>
                  <a:t> and </a:t>
                </a:r>
                <a14:m>
                  <m:oMath xmlns:m="http://schemas.openxmlformats.org/officeDocument/2006/math">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𝑌</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rPr>
                      <m:t> </m:t>
                    </m:r>
                  </m:oMath>
                </a14:m>
                <a:r>
                  <a:rPr kumimoji="0" lang="en-IN" sz="2400" b="0" i="0" u="none" strike="noStrike" kern="1200" cap="none" spc="0" normalizeH="0" baseline="0" noProof="0" dirty="0">
                    <a:ln>
                      <a:noFill/>
                    </a:ln>
                    <a:solidFill>
                      <a:prstClr val="black"/>
                    </a:solidFill>
                    <a:effectLst/>
                    <a:uLnTx/>
                    <a:uFillTx/>
                  </a:rPr>
                  <a:t> are independent variables.</a:t>
                </a:r>
              </a:p>
              <a:p>
                <a:pPr marL="107950" indent="0">
                  <a:buNone/>
                </a:pPr>
                <a:endParaRPr lang="en-IN" sz="2400" dirty="0"/>
              </a:p>
            </p:txBody>
          </p:sp>
        </mc:Choice>
        <mc:Fallback xmlns="">
          <p:sp>
            <p:nvSpPr>
              <p:cNvPr id="3" name="Subtitle 2">
                <a:extLst>
                  <a:ext uri="{FF2B5EF4-FFF2-40B4-BE49-F238E27FC236}">
                    <a16:creationId xmlns:a16="http://schemas.microsoft.com/office/drawing/2014/main" id="{473151BE-CC88-F449-33BA-03630D396DB6}"/>
                  </a:ext>
                </a:extLst>
              </p:cNvPr>
              <p:cNvSpPr>
                <a:spLocks noGrp="1" noRot="1" noChangeAspect="1" noMove="1" noResize="1" noEditPoints="1" noAdjustHandles="1" noChangeArrowheads="1" noChangeShapeType="1" noTextEdit="1"/>
              </p:cNvSpPr>
              <p:nvPr>
                <p:ph type="subTitle" idx="4294967295"/>
              </p:nvPr>
            </p:nvSpPr>
            <p:spPr>
              <a:xfrm>
                <a:off x="677863" y="1200150"/>
                <a:ext cx="11161712" cy="4743450"/>
              </a:xfrm>
              <a:blipFill>
                <a:blip r:embed="rId2"/>
                <a:stretch>
                  <a:fillRect l="-819"/>
                </a:stretch>
              </a:blipFill>
            </p:spPr>
            <p:txBody>
              <a:bodyPr/>
              <a:lstStyle/>
              <a:p>
                <a:r>
                  <a:rPr lang="en-IN">
                    <a:noFill/>
                  </a:rPr>
                  <a:t> </a:t>
                </a:r>
              </a:p>
            </p:txBody>
          </p:sp>
        </mc:Fallback>
      </mc:AlternateContent>
      <p:sp>
        <p:nvSpPr>
          <p:cNvPr id="4" name="Footer Placeholder 3">
            <a:extLst>
              <a:ext uri="{FF2B5EF4-FFF2-40B4-BE49-F238E27FC236}">
                <a16:creationId xmlns:a16="http://schemas.microsoft.com/office/drawing/2014/main" id="{5315A868-3955-8DE1-58E9-9B5D88FFD1B8}"/>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6C4D1D7F-6181-36E4-E92F-D42DEC6C8A39}"/>
              </a:ext>
            </a:extLst>
          </p:cNvPr>
          <p:cNvSpPr>
            <a:spLocks noGrp="1"/>
          </p:cNvSpPr>
          <p:nvPr>
            <p:ph type="sldNum" sz="quarter" idx="12"/>
          </p:nvPr>
        </p:nvSpPr>
        <p:spPr/>
        <p:txBody>
          <a:bodyPr/>
          <a:lstStyle/>
          <a:p>
            <a:pPr>
              <a:defRPr/>
            </a:pPr>
            <a:fld id="{799C83C6-4F87-48B4-8CF0-6A2F9115491D}" type="slidenum">
              <a:rPr lang="en-IN" smtClean="0"/>
              <a:pPr>
                <a:defRPr/>
              </a:pPr>
              <a:t>50</a:t>
            </a:fld>
            <a:endParaRPr lang="en-IN"/>
          </a:p>
        </p:txBody>
      </p:sp>
    </p:spTree>
    <p:extLst>
      <p:ext uri="{BB962C8B-B14F-4D97-AF65-F5344CB8AC3E}">
        <p14:creationId xmlns:p14="http://schemas.microsoft.com/office/powerpoint/2010/main" val="21267840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0BC25F-84CA-81CC-B60B-3041B08AAC78}"/>
              </a:ext>
            </a:extLst>
          </p:cNvPr>
          <p:cNvPicPr>
            <a:picLocks noChangeAspect="1"/>
          </p:cNvPicPr>
          <p:nvPr/>
        </p:nvPicPr>
        <p:blipFill>
          <a:blip r:embed="rId2"/>
          <a:stretch>
            <a:fillRect/>
          </a:stretch>
        </p:blipFill>
        <p:spPr>
          <a:xfrm>
            <a:off x="620182" y="1300260"/>
            <a:ext cx="10104968" cy="4879780"/>
          </a:xfrm>
          <a:prstGeom prst="rect">
            <a:avLst/>
          </a:prstGeom>
        </p:spPr>
      </p:pic>
      <p:sp>
        <p:nvSpPr>
          <p:cNvPr id="2" name="Title 1">
            <a:extLst>
              <a:ext uri="{FF2B5EF4-FFF2-40B4-BE49-F238E27FC236}">
                <a16:creationId xmlns:a16="http://schemas.microsoft.com/office/drawing/2014/main" id="{6C82EC16-34ED-F712-0712-3C3BC237760A}"/>
              </a:ext>
            </a:extLst>
          </p:cNvPr>
          <p:cNvSpPr>
            <a:spLocks noGrp="1"/>
          </p:cNvSpPr>
          <p:nvPr>
            <p:ph type="title" idx="4294967295"/>
          </p:nvPr>
        </p:nvSpPr>
        <p:spPr>
          <a:xfrm>
            <a:off x="0" y="274638"/>
            <a:ext cx="10896600" cy="849312"/>
          </a:xfrm>
        </p:spPr>
        <p:txBody>
          <a:bodyPr>
            <a:normAutofit/>
          </a:bodyPr>
          <a:lstStyle/>
          <a:p>
            <a:pPr algn="l"/>
            <a:r>
              <a:rPr lang="en-US" sz="3600" b="1" dirty="0">
                <a:solidFill>
                  <a:srgbClr val="FF0000"/>
                </a:solidFill>
                <a:ea typeface="Calibri" panose="020F0502020204030204" pitchFamily="34" charset="0"/>
                <a:cs typeface="Calibri" panose="020F0502020204030204" pitchFamily="34" charset="0"/>
              </a:rPr>
              <a:t>Conditional Probability Distribution Function</a:t>
            </a:r>
            <a:endParaRPr lang="en-IN" sz="3600" b="1" dirty="0">
              <a:solidFill>
                <a:srgbClr val="FF0000"/>
              </a:solidFill>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6E06D1EB-26AA-C98A-122C-FBD3C7FF6536}"/>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72786AFD-B1F6-14AA-2583-85FF7CD843CD}"/>
              </a:ext>
            </a:extLst>
          </p:cNvPr>
          <p:cNvSpPr>
            <a:spLocks noGrp="1"/>
          </p:cNvSpPr>
          <p:nvPr>
            <p:ph type="sldNum" sz="quarter" idx="12"/>
          </p:nvPr>
        </p:nvSpPr>
        <p:spPr/>
        <p:txBody>
          <a:bodyPr/>
          <a:lstStyle/>
          <a:p>
            <a:pPr>
              <a:defRPr/>
            </a:pPr>
            <a:fld id="{799C83C6-4F87-48B4-8CF0-6A2F9115491D}" type="slidenum">
              <a:rPr lang="en-IN" smtClean="0"/>
              <a:pPr>
                <a:defRPr/>
              </a:pPr>
              <a:t>51</a:t>
            </a:fld>
            <a:endParaRPr lang="en-IN"/>
          </a:p>
        </p:txBody>
      </p:sp>
    </p:spTree>
    <p:extLst>
      <p:ext uri="{BB962C8B-B14F-4D97-AF65-F5344CB8AC3E}">
        <p14:creationId xmlns:p14="http://schemas.microsoft.com/office/powerpoint/2010/main" val="7717700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B154CE-7270-CA45-AC7C-E872B33D81BA}"/>
              </a:ext>
            </a:extLst>
          </p:cNvPr>
          <p:cNvPicPr>
            <a:picLocks noChangeAspect="1"/>
          </p:cNvPicPr>
          <p:nvPr/>
        </p:nvPicPr>
        <p:blipFill>
          <a:blip r:embed="rId2"/>
          <a:stretch>
            <a:fillRect/>
          </a:stretch>
        </p:blipFill>
        <p:spPr>
          <a:xfrm>
            <a:off x="1365776" y="872167"/>
            <a:ext cx="9026000" cy="5113665"/>
          </a:xfrm>
          <a:prstGeom prst="rect">
            <a:avLst/>
          </a:prstGeom>
        </p:spPr>
      </p:pic>
      <p:sp>
        <p:nvSpPr>
          <p:cNvPr id="2" name="Title 1">
            <a:extLst>
              <a:ext uri="{FF2B5EF4-FFF2-40B4-BE49-F238E27FC236}">
                <a16:creationId xmlns:a16="http://schemas.microsoft.com/office/drawing/2014/main" id="{A3A18F3A-507E-E0DA-45E0-C39795060B4A}"/>
              </a:ext>
            </a:extLst>
          </p:cNvPr>
          <p:cNvSpPr>
            <a:spLocks noGrp="1"/>
          </p:cNvSpPr>
          <p:nvPr>
            <p:ph type="title" idx="4294967295"/>
          </p:nvPr>
        </p:nvSpPr>
        <p:spPr>
          <a:xfrm>
            <a:off x="0" y="274638"/>
            <a:ext cx="8161338" cy="849312"/>
          </a:xfrm>
        </p:spPr>
        <p:txBody>
          <a:bodyPr/>
          <a:lstStyle/>
          <a:p>
            <a:pPr algn="l"/>
            <a:r>
              <a:rPr lang="en-US" sz="3600" b="1" dirty="0">
                <a:solidFill>
                  <a:srgbClr val="FF0000"/>
                </a:solidFill>
                <a:ea typeface="Calibri" panose="020F0502020204030204" pitchFamily="34" charset="0"/>
                <a:cs typeface="Calibri" panose="020F0502020204030204" pitchFamily="34" charset="0"/>
              </a:rPr>
              <a:t>Continuous Case</a:t>
            </a:r>
            <a:endParaRPr lang="en-IN" sz="3600" b="1" dirty="0">
              <a:solidFill>
                <a:srgbClr val="FF0000"/>
              </a:solidFill>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832B5960-9BC6-681D-E1C1-37B4835A6970}"/>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67440C13-C343-C91E-1DBC-68075F5D8F64}"/>
              </a:ext>
            </a:extLst>
          </p:cNvPr>
          <p:cNvSpPr>
            <a:spLocks noGrp="1"/>
          </p:cNvSpPr>
          <p:nvPr>
            <p:ph type="sldNum" sz="quarter" idx="12"/>
          </p:nvPr>
        </p:nvSpPr>
        <p:spPr/>
        <p:txBody>
          <a:bodyPr/>
          <a:lstStyle/>
          <a:p>
            <a:pPr>
              <a:defRPr/>
            </a:pPr>
            <a:fld id="{799C83C6-4F87-48B4-8CF0-6A2F9115491D}" type="slidenum">
              <a:rPr lang="en-IN" smtClean="0"/>
              <a:pPr>
                <a:defRPr/>
              </a:pPr>
              <a:t>52</a:t>
            </a:fld>
            <a:endParaRPr lang="en-IN"/>
          </a:p>
        </p:txBody>
      </p:sp>
    </p:spTree>
    <p:extLst>
      <p:ext uri="{BB962C8B-B14F-4D97-AF65-F5344CB8AC3E}">
        <p14:creationId xmlns:p14="http://schemas.microsoft.com/office/powerpoint/2010/main" val="10752931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761456-5D4F-90CA-E427-5AEB7B92764A}"/>
              </a:ext>
            </a:extLst>
          </p:cNvPr>
          <p:cNvPicPr>
            <a:picLocks noChangeAspect="1"/>
          </p:cNvPicPr>
          <p:nvPr/>
        </p:nvPicPr>
        <p:blipFill>
          <a:blip r:embed="rId2"/>
          <a:stretch>
            <a:fillRect/>
          </a:stretch>
        </p:blipFill>
        <p:spPr>
          <a:xfrm>
            <a:off x="863810" y="1709495"/>
            <a:ext cx="8584989" cy="4078994"/>
          </a:xfrm>
          <a:prstGeom prst="rect">
            <a:avLst/>
          </a:prstGeom>
        </p:spPr>
      </p:pic>
      <p:sp>
        <p:nvSpPr>
          <p:cNvPr id="2" name="Title 1">
            <a:extLst>
              <a:ext uri="{FF2B5EF4-FFF2-40B4-BE49-F238E27FC236}">
                <a16:creationId xmlns:a16="http://schemas.microsoft.com/office/drawing/2014/main" id="{AEFC8C04-7FE6-4449-707D-A07AC1AED2B1}"/>
              </a:ext>
            </a:extLst>
          </p:cNvPr>
          <p:cNvSpPr>
            <a:spLocks noGrp="1"/>
          </p:cNvSpPr>
          <p:nvPr>
            <p:ph type="title" idx="4294967295"/>
          </p:nvPr>
        </p:nvSpPr>
        <p:spPr>
          <a:xfrm>
            <a:off x="295275" y="301256"/>
            <a:ext cx="8161338" cy="849312"/>
          </a:xfrm>
        </p:spPr>
        <p:txBody>
          <a:bodyPr/>
          <a:lstStyle/>
          <a:p>
            <a:pPr algn="l"/>
            <a:r>
              <a:rPr lang="en-US" sz="3600" b="1" dirty="0">
                <a:solidFill>
                  <a:schemeClr val="tx1"/>
                </a:solidFill>
                <a:ea typeface="Calibri" panose="020F0502020204030204" pitchFamily="34" charset="0"/>
                <a:cs typeface="Calibri" panose="020F0502020204030204" pitchFamily="34" charset="0"/>
              </a:rPr>
              <a:t>Joint Discrete – Problem 14</a:t>
            </a:r>
            <a:endParaRPr lang="en-IN" sz="3600" dirty="0"/>
          </a:p>
        </p:txBody>
      </p:sp>
      <p:sp>
        <p:nvSpPr>
          <p:cNvPr id="6" name="Star: 5 Points 5">
            <a:extLst>
              <a:ext uri="{FF2B5EF4-FFF2-40B4-BE49-F238E27FC236}">
                <a16:creationId xmlns:a16="http://schemas.microsoft.com/office/drawing/2014/main" id="{BDD81A74-7C81-40A2-3223-D45E56FF7955}"/>
              </a:ext>
            </a:extLst>
          </p:cNvPr>
          <p:cNvSpPr/>
          <p:nvPr/>
        </p:nvSpPr>
        <p:spPr>
          <a:xfrm>
            <a:off x="8154186" y="200038"/>
            <a:ext cx="3359465" cy="137423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EC2R </a:t>
            </a:r>
          </a:p>
          <a:p>
            <a:pPr algn="ctr"/>
            <a:r>
              <a:rPr lang="en-US" b="1" dirty="0">
                <a:solidFill>
                  <a:schemeClr val="tx1"/>
                </a:solidFill>
              </a:rPr>
              <a:t>JAN 2024</a:t>
            </a:r>
            <a:endParaRPr lang="en-IN" b="1" dirty="0">
              <a:solidFill>
                <a:schemeClr val="tx1"/>
              </a:solidFill>
            </a:endParaRPr>
          </a:p>
        </p:txBody>
      </p:sp>
      <p:sp>
        <p:nvSpPr>
          <p:cNvPr id="3" name="Footer Placeholder 2">
            <a:extLst>
              <a:ext uri="{FF2B5EF4-FFF2-40B4-BE49-F238E27FC236}">
                <a16:creationId xmlns:a16="http://schemas.microsoft.com/office/drawing/2014/main" id="{ADC446F7-05B2-A230-E91B-8A2F67690267}"/>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F41349AB-88FF-9CFC-F9B6-EF69ED12BF3F}"/>
              </a:ext>
            </a:extLst>
          </p:cNvPr>
          <p:cNvSpPr>
            <a:spLocks noGrp="1"/>
          </p:cNvSpPr>
          <p:nvPr>
            <p:ph type="sldNum" sz="quarter" idx="12"/>
          </p:nvPr>
        </p:nvSpPr>
        <p:spPr/>
        <p:txBody>
          <a:bodyPr/>
          <a:lstStyle/>
          <a:p>
            <a:pPr>
              <a:defRPr/>
            </a:pPr>
            <a:fld id="{799C83C6-4F87-48B4-8CF0-6A2F9115491D}" type="slidenum">
              <a:rPr lang="en-IN" smtClean="0"/>
              <a:pPr>
                <a:defRPr/>
              </a:pPr>
              <a:t>53</a:t>
            </a:fld>
            <a:endParaRPr lang="en-IN"/>
          </a:p>
        </p:txBody>
      </p:sp>
    </p:spTree>
    <p:extLst>
      <p:ext uri="{BB962C8B-B14F-4D97-AF65-F5344CB8AC3E}">
        <p14:creationId xmlns:p14="http://schemas.microsoft.com/office/powerpoint/2010/main" val="13786089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71B9E1-9DDA-145A-128A-A7F810F50023}"/>
              </a:ext>
            </a:extLst>
          </p:cNvPr>
          <p:cNvPicPr>
            <a:picLocks noChangeAspect="1"/>
          </p:cNvPicPr>
          <p:nvPr/>
        </p:nvPicPr>
        <p:blipFill>
          <a:blip r:embed="rId2"/>
          <a:stretch>
            <a:fillRect/>
          </a:stretch>
        </p:blipFill>
        <p:spPr>
          <a:xfrm>
            <a:off x="527520" y="1364659"/>
            <a:ext cx="7871762" cy="4910728"/>
          </a:xfrm>
          <a:prstGeom prst="rect">
            <a:avLst/>
          </a:prstGeom>
        </p:spPr>
      </p:pic>
      <p:sp>
        <p:nvSpPr>
          <p:cNvPr id="2" name="Title 1">
            <a:extLst>
              <a:ext uri="{FF2B5EF4-FFF2-40B4-BE49-F238E27FC236}">
                <a16:creationId xmlns:a16="http://schemas.microsoft.com/office/drawing/2014/main" id="{31EC235B-8561-1630-6137-597B383B60BD}"/>
              </a:ext>
            </a:extLst>
          </p:cNvPr>
          <p:cNvSpPr>
            <a:spLocks noGrp="1"/>
          </p:cNvSpPr>
          <p:nvPr>
            <p:ph type="title" idx="4294967295"/>
          </p:nvPr>
        </p:nvSpPr>
        <p:spPr>
          <a:xfrm>
            <a:off x="0" y="274638"/>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14 – Solution </a:t>
            </a:r>
            <a:endParaRPr lang="en-IN" sz="3600" dirty="0"/>
          </a:p>
        </p:txBody>
      </p:sp>
      <p:sp>
        <p:nvSpPr>
          <p:cNvPr id="3" name="Footer Placeholder 2">
            <a:extLst>
              <a:ext uri="{FF2B5EF4-FFF2-40B4-BE49-F238E27FC236}">
                <a16:creationId xmlns:a16="http://schemas.microsoft.com/office/drawing/2014/main" id="{10466614-C310-70B7-3C98-B91D033D1FCA}"/>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069AFA3D-786C-E612-9D87-431DDD10AACF}"/>
              </a:ext>
            </a:extLst>
          </p:cNvPr>
          <p:cNvSpPr>
            <a:spLocks noGrp="1"/>
          </p:cNvSpPr>
          <p:nvPr>
            <p:ph type="sldNum" sz="quarter" idx="12"/>
          </p:nvPr>
        </p:nvSpPr>
        <p:spPr/>
        <p:txBody>
          <a:bodyPr/>
          <a:lstStyle/>
          <a:p>
            <a:pPr>
              <a:defRPr/>
            </a:pPr>
            <a:fld id="{799C83C6-4F87-48B4-8CF0-6A2F9115491D}" type="slidenum">
              <a:rPr lang="en-IN" smtClean="0"/>
              <a:pPr>
                <a:defRPr/>
              </a:pPr>
              <a:t>54</a:t>
            </a:fld>
            <a:endParaRPr lang="en-IN"/>
          </a:p>
        </p:txBody>
      </p:sp>
    </p:spTree>
    <p:extLst>
      <p:ext uri="{BB962C8B-B14F-4D97-AF65-F5344CB8AC3E}">
        <p14:creationId xmlns:p14="http://schemas.microsoft.com/office/powerpoint/2010/main" val="38463865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B546E3-BCC9-8543-F134-D319E66478CA}"/>
              </a:ext>
            </a:extLst>
          </p:cNvPr>
          <p:cNvPicPr>
            <a:picLocks noChangeAspect="1"/>
          </p:cNvPicPr>
          <p:nvPr/>
        </p:nvPicPr>
        <p:blipFill>
          <a:blip r:embed="rId2"/>
          <a:stretch>
            <a:fillRect/>
          </a:stretch>
        </p:blipFill>
        <p:spPr>
          <a:xfrm>
            <a:off x="1157408" y="1579246"/>
            <a:ext cx="7951897" cy="3151504"/>
          </a:xfrm>
          <a:prstGeom prst="rect">
            <a:avLst/>
          </a:prstGeom>
        </p:spPr>
      </p:pic>
      <p:sp>
        <p:nvSpPr>
          <p:cNvPr id="2" name="Title 1">
            <a:extLst>
              <a:ext uri="{FF2B5EF4-FFF2-40B4-BE49-F238E27FC236}">
                <a16:creationId xmlns:a16="http://schemas.microsoft.com/office/drawing/2014/main" id="{513738EA-0EAA-4A24-CC9C-49FFBC6ED38B}"/>
              </a:ext>
            </a:extLst>
          </p:cNvPr>
          <p:cNvSpPr>
            <a:spLocks noGrp="1"/>
          </p:cNvSpPr>
          <p:nvPr>
            <p:ph type="title" idx="4294967295"/>
          </p:nvPr>
        </p:nvSpPr>
        <p:spPr>
          <a:xfrm>
            <a:off x="352425" y="265113"/>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14 – Solution </a:t>
            </a:r>
            <a:endParaRPr lang="en-IN" sz="3600" dirty="0"/>
          </a:p>
        </p:txBody>
      </p:sp>
      <p:sp>
        <p:nvSpPr>
          <p:cNvPr id="3" name="Footer Placeholder 2">
            <a:extLst>
              <a:ext uri="{FF2B5EF4-FFF2-40B4-BE49-F238E27FC236}">
                <a16:creationId xmlns:a16="http://schemas.microsoft.com/office/drawing/2014/main" id="{B2B3C444-8252-31E5-4806-5FC6C68CF064}"/>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B9880410-69EA-E734-A613-1AC9DE47D6C2}"/>
              </a:ext>
            </a:extLst>
          </p:cNvPr>
          <p:cNvSpPr>
            <a:spLocks noGrp="1"/>
          </p:cNvSpPr>
          <p:nvPr>
            <p:ph type="sldNum" sz="quarter" idx="12"/>
          </p:nvPr>
        </p:nvSpPr>
        <p:spPr/>
        <p:txBody>
          <a:bodyPr/>
          <a:lstStyle/>
          <a:p>
            <a:pPr>
              <a:defRPr/>
            </a:pPr>
            <a:fld id="{799C83C6-4F87-48B4-8CF0-6A2F9115491D}" type="slidenum">
              <a:rPr lang="en-IN" smtClean="0"/>
              <a:pPr>
                <a:defRPr/>
              </a:pPr>
              <a:t>55</a:t>
            </a:fld>
            <a:endParaRPr lang="en-IN"/>
          </a:p>
        </p:txBody>
      </p:sp>
    </p:spTree>
    <p:extLst>
      <p:ext uri="{BB962C8B-B14F-4D97-AF65-F5344CB8AC3E}">
        <p14:creationId xmlns:p14="http://schemas.microsoft.com/office/powerpoint/2010/main" val="31891291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2E1B43-A914-B33C-81CF-846EC2B5F7BB}"/>
              </a:ext>
            </a:extLst>
          </p:cNvPr>
          <p:cNvPicPr>
            <a:picLocks noChangeAspect="1"/>
          </p:cNvPicPr>
          <p:nvPr/>
        </p:nvPicPr>
        <p:blipFill>
          <a:blip r:embed="rId2"/>
          <a:stretch>
            <a:fillRect/>
          </a:stretch>
        </p:blipFill>
        <p:spPr>
          <a:xfrm>
            <a:off x="644635" y="1844154"/>
            <a:ext cx="10486956" cy="3169691"/>
          </a:xfrm>
          <a:prstGeom prst="rect">
            <a:avLst/>
          </a:prstGeom>
        </p:spPr>
      </p:pic>
      <p:sp>
        <p:nvSpPr>
          <p:cNvPr id="2" name="Title 1">
            <a:extLst>
              <a:ext uri="{FF2B5EF4-FFF2-40B4-BE49-F238E27FC236}">
                <a16:creationId xmlns:a16="http://schemas.microsoft.com/office/drawing/2014/main" id="{5CF06958-8E4B-ECD8-5AAA-2E8E6FB6429D}"/>
              </a:ext>
            </a:extLst>
          </p:cNvPr>
          <p:cNvSpPr>
            <a:spLocks noGrp="1"/>
          </p:cNvSpPr>
          <p:nvPr>
            <p:ph type="title" idx="4294967295"/>
          </p:nvPr>
        </p:nvSpPr>
        <p:spPr>
          <a:xfrm>
            <a:off x="285750" y="323590"/>
            <a:ext cx="8161338" cy="849312"/>
          </a:xfrm>
        </p:spPr>
        <p:txBody>
          <a:bodyPr/>
          <a:lstStyle/>
          <a:p>
            <a:pPr algn="l"/>
            <a:r>
              <a:rPr lang="en-US" sz="3600" b="1" dirty="0">
                <a:solidFill>
                  <a:srgbClr val="FF0000"/>
                </a:solidFill>
                <a:ea typeface="Calibri" panose="020F0502020204030204" pitchFamily="34" charset="0"/>
                <a:cs typeface="Calibri" panose="020F0502020204030204" pitchFamily="34" charset="0"/>
              </a:rPr>
              <a:t>Joint Discrete – Problem 15</a:t>
            </a:r>
            <a:endParaRPr lang="en-IN" sz="3600" dirty="0">
              <a:solidFill>
                <a:srgbClr val="FF0000"/>
              </a:solidFill>
              <a:ea typeface="Calibri" panose="020F0502020204030204" pitchFamily="34" charset="0"/>
              <a:cs typeface="Calibri" panose="020F0502020204030204" pitchFamily="34" charset="0"/>
            </a:endParaRPr>
          </a:p>
        </p:txBody>
      </p:sp>
      <p:sp>
        <p:nvSpPr>
          <p:cNvPr id="15" name="Star: 5 Points 14">
            <a:extLst>
              <a:ext uri="{FF2B5EF4-FFF2-40B4-BE49-F238E27FC236}">
                <a16:creationId xmlns:a16="http://schemas.microsoft.com/office/drawing/2014/main" id="{B9B9033D-6E3A-5FE2-B9FA-875969D0979B}"/>
              </a:ext>
            </a:extLst>
          </p:cNvPr>
          <p:cNvSpPr/>
          <p:nvPr/>
        </p:nvSpPr>
        <p:spPr>
          <a:xfrm>
            <a:off x="8154186" y="200038"/>
            <a:ext cx="3359465" cy="1374238"/>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EC2R </a:t>
            </a:r>
          </a:p>
          <a:p>
            <a:pPr algn="ctr"/>
            <a:r>
              <a:rPr lang="en-US" b="1" dirty="0">
                <a:solidFill>
                  <a:schemeClr val="tx1"/>
                </a:solidFill>
              </a:rPr>
              <a:t>JAN 2025</a:t>
            </a:r>
            <a:endParaRPr lang="en-IN" b="1" dirty="0">
              <a:solidFill>
                <a:schemeClr val="tx1"/>
              </a:solidFill>
            </a:endParaRPr>
          </a:p>
        </p:txBody>
      </p:sp>
      <p:sp>
        <p:nvSpPr>
          <p:cNvPr id="3" name="Footer Placeholder 2">
            <a:extLst>
              <a:ext uri="{FF2B5EF4-FFF2-40B4-BE49-F238E27FC236}">
                <a16:creationId xmlns:a16="http://schemas.microsoft.com/office/drawing/2014/main" id="{686EAA9F-6E33-81A2-907A-1F22A324E597}"/>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2C5DD93F-CAA6-797C-1289-9B38347F3E4E}"/>
              </a:ext>
            </a:extLst>
          </p:cNvPr>
          <p:cNvSpPr>
            <a:spLocks noGrp="1"/>
          </p:cNvSpPr>
          <p:nvPr>
            <p:ph type="sldNum" sz="quarter" idx="12"/>
          </p:nvPr>
        </p:nvSpPr>
        <p:spPr/>
        <p:txBody>
          <a:bodyPr/>
          <a:lstStyle/>
          <a:p>
            <a:pPr>
              <a:defRPr/>
            </a:pPr>
            <a:fld id="{799C83C6-4F87-48B4-8CF0-6A2F9115491D}" type="slidenum">
              <a:rPr lang="en-IN" smtClean="0"/>
              <a:pPr>
                <a:defRPr/>
              </a:pPr>
              <a:t>56</a:t>
            </a:fld>
            <a:endParaRPr lang="en-IN"/>
          </a:p>
        </p:txBody>
      </p:sp>
    </p:spTree>
    <p:extLst>
      <p:ext uri="{BB962C8B-B14F-4D97-AF65-F5344CB8AC3E}">
        <p14:creationId xmlns:p14="http://schemas.microsoft.com/office/powerpoint/2010/main" val="7992095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0D27B-0210-F968-67CE-2C95DF45DBF6}"/>
              </a:ext>
            </a:extLst>
          </p:cNvPr>
          <p:cNvPicPr>
            <a:picLocks noChangeAspect="1"/>
          </p:cNvPicPr>
          <p:nvPr/>
        </p:nvPicPr>
        <p:blipFill>
          <a:blip r:embed="rId2"/>
          <a:stretch>
            <a:fillRect/>
          </a:stretch>
        </p:blipFill>
        <p:spPr>
          <a:xfrm>
            <a:off x="918044" y="1405295"/>
            <a:ext cx="8464081" cy="4900257"/>
          </a:xfrm>
          <a:prstGeom prst="rect">
            <a:avLst/>
          </a:prstGeom>
        </p:spPr>
      </p:pic>
      <p:sp>
        <p:nvSpPr>
          <p:cNvPr id="2" name="Title 1">
            <a:extLst>
              <a:ext uri="{FF2B5EF4-FFF2-40B4-BE49-F238E27FC236}">
                <a16:creationId xmlns:a16="http://schemas.microsoft.com/office/drawing/2014/main" id="{17CA6466-782E-0394-1AAA-31716564D03C}"/>
              </a:ext>
            </a:extLst>
          </p:cNvPr>
          <p:cNvSpPr>
            <a:spLocks noGrp="1"/>
          </p:cNvSpPr>
          <p:nvPr>
            <p:ph type="title" idx="4294967295"/>
          </p:nvPr>
        </p:nvSpPr>
        <p:spPr>
          <a:xfrm>
            <a:off x="266700" y="319198"/>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15 – Solution </a:t>
            </a:r>
            <a:endParaRPr lang="en-IN" sz="3600" dirty="0"/>
          </a:p>
        </p:txBody>
      </p:sp>
      <p:sp>
        <p:nvSpPr>
          <p:cNvPr id="3" name="Footer Placeholder 2">
            <a:extLst>
              <a:ext uri="{FF2B5EF4-FFF2-40B4-BE49-F238E27FC236}">
                <a16:creationId xmlns:a16="http://schemas.microsoft.com/office/drawing/2014/main" id="{2B3D5E32-D965-E1C7-32EF-CE1E9F5293D0}"/>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95760780-19A8-883E-9093-F5641713CEE5}"/>
              </a:ext>
            </a:extLst>
          </p:cNvPr>
          <p:cNvSpPr>
            <a:spLocks noGrp="1"/>
          </p:cNvSpPr>
          <p:nvPr>
            <p:ph type="sldNum" sz="quarter" idx="12"/>
          </p:nvPr>
        </p:nvSpPr>
        <p:spPr/>
        <p:txBody>
          <a:bodyPr/>
          <a:lstStyle/>
          <a:p>
            <a:pPr>
              <a:defRPr/>
            </a:pPr>
            <a:fld id="{799C83C6-4F87-48B4-8CF0-6A2F9115491D}" type="slidenum">
              <a:rPr lang="en-IN" smtClean="0"/>
              <a:pPr>
                <a:defRPr/>
              </a:pPr>
              <a:t>57</a:t>
            </a:fld>
            <a:endParaRPr lang="en-IN"/>
          </a:p>
        </p:txBody>
      </p:sp>
    </p:spTree>
    <p:extLst>
      <p:ext uri="{BB962C8B-B14F-4D97-AF65-F5344CB8AC3E}">
        <p14:creationId xmlns:p14="http://schemas.microsoft.com/office/powerpoint/2010/main" val="26504575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xplosion: 8 Points 10">
            <a:extLst>
              <a:ext uri="{FF2B5EF4-FFF2-40B4-BE49-F238E27FC236}">
                <a16:creationId xmlns:a16="http://schemas.microsoft.com/office/drawing/2014/main" id="{AB464F3B-CE97-DDA3-E390-73D4615C703B}"/>
              </a:ext>
            </a:extLst>
          </p:cNvPr>
          <p:cNvSpPr/>
          <p:nvPr/>
        </p:nvSpPr>
        <p:spPr>
          <a:xfrm>
            <a:off x="8688000" y="190108"/>
            <a:ext cx="3104932" cy="1384168"/>
          </a:xfrm>
          <a:prstGeom prst="irregularSeal1">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EC2R JULY 2024</a:t>
            </a:r>
          </a:p>
        </p:txBody>
      </p:sp>
      <p:sp>
        <p:nvSpPr>
          <p:cNvPr id="2" name="Title 1">
            <a:extLst>
              <a:ext uri="{FF2B5EF4-FFF2-40B4-BE49-F238E27FC236}">
                <a16:creationId xmlns:a16="http://schemas.microsoft.com/office/drawing/2014/main" id="{DA4D6D0D-4C45-E669-43F1-1452189B442E}"/>
              </a:ext>
            </a:extLst>
          </p:cNvPr>
          <p:cNvSpPr>
            <a:spLocks noGrp="1"/>
          </p:cNvSpPr>
          <p:nvPr>
            <p:ph type="title" idx="4294967295"/>
          </p:nvPr>
        </p:nvSpPr>
        <p:spPr>
          <a:xfrm>
            <a:off x="449262" y="289098"/>
            <a:ext cx="8161338" cy="849312"/>
          </a:xfrm>
        </p:spPr>
        <p:txBody>
          <a:bodyPr>
            <a:normAutofit/>
          </a:bodyPr>
          <a:lstStyle/>
          <a:p>
            <a:pPr algn="l"/>
            <a:r>
              <a:rPr lang="en-US" sz="3600" b="1" dirty="0">
                <a:solidFill>
                  <a:srgbClr val="FF0000"/>
                </a:solidFill>
                <a:ea typeface="Calibri" panose="020F0502020204030204" pitchFamily="34" charset="0"/>
                <a:cs typeface="Calibri" panose="020F0502020204030204" pitchFamily="34" charset="0"/>
              </a:rPr>
              <a:t>Joint Discrete – Problem 16</a:t>
            </a:r>
            <a:endParaRPr lang="en-IN" sz="3600" b="1" dirty="0">
              <a:solidFill>
                <a:srgbClr val="FF0000"/>
              </a:solidFill>
              <a:ea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A5E7769A-F50F-50FF-C4CD-B1C734B317A9}"/>
              </a:ext>
            </a:extLst>
          </p:cNvPr>
          <p:cNvPicPr>
            <a:picLocks noChangeAspect="1"/>
          </p:cNvPicPr>
          <p:nvPr/>
        </p:nvPicPr>
        <p:blipFill>
          <a:blip r:embed="rId2"/>
          <a:stretch>
            <a:fillRect/>
          </a:stretch>
        </p:blipFill>
        <p:spPr>
          <a:xfrm>
            <a:off x="673204" y="1468923"/>
            <a:ext cx="8889896" cy="3920153"/>
          </a:xfrm>
          <a:prstGeom prst="rect">
            <a:avLst/>
          </a:prstGeom>
        </p:spPr>
      </p:pic>
      <p:sp>
        <p:nvSpPr>
          <p:cNvPr id="3" name="Footer Placeholder 2">
            <a:extLst>
              <a:ext uri="{FF2B5EF4-FFF2-40B4-BE49-F238E27FC236}">
                <a16:creationId xmlns:a16="http://schemas.microsoft.com/office/drawing/2014/main" id="{3F52F834-12E6-5D05-3082-5900C31BA41B}"/>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6896AF2C-7DA8-95FB-BF7D-ED0E94AA8984}"/>
              </a:ext>
            </a:extLst>
          </p:cNvPr>
          <p:cNvSpPr>
            <a:spLocks noGrp="1"/>
          </p:cNvSpPr>
          <p:nvPr>
            <p:ph type="sldNum" sz="quarter" idx="12"/>
          </p:nvPr>
        </p:nvSpPr>
        <p:spPr/>
        <p:txBody>
          <a:bodyPr/>
          <a:lstStyle/>
          <a:p>
            <a:pPr>
              <a:defRPr/>
            </a:pPr>
            <a:fld id="{799C83C6-4F87-48B4-8CF0-6A2F9115491D}" type="slidenum">
              <a:rPr lang="en-IN" smtClean="0"/>
              <a:pPr>
                <a:defRPr/>
              </a:pPr>
              <a:t>58</a:t>
            </a:fld>
            <a:endParaRPr lang="en-IN"/>
          </a:p>
        </p:txBody>
      </p:sp>
    </p:spTree>
    <p:extLst>
      <p:ext uri="{BB962C8B-B14F-4D97-AF65-F5344CB8AC3E}">
        <p14:creationId xmlns:p14="http://schemas.microsoft.com/office/powerpoint/2010/main" val="38734142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A353AF-C00B-E8FF-B841-A8C50ECC3101}"/>
              </a:ext>
            </a:extLst>
          </p:cNvPr>
          <p:cNvPicPr>
            <a:picLocks noChangeAspect="1"/>
          </p:cNvPicPr>
          <p:nvPr/>
        </p:nvPicPr>
        <p:blipFill>
          <a:blip r:embed="rId2"/>
          <a:stretch>
            <a:fillRect/>
          </a:stretch>
        </p:blipFill>
        <p:spPr>
          <a:xfrm>
            <a:off x="1428750" y="960549"/>
            <a:ext cx="9296400" cy="5135572"/>
          </a:xfrm>
          <a:prstGeom prst="rect">
            <a:avLst/>
          </a:prstGeom>
        </p:spPr>
      </p:pic>
      <p:sp>
        <p:nvSpPr>
          <p:cNvPr id="2" name="Title 1">
            <a:extLst>
              <a:ext uri="{FF2B5EF4-FFF2-40B4-BE49-F238E27FC236}">
                <a16:creationId xmlns:a16="http://schemas.microsoft.com/office/drawing/2014/main" id="{05CCD0FE-B2FA-6EA1-62FD-AB854726AF31}"/>
              </a:ext>
            </a:extLst>
          </p:cNvPr>
          <p:cNvSpPr>
            <a:spLocks noGrp="1"/>
          </p:cNvSpPr>
          <p:nvPr>
            <p:ph type="title" idx="4294967295"/>
          </p:nvPr>
        </p:nvSpPr>
        <p:spPr>
          <a:xfrm>
            <a:off x="352425" y="255588"/>
            <a:ext cx="8161338" cy="849312"/>
          </a:xfrm>
        </p:spPr>
        <p:txBody>
          <a:bodyPr>
            <a:normAutofit/>
          </a:bodyPr>
          <a:lstStyle/>
          <a:p>
            <a:pPr algn="l"/>
            <a:r>
              <a:rPr lang="en-US" sz="3600" b="1" dirty="0">
                <a:solidFill>
                  <a:srgbClr val="00B050"/>
                </a:solidFill>
                <a:ea typeface="Calibri" panose="020F0502020204030204" pitchFamily="34" charset="0"/>
                <a:cs typeface="Calibri" panose="020F0502020204030204" pitchFamily="34" charset="0"/>
              </a:rPr>
              <a:t>Problem 16 – Solution </a:t>
            </a:r>
            <a:endParaRPr lang="en-IN" sz="3600" b="1" dirty="0">
              <a:solidFill>
                <a:srgbClr val="00B050"/>
              </a:solidFill>
              <a:ea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2A951FB2-9949-584B-44C6-367337839B0D}"/>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4618B6F4-EF54-CFC9-DDDE-502799928CA7}"/>
              </a:ext>
            </a:extLst>
          </p:cNvPr>
          <p:cNvSpPr>
            <a:spLocks noGrp="1"/>
          </p:cNvSpPr>
          <p:nvPr>
            <p:ph type="sldNum" sz="quarter" idx="12"/>
          </p:nvPr>
        </p:nvSpPr>
        <p:spPr/>
        <p:txBody>
          <a:bodyPr/>
          <a:lstStyle/>
          <a:p>
            <a:pPr>
              <a:defRPr/>
            </a:pPr>
            <a:fld id="{799C83C6-4F87-48B4-8CF0-6A2F9115491D}" type="slidenum">
              <a:rPr lang="en-IN" smtClean="0"/>
              <a:pPr>
                <a:defRPr/>
              </a:pPr>
              <a:t>59</a:t>
            </a:fld>
            <a:endParaRPr lang="en-IN"/>
          </a:p>
        </p:txBody>
      </p:sp>
    </p:spTree>
    <p:extLst>
      <p:ext uri="{BB962C8B-B14F-4D97-AF65-F5344CB8AC3E}">
        <p14:creationId xmlns:p14="http://schemas.microsoft.com/office/powerpoint/2010/main" val="10383659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57B157-2A5B-1B81-EE3C-BF210C3EC732}"/>
              </a:ext>
            </a:extLst>
          </p:cNvPr>
          <p:cNvPicPr>
            <a:picLocks noChangeAspect="1"/>
          </p:cNvPicPr>
          <p:nvPr/>
        </p:nvPicPr>
        <p:blipFill>
          <a:blip r:embed="rId2"/>
          <a:stretch>
            <a:fillRect/>
          </a:stretch>
        </p:blipFill>
        <p:spPr>
          <a:xfrm>
            <a:off x="938258" y="1333282"/>
            <a:ext cx="8952838" cy="4362668"/>
          </a:xfrm>
          <a:prstGeom prst="rect">
            <a:avLst/>
          </a:prstGeom>
        </p:spPr>
      </p:pic>
      <p:sp>
        <p:nvSpPr>
          <p:cNvPr id="2" name="Title 1">
            <a:extLst>
              <a:ext uri="{FF2B5EF4-FFF2-40B4-BE49-F238E27FC236}">
                <a16:creationId xmlns:a16="http://schemas.microsoft.com/office/drawing/2014/main" id="{34B9D42C-DBD5-01B3-6508-461727778AC5}"/>
              </a:ext>
            </a:extLst>
          </p:cNvPr>
          <p:cNvSpPr>
            <a:spLocks noGrp="1"/>
          </p:cNvSpPr>
          <p:nvPr>
            <p:ph type="title" idx="4294967295"/>
          </p:nvPr>
        </p:nvSpPr>
        <p:spPr>
          <a:xfrm>
            <a:off x="266700" y="336946"/>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16 – Solution </a:t>
            </a:r>
            <a:endParaRPr lang="en-IN" sz="3600" dirty="0"/>
          </a:p>
        </p:txBody>
      </p:sp>
      <p:sp>
        <p:nvSpPr>
          <p:cNvPr id="3" name="Footer Placeholder 2">
            <a:extLst>
              <a:ext uri="{FF2B5EF4-FFF2-40B4-BE49-F238E27FC236}">
                <a16:creationId xmlns:a16="http://schemas.microsoft.com/office/drawing/2014/main" id="{6E2E58B2-E86D-BCFF-EE75-67ED008C0A1C}"/>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FAE7DC83-27D7-0DAE-F52D-52D0BE50633E}"/>
              </a:ext>
            </a:extLst>
          </p:cNvPr>
          <p:cNvSpPr>
            <a:spLocks noGrp="1"/>
          </p:cNvSpPr>
          <p:nvPr>
            <p:ph type="sldNum" sz="quarter" idx="12"/>
          </p:nvPr>
        </p:nvSpPr>
        <p:spPr/>
        <p:txBody>
          <a:bodyPr/>
          <a:lstStyle/>
          <a:p>
            <a:pPr>
              <a:defRPr/>
            </a:pPr>
            <a:fld id="{799C83C6-4F87-48B4-8CF0-6A2F9115491D}" type="slidenum">
              <a:rPr lang="en-IN" smtClean="0"/>
              <a:pPr>
                <a:defRPr/>
              </a:pPr>
              <a:t>60</a:t>
            </a:fld>
            <a:endParaRPr lang="en-IN"/>
          </a:p>
        </p:txBody>
      </p:sp>
    </p:spTree>
    <p:extLst>
      <p:ext uri="{BB962C8B-B14F-4D97-AF65-F5344CB8AC3E}">
        <p14:creationId xmlns:p14="http://schemas.microsoft.com/office/powerpoint/2010/main" val="4342411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242504-9EF7-A036-4AD9-278EB4D0A938}"/>
              </a:ext>
            </a:extLst>
          </p:cNvPr>
          <p:cNvPicPr>
            <a:picLocks noChangeAspect="1"/>
          </p:cNvPicPr>
          <p:nvPr/>
        </p:nvPicPr>
        <p:blipFill>
          <a:blip r:embed="rId2"/>
          <a:stretch>
            <a:fillRect/>
          </a:stretch>
        </p:blipFill>
        <p:spPr>
          <a:xfrm>
            <a:off x="460067" y="1803794"/>
            <a:ext cx="11119642" cy="2985021"/>
          </a:xfrm>
          <a:prstGeom prst="rect">
            <a:avLst/>
          </a:prstGeom>
        </p:spPr>
      </p:pic>
      <p:sp>
        <p:nvSpPr>
          <p:cNvPr id="2" name="Title 1">
            <a:extLst>
              <a:ext uri="{FF2B5EF4-FFF2-40B4-BE49-F238E27FC236}">
                <a16:creationId xmlns:a16="http://schemas.microsoft.com/office/drawing/2014/main" id="{CF9E4CF0-E756-4028-A29F-95E014024681}"/>
              </a:ext>
            </a:extLst>
          </p:cNvPr>
          <p:cNvSpPr>
            <a:spLocks noGrp="1"/>
          </p:cNvSpPr>
          <p:nvPr>
            <p:ph type="title" idx="4294967295"/>
          </p:nvPr>
        </p:nvSpPr>
        <p:spPr>
          <a:xfrm>
            <a:off x="460067" y="474663"/>
            <a:ext cx="8228013" cy="849312"/>
          </a:xfrm>
        </p:spPr>
        <p:txBody>
          <a:bodyPr/>
          <a:lstStyle/>
          <a:p>
            <a:pPr algn="l"/>
            <a:r>
              <a:rPr lang="en-US" sz="3200" b="1" dirty="0">
                <a:solidFill>
                  <a:srgbClr val="FF0000"/>
                </a:solidFill>
                <a:ea typeface="Calibri" panose="020F0502020204030204" pitchFamily="34" charset="0"/>
                <a:cs typeface="Calibri" panose="020F0502020204030204" pitchFamily="34" charset="0"/>
              </a:rPr>
              <a:t>Joint Continuous – Problem 17</a:t>
            </a:r>
            <a:endParaRPr lang="en-IN" sz="3200" dirty="0">
              <a:solidFill>
                <a:srgbClr val="FF0000"/>
              </a:solidFill>
            </a:endParaRPr>
          </a:p>
        </p:txBody>
      </p:sp>
      <p:sp>
        <p:nvSpPr>
          <p:cNvPr id="6" name="Explosion: 8 Points 5">
            <a:extLst>
              <a:ext uri="{FF2B5EF4-FFF2-40B4-BE49-F238E27FC236}">
                <a16:creationId xmlns:a16="http://schemas.microsoft.com/office/drawing/2014/main" id="{F3CB3D50-182B-E034-AB09-ECDBB9C6B874}"/>
              </a:ext>
            </a:extLst>
          </p:cNvPr>
          <p:cNvSpPr/>
          <p:nvPr/>
        </p:nvSpPr>
        <p:spPr>
          <a:xfrm>
            <a:off x="8584676" y="371281"/>
            <a:ext cx="2821757" cy="1506718"/>
          </a:xfrm>
          <a:prstGeom prst="irregularSeal1">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EC2 M JULY 2024</a:t>
            </a:r>
          </a:p>
        </p:txBody>
      </p:sp>
      <p:sp>
        <p:nvSpPr>
          <p:cNvPr id="3" name="Footer Placeholder 2">
            <a:extLst>
              <a:ext uri="{FF2B5EF4-FFF2-40B4-BE49-F238E27FC236}">
                <a16:creationId xmlns:a16="http://schemas.microsoft.com/office/drawing/2014/main" id="{85CC1903-2ABD-3077-F2E8-47B719AED26F}"/>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4B0CBB23-B3B9-FE53-E759-7BDBD3AB4B12}"/>
              </a:ext>
            </a:extLst>
          </p:cNvPr>
          <p:cNvSpPr>
            <a:spLocks noGrp="1"/>
          </p:cNvSpPr>
          <p:nvPr>
            <p:ph type="sldNum" sz="quarter" idx="12"/>
          </p:nvPr>
        </p:nvSpPr>
        <p:spPr/>
        <p:txBody>
          <a:bodyPr/>
          <a:lstStyle/>
          <a:p>
            <a:pPr>
              <a:defRPr/>
            </a:pPr>
            <a:fld id="{799C83C6-4F87-48B4-8CF0-6A2F9115491D}" type="slidenum">
              <a:rPr lang="en-IN" smtClean="0"/>
              <a:pPr>
                <a:defRPr/>
              </a:pPr>
              <a:t>61</a:t>
            </a:fld>
            <a:endParaRPr lang="en-IN"/>
          </a:p>
        </p:txBody>
      </p:sp>
    </p:spTree>
    <p:extLst>
      <p:ext uri="{BB962C8B-B14F-4D97-AF65-F5344CB8AC3E}">
        <p14:creationId xmlns:p14="http://schemas.microsoft.com/office/powerpoint/2010/main" val="8672334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98228B-0595-5D14-D515-E9139FF982CC}"/>
              </a:ext>
            </a:extLst>
          </p:cNvPr>
          <p:cNvPicPr>
            <a:picLocks noChangeAspect="1"/>
          </p:cNvPicPr>
          <p:nvPr/>
        </p:nvPicPr>
        <p:blipFill>
          <a:blip r:embed="rId2"/>
          <a:stretch>
            <a:fillRect/>
          </a:stretch>
        </p:blipFill>
        <p:spPr>
          <a:xfrm>
            <a:off x="649136" y="1294192"/>
            <a:ext cx="8893478" cy="4269615"/>
          </a:xfrm>
          <a:prstGeom prst="rect">
            <a:avLst/>
          </a:prstGeom>
        </p:spPr>
      </p:pic>
      <p:sp>
        <p:nvSpPr>
          <p:cNvPr id="2" name="Title 1">
            <a:extLst>
              <a:ext uri="{FF2B5EF4-FFF2-40B4-BE49-F238E27FC236}">
                <a16:creationId xmlns:a16="http://schemas.microsoft.com/office/drawing/2014/main" id="{2109DB6C-F939-805F-9756-4C1FFA9C1E2C}"/>
              </a:ext>
            </a:extLst>
          </p:cNvPr>
          <p:cNvSpPr>
            <a:spLocks noGrp="1"/>
          </p:cNvSpPr>
          <p:nvPr>
            <p:ph type="title" idx="4294967295"/>
          </p:nvPr>
        </p:nvSpPr>
        <p:spPr>
          <a:xfrm>
            <a:off x="317197" y="242352"/>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17 – Solution </a:t>
            </a:r>
            <a:endParaRPr lang="en-IN" sz="3600" dirty="0"/>
          </a:p>
        </p:txBody>
      </p:sp>
      <p:sp>
        <p:nvSpPr>
          <p:cNvPr id="3" name="Footer Placeholder 2">
            <a:extLst>
              <a:ext uri="{FF2B5EF4-FFF2-40B4-BE49-F238E27FC236}">
                <a16:creationId xmlns:a16="http://schemas.microsoft.com/office/drawing/2014/main" id="{D51E2DEC-D5F1-6DE2-518E-BE8B5BC60381}"/>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20B93876-C7AA-41D9-1976-5B3C309D8E6F}"/>
              </a:ext>
            </a:extLst>
          </p:cNvPr>
          <p:cNvSpPr>
            <a:spLocks noGrp="1"/>
          </p:cNvSpPr>
          <p:nvPr>
            <p:ph type="sldNum" sz="quarter" idx="12"/>
          </p:nvPr>
        </p:nvSpPr>
        <p:spPr/>
        <p:txBody>
          <a:bodyPr/>
          <a:lstStyle/>
          <a:p>
            <a:pPr>
              <a:defRPr/>
            </a:pPr>
            <a:fld id="{799C83C6-4F87-48B4-8CF0-6A2F9115491D}" type="slidenum">
              <a:rPr lang="en-IN" smtClean="0"/>
              <a:pPr>
                <a:defRPr/>
              </a:pPr>
              <a:t>62</a:t>
            </a:fld>
            <a:endParaRPr lang="en-IN"/>
          </a:p>
        </p:txBody>
      </p:sp>
    </p:spTree>
    <p:extLst>
      <p:ext uri="{BB962C8B-B14F-4D97-AF65-F5344CB8AC3E}">
        <p14:creationId xmlns:p14="http://schemas.microsoft.com/office/powerpoint/2010/main" val="22073472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0C02EA-1751-E30C-D681-E3869BEA6500}"/>
              </a:ext>
            </a:extLst>
          </p:cNvPr>
          <p:cNvPicPr>
            <a:picLocks noChangeAspect="1"/>
          </p:cNvPicPr>
          <p:nvPr/>
        </p:nvPicPr>
        <p:blipFill>
          <a:blip r:embed="rId2"/>
          <a:stretch>
            <a:fillRect/>
          </a:stretch>
        </p:blipFill>
        <p:spPr>
          <a:xfrm>
            <a:off x="372950" y="1684813"/>
            <a:ext cx="9987480" cy="3295189"/>
          </a:xfrm>
          <a:prstGeom prst="rect">
            <a:avLst/>
          </a:prstGeom>
        </p:spPr>
      </p:pic>
      <p:sp>
        <p:nvSpPr>
          <p:cNvPr id="2" name="Title 1">
            <a:extLst>
              <a:ext uri="{FF2B5EF4-FFF2-40B4-BE49-F238E27FC236}">
                <a16:creationId xmlns:a16="http://schemas.microsoft.com/office/drawing/2014/main" id="{A18AD27A-FCED-A657-CC38-4189379CAAB5}"/>
              </a:ext>
            </a:extLst>
          </p:cNvPr>
          <p:cNvSpPr>
            <a:spLocks noGrp="1"/>
          </p:cNvSpPr>
          <p:nvPr>
            <p:ph type="title" idx="4294967295"/>
          </p:nvPr>
        </p:nvSpPr>
        <p:spPr>
          <a:xfrm>
            <a:off x="200025" y="275328"/>
            <a:ext cx="8161338" cy="849312"/>
          </a:xfrm>
        </p:spPr>
        <p:txBody>
          <a:bodyPr/>
          <a:lstStyle/>
          <a:p>
            <a:pPr algn="l"/>
            <a:r>
              <a:rPr lang="en-US" sz="3600" b="1" dirty="0">
                <a:solidFill>
                  <a:srgbClr val="FF0000"/>
                </a:solidFill>
                <a:ea typeface="Calibri" panose="020F0502020204030204" pitchFamily="34" charset="0"/>
                <a:cs typeface="Calibri" panose="020F0502020204030204" pitchFamily="34" charset="0"/>
              </a:rPr>
              <a:t>Joint Continuous – Problem 18</a:t>
            </a:r>
            <a:endParaRPr lang="en-IN" sz="3600" dirty="0"/>
          </a:p>
        </p:txBody>
      </p:sp>
      <p:sp>
        <p:nvSpPr>
          <p:cNvPr id="6" name="Explosion: 8 Points 5">
            <a:extLst>
              <a:ext uri="{FF2B5EF4-FFF2-40B4-BE49-F238E27FC236}">
                <a16:creationId xmlns:a16="http://schemas.microsoft.com/office/drawing/2014/main" id="{0D3BF33D-4689-EA6E-D64B-9920BDE1D5A8}"/>
              </a:ext>
            </a:extLst>
          </p:cNvPr>
          <p:cNvSpPr/>
          <p:nvPr/>
        </p:nvSpPr>
        <p:spPr>
          <a:xfrm>
            <a:off x="8584676" y="371281"/>
            <a:ext cx="2821757" cy="1506718"/>
          </a:xfrm>
          <a:prstGeom prst="irregularSeal1">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EC2 M FEB 2024</a:t>
            </a:r>
          </a:p>
        </p:txBody>
      </p:sp>
      <p:sp>
        <p:nvSpPr>
          <p:cNvPr id="3" name="Footer Placeholder 2">
            <a:extLst>
              <a:ext uri="{FF2B5EF4-FFF2-40B4-BE49-F238E27FC236}">
                <a16:creationId xmlns:a16="http://schemas.microsoft.com/office/drawing/2014/main" id="{D7B8CE1C-7FC3-5D8B-3631-FABD2A3973CC}"/>
              </a:ext>
            </a:extLst>
          </p:cNvPr>
          <p:cNvSpPr>
            <a:spLocks noGrp="1"/>
          </p:cNvSpPr>
          <p:nvPr>
            <p:ph type="ftr" sz="quarter" idx="11"/>
          </p:nvPr>
        </p:nvSpPr>
        <p:spPr/>
        <p:txBody>
          <a:bodyPr/>
          <a:lstStyle/>
          <a:p>
            <a:r>
              <a:rPr lang="en-IN"/>
              <a:t>W-2</a:t>
            </a:r>
          </a:p>
        </p:txBody>
      </p:sp>
      <p:sp>
        <p:nvSpPr>
          <p:cNvPr id="4" name="Slide Number Placeholder 3">
            <a:extLst>
              <a:ext uri="{FF2B5EF4-FFF2-40B4-BE49-F238E27FC236}">
                <a16:creationId xmlns:a16="http://schemas.microsoft.com/office/drawing/2014/main" id="{9DF0FE8B-40C5-4C7C-992B-4C11AF20A4E5}"/>
              </a:ext>
            </a:extLst>
          </p:cNvPr>
          <p:cNvSpPr>
            <a:spLocks noGrp="1"/>
          </p:cNvSpPr>
          <p:nvPr>
            <p:ph type="sldNum" sz="quarter" idx="12"/>
          </p:nvPr>
        </p:nvSpPr>
        <p:spPr/>
        <p:txBody>
          <a:bodyPr/>
          <a:lstStyle/>
          <a:p>
            <a:pPr>
              <a:defRPr/>
            </a:pPr>
            <a:fld id="{799C83C6-4F87-48B4-8CF0-6A2F9115491D}" type="slidenum">
              <a:rPr lang="en-IN" smtClean="0"/>
              <a:pPr>
                <a:defRPr/>
              </a:pPr>
              <a:t>63</a:t>
            </a:fld>
            <a:endParaRPr lang="en-IN"/>
          </a:p>
        </p:txBody>
      </p:sp>
    </p:spTree>
    <p:extLst>
      <p:ext uri="{BB962C8B-B14F-4D97-AF65-F5344CB8AC3E}">
        <p14:creationId xmlns:p14="http://schemas.microsoft.com/office/powerpoint/2010/main" val="18917216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B986D4-DF9E-1F9E-4F34-119F75162B1B}"/>
              </a:ext>
            </a:extLst>
          </p:cNvPr>
          <p:cNvPicPr>
            <a:picLocks noChangeAspect="1"/>
          </p:cNvPicPr>
          <p:nvPr/>
        </p:nvPicPr>
        <p:blipFill>
          <a:blip r:embed="rId2"/>
          <a:stretch>
            <a:fillRect/>
          </a:stretch>
        </p:blipFill>
        <p:spPr>
          <a:xfrm>
            <a:off x="490991" y="1299501"/>
            <a:ext cx="5449074" cy="4881298"/>
          </a:xfrm>
          <a:prstGeom prst="rect">
            <a:avLst/>
          </a:prstGeom>
        </p:spPr>
      </p:pic>
      <p:sp>
        <p:nvSpPr>
          <p:cNvPr id="2" name="Title 1">
            <a:extLst>
              <a:ext uri="{FF2B5EF4-FFF2-40B4-BE49-F238E27FC236}">
                <a16:creationId xmlns:a16="http://schemas.microsoft.com/office/drawing/2014/main" id="{56BD7D48-4706-AEA5-ECB0-9C66DA46551D}"/>
              </a:ext>
            </a:extLst>
          </p:cNvPr>
          <p:cNvSpPr>
            <a:spLocks noGrp="1"/>
          </p:cNvSpPr>
          <p:nvPr>
            <p:ph type="title" idx="4294967295"/>
          </p:nvPr>
        </p:nvSpPr>
        <p:spPr>
          <a:xfrm>
            <a:off x="0" y="274638"/>
            <a:ext cx="8161338" cy="849312"/>
          </a:xfrm>
        </p:spPr>
        <p:txBody>
          <a:bodyPr/>
          <a:lstStyle/>
          <a:p>
            <a:pPr algn="l"/>
            <a:r>
              <a:rPr lang="en-US" sz="3600" b="1" dirty="0">
                <a:solidFill>
                  <a:srgbClr val="00B050"/>
                </a:solidFill>
                <a:ea typeface="Calibri" panose="020F0502020204030204" pitchFamily="34" charset="0"/>
                <a:cs typeface="Calibri" panose="020F0502020204030204" pitchFamily="34" charset="0"/>
              </a:rPr>
              <a:t>Problem 18 – Solution </a:t>
            </a:r>
            <a:endParaRPr lang="en-IN" sz="3600" dirty="0"/>
          </a:p>
        </p:txBody>
      </p:sp>
      <p:pic>
        <p:nvPicPr>
          <p:cNvPr id="7" name="Picture 6">
            <a:extLst>
              <a:ext uri="{FF2B5EF4-FFF2-40B4-BE49-F238E27FC236}">
                <a16:creationId xmlns:a16="http://schemas.microsoft.com/office/drawing/2014/main" id="{9C090DCE-4533-8EAC-770C-674ED1594649}"/>
              </a:ext>
            </a:extLst>
          </p:cNvPr>
          <p:cNvPicPr>
            <a:picLocks noChangeAspect="1"/>
          </p:cNvPicPr>
          <p:nvPr/>
        </p:nvPicPr>
        <p:blipFill>
          <a:blip r:embed="rId3"/>
          <a:stretch>
            <a:fillRect/>
          </a:stretch>
        </p:blipFill>
        <p:spPr>
          <a:xfrm>
            <a:off x="6025317" y="699294"/>
            <a:ext cx="5899590" cy="5280237"/>
          </a:xfrm>
          <a:prstGeom prst="rect">
            <a:avLst/>
          </a:prstGeom>
        </p:spPr>
      </p:pic>
      <p:sp>
        <p:nvSpPr>
          <p:cNvPr id="6" name="Footer Placeholder 5">
            <a:extLst>
              <a:ext uri="{FF2B5EF4-FFF2-40B4-BE49-F238E27FC236}">
                <a16:creationId xmlns:a16="http://schemas.microsoft.com/office/drawing/2014/main" id="{ADBB23A0-D384-1B42-AC58-DA7BDBC33F80}"/>
              </a:ext>
            </a:extLst>
          </p:cNvPr>
          <p:cNvSpPr>
            <a:spLocks noGrp="1"/>
          </p:cNvSpPr>
          <p:nvPr>
            <p:ph type="ftr" sz="quarter" idx="11"/>
          </p:nvPr>
        </p:nvSpPr>
        <p:spPr/>
        <p:txBody>
          <a:bodyPr/>
          <a:lstStyle/>
          <a:p>
            <a:r>
              <a:rPr lang="en-IN"/>
              <a:t>W-2</a:t>
            </a:r>
          </a:p>
        </p:txBody>
      </p:sp>
      <p:sp>
        <p:nvSpPr>
          <p:cNvPr id="8" name="Slide Number Placeholder 7">
            <a:extLst>
              <a:ext uri="{FF2B5EF4-FFF2-40B4-BE49-F238E27FC236}">
                <a16:creationId xmlns:a16="http://schemas.microsoft.com/office/drawing/2014/main" id="{F22460AE-0D99-46B9-0D47-BBC51E137F4B}"/>
              </a:ext>
            </a:extLst>
          </p:cNvPr>
          <p:cNvSpPr>
            <a:spLocks noGrp="1"/>
          </p:cNvSpPr>
          <p:nvPr>
            <p:ph type="sldNum" sz="quarter" idx="12"/>
          </p:nvPr>
        </p:nvSpPr>
        <p:spPr/>
        <p:txBody>
          <a:bodyPr/>
          <a:lstStyle/>
          <a:p>
            <a:pPr>
              <a:defRPr/>
            </a:pPr>
            <a:fld id="{799C83C6-4F87-48B4-8CF0-6A2F9115491D}" type="slidenum">
              <a:rPr lang="en-IN" smtClean="0"/>
              <a:pPr>
                <a:defRPr/>
              </a:pPr>
              <a:t>64</a:t>
            </a:fld>
            <a:endParaRPr lang="en-IN"/>
          </a:p>
        </p:txBody>
      </p:sp>
    </p:spTree>
    <p:extLst>
      <p:ext uri="{BB962C8B-B14F-4D97-AF65-F5344CB8AC3E}">
        <p14:creationId xmlns:p14="http://schemas.microsoft.com/office/powerpoint/2010/main" val="6141983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FB5ABAC-AF87-02C1-B4CA-B19A3A8FBF9E}"/>
              </a:ext>
            </a:extLst>
          </p:cNvPr>
          <p:cNvSpPr>
            <a:spLocks noGrp="1"/>
          </p:cNvSpPr>
          <p:nvPr>
            <p:ph type="body" idx="4294967295"/>
          </p:nvPr>
        </p:nvSpPr>
        <p:spPr>
          <a:xfrm>
            <a:off x="0" y="1600200"/>
            <a:ext cx="10972800" cy="4525963"/>
          </a:xfrm>
        </p:spPr>
        <p:txBody>
          <a:bodyPr/>
          <a:lstStyle/>
          <a:p>
            <a:pPr marL="107950" indent="0">
              <a:buNone/>
            </a:pPr>
            <a:endParaRPr lang="en-US" dirty="0"/>
          </a:p>
          <a:p>
            <a:pPr marL="107950" indent="0">
              <a:buNone/>
            </a:pPr>
            <a:endParaRPr lang="en-IN" dirty="0"/>
          </a:p>
          <a:p>
            <a:pPr marL="107950" indent="0" algn="ctr">
              <a:buNone/>
            </a:pPr>
            <a:endParaRPr lang="en-IN" dirty="0"/>
          </a:p>
          <a:p>
            <a:pPr marL="107950" indent="0" algn="ctr">
              <a:buNone/>
            </a:pPr>
            <a:endParaRPr lang="en-IN" dirty="0"/>
          </a:p>
        </p:txBody>
      </p:sp>
      <p:sp>
        <p:nvSpPr>
          <p:cNvPr id="2" name="Footer Placeholder 1">
            <a:extLst>
              <a:ext uri="{FF2B5EF4-FFF2-40B4-BE49-F238E27FC236}">
                <a16:creationId xmlns:a16="http://schemas.microsoft.com/office/drawing/2014/main" id="{E41B53F1-1933-DBE9-AD50-74E62B3AD33C}"/>
              </a:ext>
            </a:extLst>
          </p:cNvPr>
          <p:cNvSpPr>
            <a:spLocks noGrp="1"/>
          </p:cNvSpPr>
          <p:nvPr>
            <p:ph type="ftr" sz="quarter" idx="11"/>
          </p:nvPr>
        </p:nvSpPr>
        <p:spPr/>
        <p:txBody>
          <a:bodyPr/>
          <a:lstStyle/>
          <a:p>
            <a:r>
              <a:rPr lang="en-IN"/>
              <a:t>W-2</a:t>
            </a:r>
          </a:p>
        </p:txBody>
      </p:sp>
      <p:sp>
        <p:nvSpPr>
          <p:cNvPr id="5" name="Slide Number Placeholder 4">
            <a:extLst>
              <a:ext uri="{FF2B5EF4-FFF2-40B4-BE49-F238E27FC236}">
                <a16:creationId xmlns:a16="http://schemas.microsoft.com/office/drawing/2014/main" id="{F334C433-A3DA-B3B2-F808-5D4C097FC724}"/>
              </a:ext>
            </a:extLst>
          </p:cNvPr>
          <p:cNvSpPr>
            <a:spLocks noGrp="1"/>
          </p:cNvSpPr>
          <p:nvPr>
            <p:ph type="sldNum" sz="quarter" idx="12"/>
          </p:nvPr>
        </p:nvSpPr>
        <p:spPr/>
        <p:txBody>
          <a:bodyPr/>
          <a:lstStyle/>
          <a:p>
            <a:pPr>
              <a:defRPr/>
            </a:pPr>
            <a:fld id="{799C83C6-4F87-48B4-8CF0-6A2F9115491D}" type="slidenum">
              <a:rPr lang="en-IN" smtClean="0"/>
              <a:pPr>
                <a:defRPr/>
              </a:pPr>
              <a:t>65</a:t>
            </a:fld>
            <a:endParaRPr lang="en-IN"/>
          </a:p>
        </p:txBody>
      </p:sp>
      <p:sp>
        <p:nvSpPr>
          <p:cNvPr id="6" name="Rectangle 5">
            <a:extLst>
              <a:ext uri="{FF2B5EF4-FFF2-40B4-BE49-F238E27FC236}">
                <a16:creationId xmlns:a16="http://schemas.microsoft.com/office/drawing/2014/main" id="{C19AAAA9-2BAB-1CE1-876A-B04809183353}"/>
              </a:ext>
            </a:extLst>
          </p:cNvPr>
          <p:cNvSpPr/>
          <p:nvPr/>
        </p:nvSpPr>
        <p:spPr>
          <a:xfrm>
            <a:off x="8358167" y="4796135"/>
            <a:ext cx="3629070"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Thank You !</a:t>
            </a:r>
          </a:p>
        </p:txBody>
      </p:sp>
    </p:spTree>
    <p:extLst>
      <p:ext uri="{BB962C8B-B14F-4D97-AF65-F5344CB8AC3E}">
        <p14:creationId xmlns:p14="http://schemas.microsoft.com/office/powerpoint/2010/main" val="1648468989"/>
      </p:ext>
    </p:extLst>
  </p:cSld>
  <p:clrMapOvr>
    <a:masterClrMapping/>
  </p:clrMapOvr>
</p:sld>
</file>

<file path=ppt/theme/theme1.xml><?xml version="1.0" encoding="utf-8"?>
<a:theme xmlns:a="http://schemas.openxmlformats.org/drawingml/2006/main" name="ISM-CUSTOM">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NotebookType xmlns="2723f1bc-7802-4c44-b827-a549654b530e" xsi:nil="true"/>
    <FolderType xmlns="2723f1bc-7802-4c44-b827-a549654b530e" xsi:nil="true"/>
    <LMS_Mappings xmlns="2723f1bc-7802-4c44-b827-a549654b530e" xsi:nil="true"/>
    <DefaultSectionNames xmlns="2723f1bc-7802-4c44-b827-a549654b530e" xsi:nil="true"/>
    <AppVersion xmlns="2723f1bc-7802-4c44-b827-a549654b530e" xsi:nil="true"/>
    <TeamsChannelId xmlns="2723f1bc-7802-4c44-b827-a549654b530e" xsi:nil="true"/>
    <IsNotebookLocked xmlns="2723f1bc-7802-4c44-b827-a549654b530e" xsi:nil="true"/>
    <CultureName xmlns="2723f1bc-7802-4c44-b827-a549654b530e" xsi:nil="true"/>
    <Students xmlns="2723f1bc-7802-4c44-b827-a549654b530e">
      <UserInfo>
        <DisplayName/>
        <AccountId xsi:nil="true"/>
        <AccountType/>
      </UserInfo>
    </Students>
    <Templates xmlns="2723f1bc-7802-4c44-b827-a549654b530e" xsi:nil="true"/>
    <Self_Registration_Enabled xmlns="2723f1bc-7802-4c44-b827-a549654b530e" xsi:nil="true"/>
    <Invited_Students xmlns="2723f1bc-7802-4c44-b827-a549654b530e" xsi:nil="true"/>
    <Teachers xmlns="2723f1bc-7802-4c44-b827-a549654b530e">
      <UserInfo>
        <DisplayName/>
        <AccountId xsi:nil="true"/>
        <AccountType/>
      </UserInfo>
    </Teachers>
    <Student_Groups xmlns="2723f1bc-7802-4c44-b827-a549654b530e">
      <UserInfo>
        <DisplayName/>
        <AccountId xsi:nil="true"/>
        <AccountType/>
      </UserInfo>
    </Student_Groups>
    <Teams_Channel_Section_Location xmlns="2723f1bc-7802-4c44-b827-a549654b530e" xsi:nil="true"/>
    <Owner xmlns="2723f1bc-7802-4c44-b827-a549654b530e">
      <UserInfo>
        <DisplayName/>
        <AccountId xsi:nil="true"/>
        <AccountType/>
      </UserInfo>
    </Owner>
    <Distribution_Groups xmlns="2723f1bc-7802-4c44-b827-a549654b530e" xsi:nil="true"/>
    <Math_Settings xmlns="2723f1bc-7802-4c44-b827-a549654b530e" xsi:nil="true"/>
    <Has_Teacher_Only_SectionGroup xmlns="2723f1bc-7802-4c44-b827-a549654b530e" xsi:nil="true"/>
    <Is_Collaboration_Space_Locked xmlns="2723f1bc-7802-4c44-b827-a549654b530e" xsi:nil="true"/>
    <Invited_Teachers xmlns="2723f1bc-7802-4c44-b827-a549654b530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507BA72441AEE45A3CAE1ADD5070980" ma:contentTypeVersion="28" ma:contentTypeDescription="Create a new document." ma:contentTypeScope="" ma:versionID="8e86f45206d69f05d65aef40a1733e8e">
  <xsd:schema xmlns:xsd="http://www.w3.org/2001/XMLSchema" xmlns:xs="http://www.w3.org/2001/XMLSchema" xmlns:p="http://schemas.microsoft.com/office/2006/metadata/properties" xmlns:ns2="2723f1bc-7802-4c44-b827-a549654b530e" targetNamespace="http://schemas.microsoft.com/office/2006/metadata/properties" ma:root="true" ma:fieldsID="7466106287e23552aae4aa153fe08158" ns2:_="">
    <xsd:import namespace="2723f1bc-7802-4c44-b827-a549654b530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23f1bc-7802-4c44-b827-a549654b530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CDE674-2DF6-42C3-963C-940E03B0D550}">
  <ds:schemaRefs>
    <ds:schemaRef ds:uri="http://schemas.microsoft.com/office/2006/metadata/properties"/>
    <ds:schemaRef ds:uri="http://schemas.microsoft.com/office/infopath/2007/PartnerControls"/>
    <ds:schemaRef ds:uri="2723f1bc-7802-4c44-b827-a549654b530e"/>
  </ds:schemaRefs>
</ds:datastoreItem>
</file>

<file path=customXml/itemProps2.xml><?xml version="1.0" encoding="utf-8"?>
<ds:datastoreItem xmlns:ds="http://schemas.openxmlformats.org/officeDocument/2006/customXml" ds:itemID="{4AF35AEC-E88B-46E1-8DB4-2F83531C96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23f1bc-7802-4c44-b827-a549654b53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60303B-ED2D-442D-BE43-BB553ED3DC8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5821</TotalTime>
  <Words>4489</Words>
  <Application>Microsoft Office PowerPoint</Application>
  <PresentationFormat>Widescreen</PresentationFormat>
  <Paragraphs>679</Paragraphs>
  <Slides>65</Slides>
  <Notes>1</Notes>
  <HiddenSlides>0</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ISM-CUSTOM</vt:lpstr>
      <vt:lpstr>Introduction to Statistical Methods</vt:lpstr>
      <vt:lpstr>PowerPoint Presentation</vt:lpstr>
      <vt:lpstr>PowerPoint Presentation</vt:lpstr>
      <vt:lpstr>PowerPoint Presentation</vt:lpstr>
      <vt:lpstr>Terms related to Bayes Theorem</vt:lpstr>
      <vt:lpstr>Applications of Bayes Theorem</vt:lpstr>
      <vt:lpstr>Problem 1</vt:lpstr>
      <vt:lpstr>Problem 1 - Solution</vt:lpstr>
      <vt:lpstr>Problem 2</vt:lpstr>
      <vt:lpstr>Problem 2 - Solution</vt:lpstr>
      <vt:lpstr>PowerPoint Presentation</vt:lpstr>
      <vt:lpstr>Problem 3                           </vt:lpstr>
      <vt:lpstr>Problem 3 - Solution</vt:lpstr>
      <vt:lpstr>Problem 4</vt:lpstr>
      <vt:lpstr>Solution</vt:lpstr>
      <vt:lpstr>Problem 5</vt:lpstr>
      <vt:lpstr>Problem 5 - Solution</vt:lpstr>
      <vt:lpstr>Problem 5 - Solution</vt:lpstr>
      <vt:lpstr>Naïve Bayes Classifier</vt:lpstr>
      <vt:lpstr>Why is it called Naïve Bayes?</vt:lpstr>
      <vt:lpstr>Assumptions of Naïve Bayes</vt:lpstr>
      <vt:lpstr>Types of Naïve Bayes Model</vt:lpstr>
      <vt:lpstr>Advantages of Naïve Bayes Classifier</vt:lpstr>
      <vt:lpstr> Disadvantages of Naive Bayes Classifier </vt:lpstr>
      <vt:lpstr>Implementation of Naïve Bayes classifier</vt:lpstr>
      <vt:lpstr>Problem 6</vt:lpstr>
      <vt:lpstr>PowerPoint Presentation</vt:lpstr>
      <vt:lpstr>PowerPoint Presentation</vt:lpstr>
      <vt:lpstr>Problem 7</vt:lpstr>
      <vt:lpstr>PowerPoint Presentation</vt:lpstr>
      <vt:lpstr>PowerPoint Presentation</vt:lpstr>
      <vt:lpstr>PowerPoint Presentation</vt:lpstr>
      <vt:lpstr>PowerPoint Presentation</vt:lpstr>
      <vt:lpstr>PowerPoint Presentation</vt:lpstr>
      <vt:lpstr>PowerPoint Presentation</vt:lpstr>
      <vt:lpstr>Problem 8 - Solution</vt:lpstr>
      <vt:lpstr>Discrete Random Variables – Problem 9 </vt:lpstr>
      <vt:lpstr>PowerPoint Presentation</vt:lpstr>
      <vt:lpstr>PowerPoint Presentation</vt:lpstr>
      <vt:lpstr>PowerPoint Presentation</vt:lpstr>
      <vt:lpstr>Problem 11 - Solution</vt:lpstr>
      <vt:lpstr> Continuous Random Variables – Problem 12 </vt:lpstr>
      <vt:lpstr>Problem 12 - Solution</vt:lpstr>
      <vt:lpstr>Continuous Random Variables – Problem 13</vt:lpstr>
      <vt:lpstr>Problem 13 - Solution</vt:lpstr>
      <vt:lpstr>Joint Probability Distribution Function</vt:lpstr>
      <vt:lpstr>Joint Probability Distribution Function</vt:lpstr>
      <vt:lpstr>Joint Density Function</vt:lpstr>
      <vt:lpstr>Marginal Distributions</vt:lpstr>
      <vt:lpstr>Independent Random Variables</vt:lpstr>
      <vt:lpstr>Conditional Probability Distribution Function</vt:lpstr>
      <vt:lpstr>Continuous Case</vt:lpstr>
      <vt:lpstr>Joint Discrete – Problem 14</vt:lpstr>
      <vt:lpstr>Problem 14 – Solution </vt:lpstr>
      <vt:lpstr>Problem 14 – Solution </vt:lpstr>
      <vt:lpstr>Joint Discrete – Problem 15</vt:lpstr>
      <vt:lpstr>Problem 15 – Solution </vt:lpstr>
      <vt:lpstr>Joint Discrete – Problem 16</vt:lpstr>
      <vt:lpstr>Problem 16 – Solution </vt:lpstr>
      <vt:lpstr>Problem 16 – Solution </vt:lpstr>
      <vt:lpstr>Joint Continuous – Problem 17</vt:lpstr>
      <vt:lpstr>Problem 17 – Solution </vt:lpstr>
      <vt:lpstr>Joint Continuous – Problem 18</vt:lpstr>
      <vt:lpstr>Problem 18 – Solution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Statistical Methods</dc:title>
  <dc:creator>Sireesha C V N L</dc:creator>
  <cp:lastModifiedBy>Anitha Saravanan</cp:lastModifiedBy>
  <cp:revision>180</cp:revision>
  <dcterms:created xsi:type="dcterms:W3CDTF">2024-12-23T07:25:12Z</dcterms:created>
  <dcterms:modified xsi:type="dcterms:W3CDTF">2026-09-27T16:54:07Z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0x0101008507BA72441AEE45A3CAE1ADD5070980</vt:lpwstr>
  </property>
</Properties>
</file>